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7"/>
  </p:notesMasterIdLst>
  <p:handoutMasterIdLst>
    <p:handoutMasterId r:id="rId68"/>
  </p:handoutMasterIdLst>
  <p:sldIdLst>
    <p:sldId id="1092" r:id="rId2"/>
    <p:sldId id="1339" r:id="rId3"/>
    <p:sldId id="1342" r:id="rId4"/>
    <p:sldId id="1406" r:id="rId5"/>
    <p:sldId id="1408" r:id="rId6"/>
    <p:sldId id="1409" r:id="rId7"/>
    <p:sldId id="1345" r:id="rId8"/>
    <p:sldId id="1414" r:id="rId9"/>
    <p:sldId id="1413" r:id="rId10"/>
    <p:sldId id="1415" r:id="rId11"/>
    <p:sldId id="1362" r:id="rId12"/>
    <p:sldId id="1418" r:id="rId13"/>
    <p:sldId id="1420" r:id="rId14"/>
    <p:sldId id="1421" r:id="rId15"/>
    <p:sldId id="1422" r:id="rId16"/>
    <p:sldId id="1423" r:id="rId17"/>
    <p:sldId id="1424" r:id="rId18"/>
    <p:sldId id="1425" r:id="rId19"/>
    <p:sldId id="1426" r:id="rId20"/>
    <p:sldId id="1427" r:id="rId21"/>
    <p:sldId id="1428" r:id="rId22"/>
    <p:sldId id="1417" r:id="rId23"/>
    <p:sldId id="1347" r:id="rId24"/>
    <p:sldId id="1349" r:id="rId25"/>
    <p:sldId id="1356" r:id="rId26"/>
    <p:sldId id="1348" r:id="rId27"/>
    <p:sldId id="1357" r:id="rId28"/>
    <p:sldId id="1358" r:id="rId29"/>
    <p:sldId id="1351" r:id="rId30"/>
    <p:sldId id="1352" r:id="rId31"/>
    <p:sldId id="1355" r:id="rId32"/>
    <p:sldId id="1359" r:id="rId33"/>
    <p:sldId id="1353" r:id="rId34"/>
    <p:sldId id="1341" r:id="rId35"/>
    <p:sldId id="1367" r:id="rId36"/>
    <p:sldId id="1368" r:id="rId37"/>
    <p:sldId id="1369" r:id="rId38"/>
    <p:sldId id="1370" r:id="rId39"/>
    <p:sldId id="1371" r:id="rId40"/>
    <p:sldId id="1372" r:id="rId41"/>
    <p:sldId id="1373" r:id="rId42"/>
    <p:sldId id="1375" r:id="rId43"/>
    <p:sldId id="1376" r:id="rId44"/>
    <p:sldId id="1377" r:id="rId45"/>
    <p:sldId id="1378" r:id="rId46"/>
    <p:sldId id="1374" r:id="rId47"/>
    <p:sldId id="1379" r:id="rId48"/>
    <p:sldId id="1382" r:id="rId49"/>
    <p:sldId id="1381" r:id="rId50"/>
    <p:sldId id="1383" r:id="rId51"/>
    <p:sldId id="1385" r:id="rId52"/>
    <p:sldId id="1386" r:id="rId53"/>
    <p:sldId id="1387" r:id="rId54"/>
    <p:sldId id="1388" r:id="rId55"/>
    <p:sldId id="1389" r:id="rId56"/>
    <p:sldId id="1390" r:id="rId57"/>
    <p:sldId id="1384" r:id="rId58"/>
    <p:sldId id="1391" r:id="rId59"/>
    <p:sldId id="1392" r:id="rId60"/>
    <p:sldId id="1394" r:id="rId61"/>
    <p:sldId id="1395" r:id="rId62"/>
    <p:sldId id="1396" r:id="rId63"/>
    <p:sldId id="1397" r:id="rId64"/>
    <p:sldId id="1393" r:id="rId65"/>
    <p:sldId id="1403" r:id="rId6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B3"/>
    <a:srgbClr val="185FA6"/>
    <a:srgbClr val="A0CEFD"/>
    <a:srgbClr val="3333B2"/>
    <a:srgbClr val="A7C41E"/>
    <a:srgbClr val="F9E5E5"/>
    <a:srgbClr val="006000"/>
    <a:srgbClr val="E5EFE5"/>
    <a:srgbClr val="BF0000"/>
    <a:srgbClr val="E9E9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Style foncé 2 - Accentuation 5/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80" autoAdjust="0"/>
    <p:restoredTop sz="94422" autoAdjust="0"/>
  </p:normalViewPr>
  <p:slideViewPr>
    <p:cSldViewPr snapToGrid="0">
      <p:cViewPr varScale="1">
        <p:scale>
          <a:sx n="80" d="100"/>
          <a:sy n="80" d="100"/>
        </p:scale>
        <p:origin x="170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263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03B4F414-BAF0-F143-94B2-35667D6827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EF7F940-5BB6-B341-93B3-D19B866146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7EA043-F8D1-4C45-B380-B7310F4DAD55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12D441-3476-F34F-9CF3-7D65E17FFA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B31F0-413B-564E-B650-79D555FFDB0D}" type="slidenum">
              <a:rPr lang="fr-FR" smtClean="0"/>
              <a:t>‹#›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034BF0C-82D3-3848-B7FF-CD5EDD5A40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14554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12DCCC-0914-45A0-9D73-C24B746149E7}" type="datetimeFigureOut">
              <a:rPr lang="fr-FR" smtClean="0"/>
              <a:t>12/05/2026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7E6B79-7F94-48EF-8200-2C98A9D04E4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2981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E6B79-7F94-48EF-8200-2C98A9D04E4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4914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 </a:t>
            </a:r>
            <a:r>
              <a:rPr lang="fr-FR" b="1" dirty="0"/>
              <a:t>1980</a:t>
            </a:r>
            <a:r>
              <a:rPr lang="fr-FR" dirty="0"/>
              <a:t>, le philosophe américain </a:t>
            </a:r>
            <a:r>
              <a:rPr lang="fr-FR" b="1" dirty="0"/>
              <a:t>John Searle</a:t>
            </a:r>
            <a:r>
              <a:rPr lang="fr-FR" dirty="0"/>
              <a:t> publie un article intitulé</a:t>
            </a:r>
          </a:p>
          <a:p>
            <a:r>
              <a:rPr lang="fr-FR" i="1" dirty="0"/>
              <a:t>“</a:t>
            </a:r>
            <a:r>
              <a:rPr lang="fr-FR" i="1" dirty="0" err="1"/>
              <a:t>Minds</a:t>
            </a:r>
            <a:r>
              <a:rPr lang="fr-FR" i="1" dirty="0"/>
              <a:t>, </a:t>
            </a:r>
            <a:r>
              <a:rPr lang="fr-FR" i="1" dirty="0" err="1"/>
              <a:t>Brains</a:t>
            </a:r>
            <a:r>
              <a:rPr lang="fr-FR" i="1" dirty="0"/>
              <a:t>, and Programs”</a:t>
            </a:r>
            <a:br>
              <a:rPr lang="fr-FR" dirty="0"/>
            </a:br>
            <a:r>
              <a:rPr lang="fr-FR" dirty="0"/>
              <a:t>dans lequel il remet en cause l’idée que </a:t>
            </a:r>
            <a:r>
              <a:rPr lang="fr-FR" b="1" dirty="0"/>
              <a:t>simuler la compréhension</a:t>
            </a:r>
            <a:r>
              <a:rPr lang="fr-FR" dirty="0"/>
              <a:t> équivaut à </a:t>
            </a:r>
            <a:r>
              <a:rPr lang="fr-FR" b="1" dirty="0"/>
              <a:t>comprendre réellement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E6B79-7F94-48EF-8200-2C98A9D04E4F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079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- Conscience de soi (théorique) : certains chercheurs y voient une forme d’“esprit artificiel”.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E6B79-7F94-48EF-8200-2C98A9D04E4F}" type="slidenum">
              <a:rPr lang="fr-FR" smtClean="0"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5919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- Conscience de soi (théorique) : certains chercheurs y voient une forme d’“esprit artificiel”.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E6B79-7F94-48EF-8200-2C98A9D04E4F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060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- Conscience de soi (théorique) : certains chercheurs y voient une forme d’“esprit artificiel”.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7E6B79-7F94-48EF-8200-2C98A9D04E4F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8595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626128-15ED-FB97-939D-CBF40819A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95B6059-7611-5194-A095-78D753DDE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7006B5-7B91-CFC7-493C-A27775678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53184B-BB8B-8384-A5FE-8055685D7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22522D-930C-78FC-9AB5-41EE2E26B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11AC-C801-4141-B6CD-1EE674242B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153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F0D062-851C-0D07-ABDD-CA0129DD4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346" y="1173739"/>
            <a:ext cx="10515600" cy="4351338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117327-944B-7AC4-8474-F3EE6ADA6F9D}"/>
              </a:ext>
            </a:extLst>
          </p:cNvPr>
          <p:cNvSpPr/>
          <p:nvPr userDrawn="1"/>
        </p:nvSpPr>
        <p:spPr>
          <a:xfrm>
            <a:off x="0" y="0"/>
            <a:ext cx="12192000" cy="543001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36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EF9285-FABF-2AB1-30E5-0AB4D239C3C0}"/>
              </a:ext>
            </a:extLst>
          </p:cNvPr>
          <p:cNvSpPr/>
          <p:nvPr userDrawn="1"/>
        </p:nvSpPr>
        <p:spPr>
          <a:xfrm>
            <a:off x="6095999" y="6555655"/>
            <a:ext cx="6096000" cy="299884"/>
          </a:xfrm>
          <a:prstGeom prst="rect">
            <a:avLst/>
          </a:prstGeom>
          <a:solidFill>
            <a:srgbClr val="3333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100" b="1" kern="12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Intelligence Artificielle Symbolique &amp; introduction à l’IA </a:t>
            </a:r>
            <a:r>
              <a:rPr lang="fr-FR" sz="1100" b="1" kern="1200" dirty="0" err="1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neurosymbolique</a:t>
            </a:r>
            <a:endParaRPr lang="fr-FR" sz="1100" b="1" kern="1200" dirty="0">
              <a:solidFill>
                <a:schemeClr val="lt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2486DE-C659-8103-71CD-1837877C3F74}"/>
              </a:ext>
            </a:extLst>
          </p:cNvPr>
          <p:cNvSpPr/>
          <p:nvPr userDrawn="1"/>
        </p:nvSpPr>
        <p:spPr>
          <a:xfrm>
            <a:off x="0" y="6556885"/>
            <a:ext cx="6096000" cy="2998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Dr Wend-Panga Cédric BERE</a:t>
            </a:r>
          </a:p>
        </p:txBody>
      </p:sp>
    </p:spTree>
    <p:extLst>
      <p:ext uri="{BB962C8B-B14F-4D97-AF65-F5344CB8AC3E}">
        <p14:creationId xmlns:p14="http://schemas.microsoft.com/office/powerpoint/2010/main" val="3997774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390DDE-458E-2451-E0EE-151A8274D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89202D-866C-FE1C-095B-1EC12D7FC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9AC8C4-97CF-5CAD-87DF-A0A19B710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AE0BBA-9453-2668-E044-5013A6687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C75622-2335-C18D-42AA-A722BA65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11AC-C801-4141-B6CD-1EE674242B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0475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E48AB0-6C6B-9770-52AB-9EDFA3823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7B4F1B-FF04-6954-A630-35044D1F21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863A92-BE5D-2069-217C-E0DBFDAE8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76C453-55EB-FD55-C6E8-7A41D55EA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07F160-E961-F670-0A11-3B2590752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4500D0E-AC32-56DD-A427-D719FCE6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11AC-C801-4141-B6CD-1EE674242B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8432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3ECC5D-7D24-E7BA-87E8-54BDC607A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802956-528F-A20F-99A8-FBAE9C6EF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258574B-8B4C-163F-B3A5-5223AE9F5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0591303-02FD-B78E-28B4-2BE117503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CAA5686-D130-446C-980E-4860ED720A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1D4DE09-284F-514C-79F8-0909024E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5CE7518-E063-002A-A565-ADC9D3BDC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6F246C1-E77F-0DA6-0BC3-3831CA63F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11AC-C801-4141-B6CD-1EE674242B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7436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F81C38-39B8-263C-F4A6-4D7695A00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215717A-EAFA-4EB6-E81E-28938EBFD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76ACAB9-B521-7A5F-B977-1D16DDDD1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8688384-5D68-A502-8D1D-9621E166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11AC-C801-4141-B6CD-1EE674242B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86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39C6A52-B67F-3519-F042-A29434F19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8BCF7E9-6710-DCB2-C6E3-2E88FC641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9BDA50-3732-EAFE-86D8-896DE8B5C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11AC-C801-4141-B6CD-1EE674242B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5348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ABA541-85B9-AF03-AF26-8DFD6F5DE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0D7772-02A9-36E8-7D94-910747933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3440733-B51C-A70A-56C2-CEF4610D0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8C6BC1E-F5AC-3C3D-6AF7-742D78B09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6FB40A3-6EC5-0DAC-87A0-AF5F67733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FA10232-B8AE-BD21-4D57-F8BB5DDD4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11AC-C801-4141-B6CD-1EE674242B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7155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4F6598-B5AB-DA99-230E-484BC258F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7CFF8D1-5FB8-E7A5-1EF6-86E7C4C5E3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081B2D3-43B3-CA0F-A325-D54627470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FC3F539-F7C8-E4F5-DE46-68A2827BB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D0DAC05-9985-3196-7BA5-478BB8DC1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A78A36-2F14-4058-EDB8-B78E66AE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11AC-C801-4141-B6CD-1EE674242B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2543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EF4111-10D1-21FF-BC95-BD9837964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33C99A4-C198-F6E2-71F2-242ACE086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24F64A-84D8-21DB-6F7E-830549E3A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0156C8-7092-CF13-BAC0-3D2929D04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E06FA0-A96C-DFFE-675C-CBFF6C08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11AC-C801-4141-B6CD-1EE674242B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016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989B760-85F9-2780-ADED-6A4F249CCB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1B6D73-51C6-F71A-AF8A-C27D92578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BE9E93-BD95-5FE9-44B3-F2D9EEA0B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08951E-9E44-883C-052B-162629E01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03B1B1-310C-9F55-288A-2EB3BC60B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211AC-C801-4141-B6CD-1EE674242B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9446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ADDB73C-C868-1C01-F6B3-4AD28C340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DB5F2E-08F3-50F9-6ED8-D144BC4D9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435F52-F21C-3F4E-15FC-5B75B21388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894825-413A-5D27-037E-2496CC744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B083F7-BC14-1703-87BF-71F47281E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211AC-C801-4141-B6CD-1EE674242B7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921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MU Sans Serif" panose="02000603000000000000" pitchFamily="2" charset="0"/>
          <a:ea typeface="CMU Sans Serif" panose="02000603000000000000" pitchFamily="2" charset="0"/>
          <a:cs typeface="CMU Sans Serif" panose="02000603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B977-6744-F996-5F1D-CDDCF1747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end-Panga Régis Cédric">
            <a:extLst>
              <a:ext uri="{FF2B5EF4-FFF2-40B4-BE49-F238E27FC236}">
                <a16:creationId xmlns:a16="http://schemas.microsoft.com/office/drawing/2014/main" id="{B873C2CF-10A9-168F-B3C0-4A7C0FB5FC63}"/>
              </a:ext>
            </a:extLst>
          </p:cNvPr>
          <p:cNvSpPr txBox="1">
            <a:spLocks/>
          </p:cNvSpPr>
          <p:nvPr/>
        </p:nvSpPr>
        <p:spPr>
          <a:xfrm>
            <a:off x="1784205" y="4472622"/>
            <a:ext cx="8613538" cy="62788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100" b="1" kern="1200">
                <a:solidFill>
                  <a:srgbClr val="0433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Dr Wend-Panga Régis Cédric BERE</a:t>
            </a:r>
          </a:p>
        </p:txBody>
      </p:sp>
      <p:sp>
        <p:nvSpPr>
          <p:cNvPr id="15" name="Soutenance de thèse présentée par">
            <a:extLst>
              <a:ext uri="{FF2B5EF4-FFF2-40B4-BE49-F238E27FC236}">
                <a16:creationId xmlns:a16="http://schemas.microsoft.com/office/drawing/2014/main" id="{0EDCD5A1-DB2D-5BCE-F536-2CF80264EF67}"/>
              </a:ext>
            </a:extLst>
          </p:cNvPr>
          <p:cNvSpPr txBox="1"/>
          <p:nvPr/>
        </p:nvSpPr>
        <p:spPr>
          <a:xfrm>
            <a:off x="4575137" y="3725413"/>
            <a:ext cx="2278431" cy="560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defTabSz="490727">
              <a:defRPr sz="3024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400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Enseignant</a:t>
            </a:r>
            <a:endParaRPr sz="2400" dirty="0">
              <a:solidFill>
                <a:schemeClr val="tx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7" name="Analyse des réseaux sociaux pour l’extraction d’événements et de données qualitatives pour la veille des épidémies basée sur les ontologies : Application à la veille de la méningite au Burkina Faso">
            <a:extLst>
              <a:ext uri="{FF2B5EF4-FFF2-40B4-BE49-F238E27FC236}">
                <a16:creationId xmlns:a16="http://schemas.microsoft.com/office/drawing/2014/main" id="{CAEDA633-5323-9475-BBB5-2B353BFBBFBF}"/>
              </a:ext>
            </a:extLst>
          </p:cNvPr>
          <p:cNvSpPr/>
          <p:nvPr/>
        </p:nvSpPr>
        <p:spPr>
          <a:xfrm>
            <a:off x="122488" y="1289446"/>
            <a:ext cx="11938568" cy="2139554"/>
          </a:xfrm>
          <a:prstGeom prst="roundRect">
            <a:avLst>
              <a:gd name="adj" fmla="val 9907"/>
            </a:avLst>
          </a:prstGeom>
          <a:solidFill>
            <a:srgbClr val="3333B2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41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algn="ctr"/>
            <a:r>
              <a:rPr lang="fr-FR" sz="4400" u="sng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Intelligence Artificielle Symbolique</a:t>
            </a:r>
            <a:r>
              <a:rPr lang="fr-FR" sz="4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br>
              <a:rPr lang="fr-FR" sz="4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</a:br>
            <a:r>
              <a:rPr lang="fr-FR" sz="28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&amp; </a:t>
            </a:r>
            <a:br>
              <a:rPr lang="fr-FR" sz="28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</a:br>
            <a:r>
              <a:rPr lang="fr-FR" sz="28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à l’IA </a:t>
            </a:r>
            <a:r>
              <a:rPr lang="fr-FR" sz="2800" dirty="0" err="1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NeuroSymbolique</a:t>
            </a:r>
            <a:endParaRPr lang="fr-FR" sz="36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635644F-0D0B-0A46-B84A-2A6DBAFC6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215" y="5572684"/>
            <a:ext cx="1411970" cy="11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5574083" y="12527"/>
            <a:ext cx="10951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PLAN</a:t>
            </a:r>
          </a:p>
        </p:txBody>
      </p:sp>
      <p:sp>
        <p:nvSpPr>
          <p:cNvPr id="7" name="État de l’art">
            <a:extLst>
              <a:ext uri="{FF2B5EF4-FFF2-40B4-BE49-F238E27FC236}">
                <a16:creationId xmlns:a16="http://schemas.microsoft.com/office/drawing/2014/main" id="{0281A52E-4F30-4346-8995-0F1358D34203}"/>
              </a:ext>
            </a:extLst>
          </p:cNvPr>
          <p:cNvSpPr txBox="1"/>
          <p:nvPr/>
        </p:nvSpPr>
        <p:spPr>
          <a:xfrm>
            <a:off x="962733" y="1054396"/>
            <a:ext cx="4423459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4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IA Symbolique — Fondements</a:t>
            </a:r>
            <a:endParaRPr lang="fr-FR" sz="2000" dirty="0">
              <a:solidFill>
                <a:srgbClr val="3333B2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759049EF-79A8-424E-9F14-4E02BC37DB22}"/>
              </a:ext>
            </a:extLst>
          </p:cNvPr>
          <p:cNvSpPr/>
          <p:nvPr/>
        </p:nvSpPr>
        <p:spPr>
          <a:xfrm>
            <a:off x="451481" y="1054396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3D3773C9-B374-4749-AB3C-ABE097283E38}"/>
              </a:ext>
            </a:extLst>
          </p:cNvPr>
          <p:cNvSpPr/>
          <p:nvPr/>
        </p:nvSpPr>
        <p:spPr>
          <a:xfrm>
            <a:off x="445880" y="1973750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C47603F-452F-454C-B18A-AC320D6D0309}"/>
              </a:ext>
            </a:extLst>
          </p:cNvPr>
          <p:cNvSpPr/>
          <p:nvPr/>
        </p:nvSpPr>
        <p:spPr>
          <a:xfrm>
            <a:off x="451481" y="3110824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7DE1E644-6BDA-4842-A78B-BDE30AABE649}"/>
              </a:ext>
            </a:extLst>
          </p:cNvPr>
          <p:cNvSpPr/>
          <p:nvPr/>
        </p:nvSpPr>
        <p:spPr>
          <a:xfrm>
            <a:off x="444574" y="4322289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4</a:t>
            </a:r>
          </a:p>
        </p:txBody>
      </p:sp>
      <p:sp>
        <p:nvSpPr>
          <p:cNvPr id="12" name="État de l’art">
            <a:extLst>
              <a:ext uri="{FF2B5EF4-FFF2-40B4-BE49-F238E27FC236}">
                <a16:creationId xmlns:a16="http://schemas.microsoft.com/office/drawing/2014/main" id="{015258C3-55A3-A744-BFCE-3ED36C0AC25E}"/>
              </a:ext>
            </a:extLst>
          </p:cNvPr>
          <p:cNvSpPr txBox="1"/>
          <p:nvPr/>
        </p:nvSpPr>
        <p:spPr>
          <a:xfrm>
            <a:off x="962733" y="1881451"/>
            <a:ext cx="3213851" cy="694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4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Systèmes Experts</a:t>
            </a:r>
          </a:p>
        </p:txBody>
      </p:sp>
      <p:sp>
        <p:nvSpPr>
          <p:cNvPr id="13" name="État de l’art">
            <a:extLst>
              <a:ext uri="{FF2B5EF4-FFF2-40B4-BE49-F238E27FC236}">
                <a16:creationId xmlns:a16="http://schemas.microsoft.com/office/drawing/2014/main" id="{23FC4057-9A38-2046-AB05-225FFC9D8EF4}"/>
              </a:ext>
            </a:extLst>
          </p:cNvPr>
          <p:cNvSpPr txBox="1"/>
          <p:nvPr/>
        </p:nvSpPr>
        <p:spPr>
          <a:xfrm>
            <a:off x="962733" y="2980562"/>
            <a:ext cx="10511108" cy="880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4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Planification et Recherche Automatique</a:t>
            </a:r>
          </a:p>
        </p:txBody>
      </p:sp>
      <p:sp>
        <p:nvSpPr>
          <p:cNvPr id="14" name="État de l’art">
            <a:extLst>
              <a:ext uri="{FF2B5EF4-FFF2-40B4-BE49-F238E27FC236}">
                <a16:creationId xmlns:a16="http://schemas.microsoft.com/office/drawing/2014/main" id="{27AC6CFA-8CED-A84D-AFA2-3D5E25E119EE}"/>
              </a:ext>
            </a:extLst>
          </p:cNvPr>
          <p:cNvSpPr txBox="1"/>
          <p:nvPr/>
        </p:nvSpPr>
        <p:spPr>
          <a:xfrm>
            <a:off x="955826" y="4166573"/>
            <a:ext cx="10016974" cy="880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4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à l'IA </a:t>
            </a:r>
            <a:r>
              <a:rPr lang="fr-FR" sz="2400" dirty="0" err="1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Neurosymbolique</a:t>
            </a:r>
            <a:endParaRPr lang="fr-FR" sz="2400" dirty="0">
              <a:solidFill>
                <a:srgbClr val="3333B2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90A4B974-FAFC-024C-8BC9-51C885569BC8}"/>
              </a:ext>
            </a:extLst>
          </p:cNvPr>
          <p:cNvSpPr/>
          <p:nvPr/>
        </p:nvSpPr>
        <p:spPr>
          <a:xfrm>
            <a:off x="412316" y="5414604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5</a:t>
            </a:r>
          </a:p>
        </p:txBody>
      </p:sp>
      <p:sp>
        <p:nvSpPr>
          <p:cNvPr id="16" name="État de l’art">
            <a:extLst>
              <a:ext uri="{FF2B5EF4-FFF2-40B4-BE49-F238E27FC236}">
                <a16:creationId xmlns:a16="http://schemas.microsoft.com/office/drawing/2014/main" id="{BCB1CB8E-317A-BE40-8460-97396D604928}"/>
              </a:ext>
            </a:extLst>
          </p:cNvPr>
          <p:cNvSpPr txBox="1"/>
          <p:nvPr/>
        </p:nvSpPr>
        <p:spPr>
          <a:xfrm>
            <a:off x="962733" y="5383294"/>
            <a:ext cx="5067364" cy="675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400" dirty="0" err="1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Explainability</a:t>
            </a:r>
            <a:r>
              <a:rPr lang="fr-FR" sz="24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&amp; IA de Confiance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96EEC382-3E78-7E4A-B01A-C3B6100E4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1950" y="5452182"/>
            <a:ext cx="1323781" cy="10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88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 : coins arrondis 45">
            <a:extLst>
              <a:ext uri="{FF2B5EF4-FFF2-40B4-BE49-F238E27FC236}">
                <a16:creationId xmlns:a16="http://schemas.microsoft.com/office/drawing/2014/main" id="{1F20AE18-5407-5B45-85C4-05CB71539C98}"/>
              </a:ext>
            </a:extLst>
          </p:cNvPr>
          <p:cNvSpPr/>
          <p:nvPr/>
        </p:nvSpPr>
        <p:spPr>
          <a:xfrm>
            <a:off x="206039" y="1466748"/>
            <a:ext cx="11779920" cy="1799595"/>
          </a:xfrm>
          <a:prstGeom prst="roundRect">
            <a:avLst/>
          </a:prstGeom>
          <a:solidFill>
            <a:srgbClr val="E5EFE5"/>
          </a:solidFill>
          <a:ln>
            <a:solidFill>
              <a:srgbClr val="E9E9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Former les étudiants à </a:t>
            </a:r>
            <a:r>
              <a:rPr lang="fr-FR" sz="2000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comprendre</a:t>
            </a:r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, </a:t>
            </a:r>
            <a:r>
              <a:rPr lang="fr-FR" sz="2000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modéliser</a:t>
            </a:r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et </a:t>
            </a:r>
            <a:r>
              <a:rPr lang="fr-FR" sz="2000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exploiter</a:t>
            </a:r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les </a:t>
            </a:r>
            <a:r>
              <a:rPr lang="fr-FR" sz="2000" b="1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approches de l’intelligence artificielle symbolique et neuro-symbolique</a:t>
            </a:r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, en leur permettant de représenter des connaissances, de concevoir des systèmes de raisonnement automatique et de développer des solutions hybrides explicables adaptées à des problématiques réelles.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5574083" y="12527"/>
            <a:ext cx="1933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OBJECTIFS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CE19C8DD-AE4E-0848-9F53-A7BE47190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741" y="612929"/>
            <a:ext cx="786518" cy="742118"/>
          </a:xfrm>
          <a:prstGeom prst="rect">
            <a:avLst/>
          </a:prstGeom>
        </p:spPr>
      </p:pic>
      <p:sp>
        <p:nvSpPr>
          <p:cNvPr id="29" name="Rectangle : avec coins arrondis en haut 41">
            <a:extLst>
              <a:ext uri="{FF2B5EF4-FFF2-40B4-BE49-F238E27FC236}">
                <a16:creationId xmlns:a16="http://schemas.microsoft.com/office/drawing/2014/main" id="{1F2733DD-F49F-EC4F-B589-BEB5EC5B1CE4}"/>
              </a:ext>
            </a:extLst>
          </p:cNvPr>
          <p:cNvSpPr/>
          <p:nvPr/>
        </p:nvSpPr>
        <p:spPr>
          <a:xfrm>
            <a:off x="205249" y="1391188"/>
            <a:ext cx="11780710" cy="325748"/>
          </a:xfrm>
          <a:prstGeom prst="round2SameRect">
            <a:avLst/>
          </a:prstGeom>
          <a:solidFill>
            <a:srgbClr val="A7C41E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Objectif principal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0A44A28E-0217-7F4D-BD11-8F8463EFC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2740" y="24077"/>
            <a:ext cx="599260" cy="48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269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 : coins arrondis 45">
            <a:extLst>
              <a:ext uri="{FF2B5EF4-FFF2-40B4-BE49-F238E27FC236}">
                <a16:creationId xmlns:a16="http://schemas.microsoft.com/office/drawing/2014/main" id="{1F20AE18-5407-5B45-85C4-05CB71539C98}"/>
              </a:ext>
            </a:extLst>
          </p:cNvPr>
          <p:cNvSpPr/>
          <p:nvPr/>
        </p:nvSpPr>
        <p:spPr>
          <a:xfrm>
            <a:off x="238018" y="1532238"/>
            <a:ext cx="11779920" cy="4930346"/>
          </a:xfrm>
          <a:prstGeom prst="roundRect">
            <a:avLst/>
          </a:prstGeom>
          <a:solidFill>
            <a:srgbClr val="E5EFE5"/>
          </a:solidFill>
          <a:ln>
            <a:solidFill>
              <a:srgbClr val="E9E9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2000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1. Compréhension des fondements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Expliquer les principes de l’IA symbolique et ses origines historiques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Comparer les paradigmes symbolique et connexionniste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Comprendre l’hypothèse du système de symboles physiques</a:t>
            </a:r>
          </a:p>
          <a:p>
            <a:pPr algn="just"/>
            <a:endParaRPr lang="fr-FR" sz="2000" b="1" dirty="0">
              <a:solidFill>
                <a:schemeClr val="tx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just"/>
            <a:r>
              <a:rPr lang="fr-FR" sz="2000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2. Représentation des connaissances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Modéliser des connaissances en logique propositionnelle et en logique des prédicats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Construire des représentations sous forme de réseaux sémantiques et d’ontologies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Manipuler des standards du Web sémantique (RDF, OWL)</a:t>
            </a:r>
          </a:p>
          <a:p>
            <a:pPr algn="just"/>
            <a:endParaRPr lang="fr-FR" sz="2000" b="1" dirty="0">
              <a:solidFill>
                <a:schemeClr val="tx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just"/>
            <a:r>
              <a:rPr lang="fr-FR" sz="2000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3. Raisonnement automatique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Appliquer des mécanismes d’inférence (déduction, induction, abduction)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Implémenter des techniques de résolution et d’unification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Comprendre les logiques avancées (floue, non-monotone)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5574083" y="12527"/>
            <a:ext cx="1933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OBJECTIFS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CE19C8DD-AE4E-0848-9F53-A7BE47190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849" y="658597"/>
            <a:ext cx="525065" cy="495424"/>
          </a:xfrm>
          <a:prstGeom prst="rect">
            <a:avLst/>
          </a:prstGeom>
        </p:spPr>
      </p:pic>
      <p:sp>
        <p:nvSpPr>
          <p:cNvPr id="29" name="Rectangle : avec coins arrondis en haut 41">
            <a:extLst>
              <a:ext uri="{FF2B5EF4-FFF2-40B4-BE49-F238E27FC236}">
                <a16:creationId xmlns:a16="http://schemas.microsoft.com/office/drawing/2014/main" id="{1F2733DD-F49F-EC4F-B589-BEB5EC5B1CE4}"/>
              </a:ext>
            </a:extLst>
          </p:cNvPr>
          <p:cNvSpPr/>
          <p:nvPr/>
        </p:nvSpPr>
        <p:spPr>
          <a:xfrm>
            <a:off x="449546" y="1192173"/>
            <a:ext cx="11326443" cy="325748"/>
          </a:xfrm>
          <a:prstGeom prst="round2SameRect">
            <a:avLst/>
          </a:prstGeom>
          <a:solidFill>
            <a:srgbClr val="A7C41E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Objectifs spécifiques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0A44A28E-0217-7F4D-BD11-8F8463EFC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2740" y="24077"/>
            <a:ext cx="599260" cy="48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43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 : coins arrondis 45">
            <a:extLst>
              <a:ext uri="{FF2B5EF4-FFF2-40B4-BE49-F238E27FC236}">
                <a16:creationId xmlns:a16="http://schemas.microsoft.com/office/drawing/2014/main" id="{1F20AE18-5407-5B45-85C4-05CB71539C98}"/>
              </a:ext>
            </a:extLst>
          </p:cNvPr>
          <p:cNvSpPr/>
          <p:nvPr/>
        </p:nvSpPr>
        <p:spPr>
          <a:xfrm>
            <a:off x="238018" y="1532238"/>
            <a:ext cx="11779920" cy="4930346"/>
          </a:xfrm>
          <a:prstGeom prst="roundRect">
            <a:avLst/>
          </a:prstGeom>
          <a:solidFill>
            <a:srgbClr val="E5EFE5"/>
          </a:solidFill>
          <a:ln>
            <a:solidFill>
              <a:srgbClr val="E9E9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2000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4. Conception de systèmes experts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Décrire et implémenter l’architecture d’un système expert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Utiliser des outils comme CLIPS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Développer un système expert simple basé sur des règles</a:t>
            </a:r>
          </a:p>
          <a:p>
            <a:pPr algn="just"/>
            <a:endParaRPr lang="fr-FR" sz="2000" b="1" dirty="0">
              <a:solidFill>
                <a:schemeClr val="tx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just"/>
            <a:r>
              <a:rPr lang="fr-FR" sz="2000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5. Résolution de problèmes et planification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Modéliser un problème sous forme de CSP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Implémenter des algorithmes de recherche (ex : A)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Comprendre les techniques de planification automatique</a:t>
            </a:r>
          </a:p>
          <a:p>
            <a:pPr algn="just"/>
            <a:endParaRPr lang="fr-FR" sz="2000" b="1" dirty="0">
              <a:solidFill>
                <a:schemeClr val="tx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just"/>
            <a:r>
              <a:rPr lang="fr-FR" sz="2000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6. Introduction à l’IA </a:t>
            </a:r>
            <a:r>
              <a:rPr lang="fr-FR" sz="2000" b="1" dirty="0" err="1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neurosymbolique</a:t>
            </a:r>
            <a:endParaRPr lang="fr-FR" sz="2000" b="1" dirty="0">
              <a:solidFill>
                <a:srgbClr val="FF0000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Expliquer les motivations des approches hybrides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Décrire les principales architectures </a:t>
            </a:r>
            <a:r>
              <a:rPr lang="fr-FR" sz="2000" b="1" dirty="0" err="1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neurosymboliques</a:t>
            </a:r>
            <a:endParaRPr lang="fr-FR" sz="2000" b="1" dirty="0">
              <a:solidFill>
                <a:schemeClr val="tx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Analyser des systèmes modernes comme </a:t>
            </a:r>
            <a:r>
              <a:rPr lang="fr-FR" sz="2000" b="1" dirty="0" err="1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DeepProbLog</a:t>
            </a:r>
            <a:endParaRPr lang="fr-FR" sz="2000" b="1" dirty="0">
              <a:solidFill>
                <a:schemeClr val="tx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5574083" y="12527"/>
            <a:ext cx="1933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OBJECTIFS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CE19C8DD-AE4E-0848-9F53-A7BE47190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849" y="658597"/>
            <a:ext cx="525065" cy="495424"/>
          </a:xfrm>
          <a:prstGeom prst="rect">
            <a:avLst/>
          </a:prstGeom>
        </p:spPr>
      </p:pic>
      <p:sp>
        <p:nvSpPr>
          <p:cNvPr id="29" name="Rectangle : avec coins arrondis en haut 41">
            <a:extLst>
              <a:ext uri="{FF2B5EF4-FFF2-40B4-BE49-F238E27FC236}">
                <a16:creationId xmlns:a16="http://schemas.microsoft.com/office/drawing/2014/main" id="{1F2733DD-F49F-EC4F-B589-BEB5EC5B1CE4}"/>
              </a:ext>
            </a:extLst>
          </p:cNvPr>
          <p:cNvSpPr/>
          <p:nvPr/>
        </p:nvSpPr>
        <p:spPr>
          <a:xfrm>
            <a:off x="449546" y="1192173"/>
            <a:ext cx="11326443" cy="325748"/>
          </a:xfrm>
          <a:prstGeom prst="round2SameRect">
            <a:avLst/>
          </a:prstGeom>
          <a:solidFill>
            <a:srgbClr val="A7C41E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Objectifs spécifiques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0A44A28E-0217-7F4D-BD11-8F8463EFC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2740" y="24077"/>
            <a:ext cx="599260" cy="48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741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 : coins arrondis 45">
            <a:extLst>
              <a:ext uri="{FF2B5EF4-FFF2-40B4-BE49-F238E27FC236}">
                <a16:creationId xmlns:a16="http://schemas.microsoft.com/office/drawing/2014/main" id="{1F20AE18-5407-5B45-85C4-05CB71539C98}"/>
              </a:ext>
            </a:extLst>
          </p:cNvPr>
          <p:cNvSpPr/>
          <p:nvPr/>
        </p:nvSpPr>
        <p:spPr>
          <a:xfrm>
            <a:off x="345989" y="1532238"/>
            <a:ext cx="11430000" cy="2088292"/>
          </a:xfrm>
          <a:prstGeom prst="roundRect">
            <a:avLst/>
          </a:prstGeom>
          <a:solidFill>
            <a:srgbClr val="E5EFE5"/>
          </a:solidFill>
          <a:ln>
            <a:solidFill>
              <a:srgbClr val="E9E9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2000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7. </a:t>
            </a:r>
            <a:r>
              <a:rPr lang="fr-FR" sz="2000" b="1" dirty="0" err="1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Explicabilité</a:t>
            </a:r>
            <a:r>
              <a:rPr lang="fr-FR" sz="2000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et IA de confiance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Comprendre les enjeux de l’</a:t>
            </a:r>
            <a:r>
              <a:rPr lang="fr-FR" sz="2000" b="1" dirty="0" err="1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explicabilité</a:t>
            </a:r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(XAI)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Appliquer des méthodes comme LIME et SHAP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Identifier les exigences éthiques et réglementaires (ex : EU AI </a:t>
            </a:r>
            <a:r>
              <a:rPr lang="fr-FR" sz="2000" b="1" dirty="0" err="1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Act</a:t>
            </a:r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5574083" y="12527"/>
            <a:ext cx="1933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OBJECTIFS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CE19C8DD-AE4E-0848-9F53-A7BE47190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4849" y="658597"/>
            <a:ext cx="525065" cy="495424"/>
          </a:xfrm>
          <a:prstGeom prst="rect">
            <a:avLst/>
          </a:prstGeom>
        </p:spPr>
      </p:pic>
      <p:sp>
        <p:nvSpPr>
          <p:cNvPr id="29" name="Rectangle : avec coins arrondis en haut 41">
            <a:extLst>
              <a:ext uri="{FF2B5EF4-FFF2-40B4-BE49-F238E27FC236}">
                <a16:creationId xmlns:a16="http://schemas.microsoft.com/office/drawing/2014/main" id="{1F2733DD-F49F-EC4F-B589-BEB5EC5B1CE4}"/>
              </a:ext>
            </a:extLst>
          </p:cNvPr>
          <p:cNvSpPr/>
          <p:nvPr/>
        </p:nvSpPr>
        <p:spPr>
          <a:xfrm>
            <a:off x="449546" y="1192173"/>
            <a:ext cx="11326443" cy="325748"/>
          </a:xfrm>
          <a:prstGeom prst="round2SameRect">
            <a:avLst/>
          </a:prstGeom>
          <a:solidFill>
            <a:srgbClr val="A7C41E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Objectifs spécifiques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0A44A28E-0217-7F4D-BD11-8F8463EFC4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2740" y="24077"/>
            <a:ext cx="599260" cy="485055"/>
          </a:xfrm>
          <a:prstGeom prst="rect">
            <a:avLst/>
          </a:prstGeom>
        </p:spPr>
      </p:pic>
      <p:sp>
        <p:nvSpPr>
          <p:cNvPr id="7" name="Rectangle : coins arrondis 45">
            <a:extLst>
              <a:ext uri="{FF2B5EF4-FFF2-40B4-BE49-F238E27FC236}">
                <a16:creationId xmlns:a16="http://schemas.microsoft.com/office/drawing/2014/main" id="{4F2B3FB7-0A71-B94D-9C3C-3A767B9F02AD}"/>
              </a:ext>
            </a:extLst>
          </p:cNvPr>
          <p:cNvSpPr/>
          <p:nvPr/>
        </p:nvSpPr>
        <p:spPr>
          <a:xfrm>
            <a:off x="345989" y="4242486"/>
            <a:ext cx="11430000" cy="2088292"/>
          </a:xfrm>
          <a:prstGeom prst="roundRect">
            <a:avLst/>
          </a:prstGeom>
          <a:solidFill>
            <a:srgbClr val="A0CEFD"/>
          </a:solidFill>
          <a:ln>
            <a:solidFill>
              <a:srgbClr val="E9E9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Compétences pratiques attendues : </a:t>
            </a:r>
          </a:p>
          <a:p>
            <a:pPr algn="just"/>
            <a:endParaRPr lang="fr-FR" sz="2000" b="1" dirty="0">
              <a:solidFill>
                <a:schemeClr val="tx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	- C1 : Développer des mini-projets en IA symbolique et </a:t>
            </a:r>
            <a:r>
              <a:rPr lang="fr-FR" sz="2000" b="1" dirty="0" err="1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neurosymbolique</a:t>
            </a:r>
            <a:endParaRPr lang="fr-FR" sz="2000" b="1" dirty="0">
              <a:solidFill>
                <a:schemeClr val="tx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- C2 : Traduire un problème réel en modèle formel</a:t>
            </a:r>
          </a:p>
          <a:p>
            <a:pPr algn="just"/>
            <a:r>
              <a:rPr lang="fr-FR" sz="20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	- C3 : Évaluer les performances et les limites d’un système IA</a:t>
            </a:r>
          </a:p>
        </p:txBody>
      </p:sp>
    </p:spTree>
    <p:extLst>
      <p:ext uri="{BB962C8B-B14F-4D97-AF65-F5344CB8AC3E}">
        <p14:creationId xmlns:p14="http://schemas.microsoft.com/office/powerpoint/2010/main" val="3857547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5166804" y="0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PLAN DU COURS</a:t>
            </a:r>
            <a:endParaRPr lang="fr-FR" sz="3200" b="1" dirty="0">
              <a:solidFill>
                <a:schemeClr val="bg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6" name="État de l’art">
            <a:extLst>
              <a:ext uri="{FF2B5EF4-FFF2-40B4-BE49-F238E27FC236}">
                <a16:creationId xmlns:a16="http://schemas.microsoft.com/office/drawing/2014/main" id="{15CD3594-DD80-5C4A-AF57-5E29988F960B}"/>
              </a:ext>
            </a:extLst>
          </p:cNvPr>
          <p:cNvSpPr txBox="1"/>
          <p:nvPr/>
        </p:nvSpPr>
        <p:spPr>
          <a:xfrm>
            <a:off x="724559" y="840211"/>
            <a:ext cx="6309052" cy="548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 fontScale="62500" lnSpcReduction="20000"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36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: IA Symbolique — Fondements</a:t>
            </a:r>
            <a:endParaRPr lang="fr-FR" sz="3200" dirty="0">
              <a:solidFill>
                <a:srgbClr val="3333B2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CA8F172C-E9E2-FA42-B1DF-16A61F9A95FA}"/>
              </a:ext>
            </a:extLst>
          </p:cNvPr>
          <p:cNvSpPr/>
          <p:nvPr/>
        </p:nvSpPr>
        <p:spPr>
          <a:xfrm>
            <a:off x="170300" y="835806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67AD1D7F-8E39-594D-A505-844108F08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13" name="État de l’art">
            <a:extLst>
              <a:ext uri="{FF2B5EF4-FFF2-40B4-BE49-F238E27FC236}">
                <a16:creationId xmlns:a16="http://schemas.microsoft.com/office/drawing/2014/main" id="{00564D63-7A6F-0649-9F4A-54B437DAB217}"/>
              </a:ext>
            </a:extLst>
          </p:cNvPr>
          <p:cNvSpPr txBox="1"/>
          <p:nvPr/>
        </p:nvSpPr>
        <p:spPr>
          <a:xfrm>
            <a:off x="724559" y="1689161"/>
            <a:ext cx="6309052" cy="548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3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2 : Systèmes Experts</a:t>
            </a:r>
          </a:p>
        </p:txBody>
      </p:sp>
      <p:sp>
        <p:nvSpPr>
          <p:cNvPr id="14" name="Ellipse 28">
            <a:extLst>
              <a:ext uri="{FF2B5EF4-FFF2-40B4-BE49-F238E27FC236}">
                <a16:creationId xmlns:a16="http://schemas.microsoft.com/office/drawing/2014/main" id="{EF3E52BC-7CF4-7E43-8233-14E7F9DF0C1F}"/>
              </a:ext>
            </a:extLst>
          </p:cNvPr>
          <p:cNvSpPr/>
          <p:nvPr/>
        </p:nvSpPr>
        <p:spPr>
          <a:xfrm>
            <a:off x="170300" y="1684756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15" name="État de l’art">
            <a:extLst>
              <a:ext uri="{FF2B5EF4-FFF2-40B4-BE49-F238E27FC236}">
                <a16:creationId xmlns:a16="http://schemas.microsoft.com/office/drawing/2014/main" id="{8FC2C17A-7D4D-194B-B92C-0B22C4BBC60D}"/>
              </a:ext>
            </a:extLst>
          </p:cNvPr>
          <p:cNvSpPr txBox="1"/>
          <p:nvPr/>
        </p:nvSpPr>
        <p:spPr>
          <a:xfrm>
            <a:off x="724559" y="2605822"/>
            <a:ext cx="7208158" cy="548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3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3 : Planification et Recherche Automatique </a:t>
            </a:r>
          </a:p>
        </p:txBody>
      </p:sp>
      <p:sp>
        <p:nvSpPr>
          <p:cNvPr id="17" name="Ellipse 28">
            <a:extLst>
              <a:ext uri="{FF2B5EF4-FFF2-40B4-BE49-F238E27FC236}">
                <a16:creationId xmlns:a16="http://schemas.microsoft.com/office/drawing/2014/main" id="{7E94F2F2-F3CD-D74C-AB23-C6D4AED6E1BD}"/>
              </a:ext>
            </a:extLst>
          </p:cNvPr>
          <p:cNvSpPr/>
          <p:nvPr/>
        </p:nvSpPr>
        <p:spPr>
          <a:xfrm>
            <a:off x="170300" y="2601417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</a:t>
            </a: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7EFB1920-5586-5648-A2CC-CC3ABA9D7DC3}"/>
              </a:ext>
            </a:extLst>
          </p:cNvPr>
          <p:cNvSpPr txBox="1"/>
          <p:nvPr/>
        </p:nvSpPr>
        <p:spPr>
          <a:xfrm>
            <a:off x="724559" y="3541058"/>
            <a:ext cx="7208158" cy="548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3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4 : Introduction à l'IA </a:t>
            </a:r>
            <a:r>
              <a:rPr lang="fr-FR" sz="2300" dirty="0" err="1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Neurosymbolique</a:t>
            </a:r>
            <a:endParaRPr lang="fr-FR" sz="2300" dirty="0">
              <a:solidFill>
                <a:srgbClr val="3333B2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9" name="Ellipse 28">
            <a:extLst>
              <a:ext uri="{FF2B5EF4-FFF2-40B4-BE49-F238E27FC236}">
                <a16:creationId xmlns:a16="http://schemas.microsoft.com/office/drawing/2014/main" id="{47DE25EB-9CDA-424B-A22B-A59088127943}"/>
              </a:ext>
            </a:extLst>
          </p:cNvPr>
          <p:cNvSpPr/>
          <p:nvPr/>
        </p:nvSpPr>
        <p:spPr>
          <a:xfrm>
            <a:off x="170300" y="3536653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4</a:t>
            </a:r>
          </a:p>
        </p:txBody>
      </p:sp>
      <p:sp>
        <p:nvSpPr>
          <p:cNvPr id="20" name="État de l’art">
            <a:extLst>
              <a:ext uri="{FF2B5EF4-FFF2-40B4-BE49-F238E27FC236}">
                <a16:creationId xmlns:a16="http://schemas.microsoft.com/office/drawing/2014/main" id="{7F9A0522-ECB6-0F41-B0DB-ED1C2B4A1EAB}"/>
              </a:ext>
            </a:extLst>
          </p:cNvPr>
          <p:cNvSpPr txBox="1"/>
          <p:nvPr/>
        </p:nvSpPr>
        <p:spPr>
          <a:xfrm>
            <a:off x="724559" y="4594714"/>
            <a:ext cx="7208158" cy="548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3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5 : </a:t>
            </a:r>
            <a:r>
              <a:rPr lang="fr-FR" sz="2300" dirty="0" err="1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Explainability</a:t>
            </a:r>
            <a:r>
              <a:rPr lang="fr-FR" sz="23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&amp; IA de Confiance</a:t>
            </a:r>
          </a:p>
        </p:txBody>
      </p:sp>
      <p:sp>
        <p:nvSpPr>
          <p:cNvPr id="21" name="Ellipse 28">
            <a:extLst>
              <a:ext uri="{FF2B5EF4-FFF2-40B4-BE49-F238E27FC236}">
                <a16:creationId xmlns:a16="http://schemas.microsoft.com/office/drawing/2014/main" id="{A110B730-A2AA-BC48-B0D7-DD0A524268EA}"/>
              </a:ext>
            </a:extLst>
          </p:cNvPr>
          <p:cNvSpPr/>
          <p:nvPr/>
        </p:nvSpPr>
        <p:spPr>
          <a:xfrm>
            <a:off x="170300" y="4590309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5</a:t>
            </a:r>
          </a:p>
        </p:txBody>
      </p:sp>
      <p:sp>
        <p:nvSpPr>
          <p:cNvPr id="22" name="État de l’art">
            <a:extLst>
              <a:ext uri="{FF2B5EF4-FFF2-40B4-BE49-F238E27FC236}">
                <a16:creationId xmlns:a16="http://schemas.microsoft.com/office/drawing/2014/main" id="{BCDA8C20-BD81-DC48-8EB7-1728C7582026}"/>
              </a:ext>
            </a:extLst>
          </p:cNvPr>
          <p:cNvSpPr txBox="1"/>
          <p:nvPr/>
        </p:nvSpPr>
        <p:spPr>
          <a:xfrm>
            <a:off x="724559" y="5534355"/>
            <a:ext cx="7208158" cy="548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3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6 : Applications et Perspectives</a:t>
            </a:r>
          </a:p>
        </p:txBody>
      </p:sp>
      <p:sp>
        <p:nvSpPr>
          <p:cNvPr id="23" name="Ellipse 28">
            <a:extLst>
              <a:ext uri="{FF2B5EF4-FFF2-40B4-BE49-F238E27FC236}">
                <a16:creationId xmlns:a16="http://schemas.microsoft.com/office/drawing/2014/main" id="{B3546A8F-CAEB-5F42-939E-31E7146A3478}"/>
              </a:ext>
            </a:extLst>
          </p:cNvPr>
          <p:cNvSpPr/>
          <p:nvPr/>
        </p:nvSpPr>
        <p:spPr>
          <a:xfrm>
            <a:off x="170300" y="5529950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709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5166804" y="0"/>
            <a:ext cx="1048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PLAN</a:t>
            </a:r>
            <a:endParaRPr lang="fr-FR" sz="3200" b="1" dirty="0">
              <a:solidFill>
                <a:schemeClr val="bg1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6" name="État de l’art">
            <a:extLst>
              <a:ext uri="{FF2B5EF4-FFF2-40B4-BE49-F238E27FC236}">
                <a16:creationId xmlns:a16="http://schemas.microsoft.com/office/drawing/2014/main" id="{15CD3594-DD80-5C4A-AF57-5E29988F960B}"/>
              </a:ext>
            </a:extLst>
          </p:cNvPr>
          <p:cNvSpPr txBox="1"/>
          <p:nvPr/>
        </p:nvSpPr>
        <p:spPr>
          <a:xfrm>
            <a:off x="1235033" y="2621508"/>
            <a:ext cx="9571512" cy="1273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36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: IA Symbolique — Fondements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67AD1D7F-8E39-594D-A505-844108F08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540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État de l’art">
            <a:extLst>
              <a:ext uri="{FF2B5EF4-FFF2-40B4-BE49-F238E27FC236}">
                <a16:creationId xmlns:a16="http://schemas.microsoft.com/office/drawing/2014/main" id="{15CD3594-DD80-5C4A-AF57-5E29988F960B}"/>
              </a:ext>
            </a:extLst>
          </p:cNvPr>
          <p:cNvSpPr txBox="1"/>
          <p:nvPr/>
        </p:nvSpPr>
        <p:spPr>
          <a:xfrm>
            <a:off x="2989327" y="2146391"/>
            <a:ext cx="4433788" cy="548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 fontScale="55000" lnSpcReduction="20000"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36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endParaRPr lang="fr-FR" sz="3200" dirty="0">
              <a:solidFill>
                <a:srgbClr val="3333B2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CA8F172C-E9E2-FA42-B1DF-16A61F9A95FA}"/>
              </a:ext>
            </a:extLst>
          </p:cNvPr>
          <p:cNvSpPr/>
          <p:nvPr/>
        </p:nvSpPr>
        <p:spPr>
          <a:xfrm>
            <a:off x="2426611" y="2106466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67AD1D7F-8E39-594D-A505-844108F08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7ACFB2D-30C4-EC40-BC01-CC240B7953AC}"/>
              </a:ext>
            </a:extLst>
          </p:cNvPr>
          <p:cNvSpPr/>
          <p:nvPr/>
        </p:nvSpPr>
        <p:spPr>
          <a:xfrm>
            <a:off x="0" y="55279"/>
            <a:ext cx="92271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Plan ▷  Chapitre 1</a:t>
            </a:r>
          </a:p>
        </p:txBody>
      </p:sp>
      <p:sp>
        <p:nvSpPr>
          <p:cNvPr id="12" name="État de l’art">
            <a:extLst>
              <a:ext uri="{FF2B5EF4-FFF2-40B4-BE49-F238E27FC236}">
                <a16:creationId xmlns:a16="http://schemas.microsoft.com/office/drawing/2014/main" id="{D52A75E4-13FA-934D-9B08-488DF8FF7000}"/>
              </a:ext>
            </a:extLst>
          </p:cNvPr>
          <p:cNvSpPr txBox="1"/>
          <p:nvPr/>
        </p:nvSpPr>
        <p:spPr>
          <a:xfrm>
            <a:off x="2989327" y="3093991"/>
            <a:ext cx="5845914" cy="548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 fontScale="55000" lnSpcReduction="20000"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36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REPRÉSENTATION DES CONNAISSANCES</a:t>
            </a:r>
            <a:endParaRPr lang="fr-FR" sz="3200" dirty="0">
              <a:solidFill>
                <a:srgbClr val="3333B2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3" name="Ellipse 28">
            <a:extLst>
              <a:ext uri="{FF2B5EF4-FFF2-40B4-BE49-F238E27FC236}">
                <a16:creationId xmlns:a16="http://schemas.microsoft.com/office/drawing/2014/main" id="{79FC5813-07F9-324E-A307-80B9184AEFAB}"/>
              </a:ext>
            </a:extLst>
          </p:cNvPr>
          <p:cNvSpPr/>
          <p:nvPr/>
        </p:nvSpPr>
        <p:spPr>
          <a:xfrm>
            <a:off x="2426611" y="3093991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2</a:t>
            </a:r>
          </a:p>
        </p:txBody>
      </p:sp>
      <p:sp>
        <p:nvSpPr>
          <p:cNvPr id="14" name="État de l’art">
            <a:extLst>
              <a:ext uri="{FF2B5EF4-FFF2-40B4-BE49-F238E27FC236}">
                <a16:creationId xmlns:a16="http://schemas.microsoft.com/office/drawing/2014/main" id="{A6094EE6-A4A5-764F-8249-9CA1EE6CF160}"/>
              </a:ext>
            </a:extLst>
          </p:cNvPr>
          <p:cNvSpPr txBox="1"/>
          <p:nvPr/>
        </p:nvSpPr>
        <p:spPr>
          <a:xfrm>
            <a:off x="2989327" y="4001666"/>
            <a:ext cx="5845914" cy="548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0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RAISONNEMENT AUTOMATIQUE</a:t>
            </a:r>
            <a:endParaRPr lang="fr-FR" sz="1800" dirty="0">
              <a:solidFill>
                <a:srgbClr val="3333B2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5" name="Ellipse 28">
            <a:extLst>
              <a:ext uri="{FF2B5EF4-FFF2-40B4-BE49-F238E27FC236}">
                <a16:creationId xmlns:a16="http://schemas.microsoft.com/office/drawing/2014/main" id="{1909053A-ABED-254C-88E4-1E4616E5E97F}"/>
              </a:ext>
            </a:extLst>
          </p:cNvPr>
          <p:cNvSpPr/>
          <p:nvPr/>
        </p:nvSpPr>
        <p:spPr>
          <a:xfrm>
            <a:off x="2426611" y="4001666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</a:t>
            </a:r>
          </a:p>
        </p:txBody>
      </p:sp>
      <p:sp>
        <p:nvSpPr>
          <p:cNvPr id="17" name="État de l’art">
            <a:extLst>
              <a:ext uri="{FF2B5EF4-FFF2-40B4-BE49-F238E27FC236}">
                <a16:creationId xmlns:a16="http://schemas.microsoft.com/office/drawing/2014/main" id="{08FFA02E-89B5-6645-84F6-A57ECFF829D1}"/>
              </a:ext>
            </a:extLst>
          </p:cNvPr>
          <p:cNvSpPr txBox="1"/>
          <p:nvPr/>
        </p:nvSpPr>
        <p:spPr>
          <a:xfrm>
            <a:off x="807521" y="765701"/>
            <a:ext cx="9571512" cy="1273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36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: IA Symbolique — Fondements</a:t>
            </a:r>
          </a:p>
        </p:txBody>
      </p:sp>
    </p:spTree>
    <p:extLst>
      <p:ext uri="{BB962C8B-B14F-4D97-AF65-F5344CB8AC3E}">
        <p14:creationId xmlns:p14="http://schemas.microsoft.com/office/powerpoint/2010/main" val="3769989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État de l’art">
            <a:extLst>
              <a:ext uri="{FF2B5EF4-FFF2-40B4-BE49-F238E27FC236}">
                <a16:creationId xmlns:a16="http://schemas.microsoft.com/office/drawing/2014/main" id="{15CD3594-DD80-5C4A-AF57-5E29988F960B}"/>
              </a:ext>
            </a:extLst>
          </p:cNvPr>
          <p:cNvSpPr txBox="1"/>
          <p:nvPr/>
        </p:nvSpPr>
        <p:spPr>
          <a:xfrm>
            <a:off x="733016" y="875731"/>
            <a:ext cx="4433788" cy="548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 fontScale="55000" lnSpcReduction="20000"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36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endParaRPr lang="fr-FR" sz="3200" dirty="0">
              <a:solidFill>
                <a:srgbClr val="3333B2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CA8F172C-E9E2-FA42-B1DF-16A61F9A95FA}"/>
              </a:ext>
            </a:extLst>
          </p:cNvPr>
          <p:cNvSpPr/>
          <p:nvPr/>
        </p:nvSpPr>
        <p:spPr>
          <a:xfrm>
            <a:off x="170300" y="835806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2C09F291-30D8-FA47-A52F-2B3BA8F25FA9}"/>
              </a:ext>
            </a:extLst>
          </p:cNvPr>
          <p:cNvSpPr/>
          <p:nvPr/>
        </p:nvSpPr>
        <p:spPr>
          <a:xfrm>
            <a:off x="754160" y="1753147"/>
            <a:ext cx="251791" cy="252480"/>
          </a:xfrm>
          <a:prstGeom prst="ellipse">
            <a:avLst/>
          </a:prstGeom>
          <a:solidFill>
            <a:srgbClr val="3333B3"/>
          </a:solidFill>
          <a:ln>
            <a:solidFill>
              <a:schemeClr val="accent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rgbClr val="3333B2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1" name="État de l’art">
            <a:extLst>
              <a:ext uri="{FF2B5EF4-FFF2-40B4-BE49-F238E27FC236}">
                <a16:creationId xmlns:a16="http://schemas.microsoft.com/office/drawing/2014/main" id="{CD34FBD9-0205-6E47-809A-36D04153EFB0}"/>
              </a:ext>
            </a:extLst>
          </p:cNvPr>
          <p:cNvSpPr txBox="1"/>
          <p:nvPr/>
        </p:nvSpPr>
        <p:spPr>
          <a:xfrm>
            <a:off x="1146210" y="1150175"/>
            <a:ext cx="10823711" cy="426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Origines de l'IA symbolique (années 50-80)</a:t>
            </a:r>
          </a:p>
          <a:p>
            <a:r>
              <a:rPr lang="fr-FR" sz="28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Paradigme symbolique vs connexionniste</a:t>
            </a:r>
          </a:p>
          <a:p>
            <a:r>
              <a:rPr lang="fr-FR" sz="28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Hypothèse du Système de Symboles Physiques (</a:t>
            </a:r>
            <a:r>
              <a:rPr lang="fr-FR" sz="2800" dirty="0" err="1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Newell</a:t>
            </a:r>
            <a:r>
              <a:rPr lang="fr-FR" sz="28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&amp; Simon)</a:t>
            </a:r>
          </a:p>
          <a:p>
            <a:r>
              <a:rPr lang="fr-FR" sz="28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Place de l'IA symbolique aujourd'hui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A0BB25A2-E29C-D647-A58E-B435412FBEB2}"/>
              </a:ext>
            </a:extLst>
          </p:cNvPr>
          <p:cNvSpPr/>
          <p:nvPr/>
        </p:nvSpPr>
        <p:spPr>
          <a:xfrm>
            <a:off x="778526" y="2639571"/>
            <a:ext cx="251791" cy="252480"/>
          </a:xfrm>
          <a:prstGeom prst="ellipse">
            <a:avLst/>
          </a:prstGeom>
          <a:solidFill>
            <a:srgbClr val="3333B3"/>
          </a:solidFill>
          <a:ln>
            <a:solidFill>
              <a:schemeClr val="accent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rgbClr val="3333B2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B6B22F11-F7EF-3B4D-AC84-2314D9FC7C80}"/>
              </a:ext>
            </a:extLst>
          </p:cNvPr>
          <p:cNvSpPr/>
          <p:nvPr/>
        </p:nvSpPr>
        <p:spPr>
          <a:xfrm>
            <a:off x="818096" y="4405253"/>
            <a:ext cx="251791" cy="252480"/>
          </a:xfrm>
          <a:prstGeom prst="ellipse">
            <a:avLst/>
          </a:prstGeom>
          <a:solidFill>
            <a:srgbClr val="3333B3"/>
          </a:solidFill>
          <a:ln>
            <a:solidFill>
              <a:schemeClr val="accent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rgbClr val="3333B2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67AD1D7F-8E39-594D-A505-844108F08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11" name="Ellipse 31">
            <a:extLst>
              <a:ext uri="{FF2B5EF4-FFF2-40B4-BE49-F238E27FC236}">
                <a16:creationId xmlns:a16="http://schemas.microsoft.com/office/drawing/2014/main" id="{A3989A06-B6B9-1447-9917-75D24DE57E55}"/>
              </a:ext>
            </a:extLst>
          </p:cNvPr>
          <p:cNvSpPr/>
          <p:nvPr/>
        </p:nvSpPr>
        <p:spPr>
          <a:xfrm>
            <a:off x="819267" y="3522412"/>
            <a:ext cx="251791" cy="252480"/>
          </a:xfrm>
          <a:prstGeom prst="ellipse">
            <a:avLst/>
          </a:prstGeom>
          <a:solidFill>
            <a:srgbClr val="3333B3"/>
          </a:solidFill>
          <a:ln>
            <a:solidFill>
              <a:schemeClr val="accent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rgbClr val="3333B2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ACFB2D-30C4-EC40-BC01-CC240B7953AC}"/>
              </a:ext>
            </a:extLst>
          </p:cNvPr>
          <p:cNvSpPr/>
          <p:nvPr/>
        </p:nvSpPr>
        <p:spPr>
          <a:xfrm>
            <a:off x="0" y="55279"/>
            <a:ext cx="92271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 IA Symbolique — Fondements</a:t>
            </a:r>
          </a:p>
        </p:txBody>
      </p:sp>
    </p:spTree>
    <p:extLst>
      <p:ext uri="{BB962C8B-B14F-4D97-AF65-F5344CB8AC3E}">
        <p14:creationId xmlns:p14="http://schemas.microsoft.com/office/powerpoint/2010/main" val="3853759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48008" y="677027"/>
            <a:ext cx="332002" cy="356126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854C6A0-5A3D-714D-981B-58923A29EA1B}"/>
              </a:ext>
            </a:extLst>
          </p:cNvPr>
          <p:cNvSpPr/>
          <p:nvPr/>
        </p:nvSpPr>
        <p:spPr>
          <a:xfrm>
            <a:off x="792530" y="1408014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4BD8F1A-18F7-5640-94C9-503FE9033E8E}"/>
              </a:ext>
            </a:extLst>
          </p:cNvPr>
          <p:cNvSpPr txBox="1"/>
          <p:nvPr/>
        </p:nvSpPr>
        <p:spPr>
          <a:xfrm>
            <a:off x="1247976" y="1267181"/>
            <a:ext cx="1063922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 science est un ensemble </a:t>
            </a:r>
            <a:r>
              <a:rPr lang="fr-FR" sz="2400" b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structuré de connaissances fiables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obtenues par </a:t>
            </a:r>
            <a:r>
              <a:rPr lang="fr-FR" sz="2400" b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l'observation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</a:t>
            </a:r>
            <a:r>
              <a:rPr lang="fr-FR" sz="2400" b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l'expérimentation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et le </a:t>
            </a:r>
            <a:r>
              <a:rPr lang="fr-FR" sz="2400" b="1" dirty="0">
                <a:solidFill>
                  <a:schemeClr val="accent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raisonnement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visant à comprendre et expliquer les phénomènes naturels et sociaux. </a:t>
            </a:r>
          </a:p>
          <a:p>
            <a:pPr algn="just"/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just"/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Ensemble cohérent de connaissances relatives à certaines catégories de faits, d'objets ou de phénomènes obéissant à des lois et/ou vérifiés par les méthodes expérimentales.</a:t>
            </a:r>
          </a:p>
          <a:p>
            <a:pPr algn="just"/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just"/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just"/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Elle s'appuie sur des méthodes rigoureuses et vérifiables, se distinguant des croyances par sa capacité à être remise en question. </a:t>
            </a:r>
          </a:p>
          <a:p>
            <a:pPr algn="just"/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just"/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8C1985A-AC11-0442-AC66-F1B81E58D539}"/>
              </a:ext>
            </a:extLst>
          </p:cNvPr>
          <p:cNvSpPr/>
          <p:nvPr/>
        </p:nvSpPr>
        <p:spPr>
          <a:xfrm>
            <a:off x="792529" y="3190684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1BF22C4-D72D-F54E-8273-26BF239E1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29" name="État de l’art">
            <a:extLst>
              <a:ext uri="{FF2B5EF4-FFF2-40B4-BE49-F238E27FC236}">
                <a16:creationId xmlns:a16="http://schemas.microsoft.com/office/drawing/2014/main" id="{25E842C3-DB69-E84C-8F9A-432AC67EEF97}"/>
              </a:ext>
            </a:extLst>
          </p:cNvPr>
          <p:cNvSpPr txBox="1"/>
          <p:nvPr/>
        </p:nvSpPr>
        <p:spPr>
          <a:xfrm>
            <a:off x="624520" y="669732"/>
            <a:ext cx="4577667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i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Qu’est ce que la science?</a:t>
            </a:r>
          </a:p>
        </p:txBody>
      </p:sp>
      <p:sp>
        <p:nvSpPr>
          <p:cNvPr id="30" name="Ellipse 20">
            <a:extLst>
              <a:ext uri="{FF2B5EF4-FFF2-40B4-BE49-F238E27FC236}">
                <a16:creationId xmlns:a16="http://schemas.microsoft.com/office/drawing/2014/main" id="{EDEED7B7-E522-2C46-A2EC-AC68A78D419D}"/>
              </a:ext>
            </a:extLst>
          </p:cNvPr>
          <p:cNvSpPr/>
          <p:nvPr/>
        </p:nvSpPr>
        <p:spPr>
          <a:xfrm>
            <a:off x="832635" y="4979379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37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48008" y="677027"/>
            <a:ext cx="332002" cy="356126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854C6A0-5A3D-714D-981B-58923A29EA1B}"/>
              </a:ext>
            </a:extLst>
          </p:cNvPr>
          <p:cNvSpPr/>
          <p:nvPr/>
        </p:nvSpPr>
        <p:spPr>
          <a:xfrm>
            <a:off x="792530" y="1408014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4BD8F1A-18F7-5640-94C9-503FE9033E8E}"/>
              </a:ext>
            </a:extLst>
          </p:cNvPr>
          <p:cNvSpPr txBox="1"/>
          <p:nvPr/>
        </p:nvSpPr>
        <p:spPr>
          <a:xfrm>
            <a:off x="1247976" y="1267181"/>
            <a:ext cx="106392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L’activité scientifique consiste à produire des connaissances scientifiques.</a:t>
            </a:r>
          </a:p>
          <a:p>
            <a:pPr algn="just"/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just"/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Selon Jim Gray (2009), cette production s’est développée à travers quatre grands paradigmes scientifiques : le paradigme expérimental, le paradigme théorique, le paradigme computationnel et le paradigme orienté données (data-</a:t>
            </a:r>
            <a:r>
              <a:rPr lang="fr-FR" sz="24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driven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science).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1BF22C4-D72D-F54E-8273-26BF239E1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29" name="État de l’art">
            <a:extLst>
              <a:ext uri="{FF2B5EF4-FFF2-40B4-BE49-F238E27FC236}">
                <a16:creationId xmlns:a16="http://schemas.microsoft.com/office/drawing/2014/main" id="{25E842C3-DB69-E84C-8F9A-432AC67EEF97}"/>
              </a:ext>
            </a:extLst>
          </p:cNvPr>
          <p:cNvSpPr txBox="1"/>
          <p:nvPr/>
        </p:nvSpPr>
        <p:spPr>
          <a:xfrm>
            <a:off x="624520" y="669732"/>
            <a:ext cx="9995354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 fontScale="92500"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i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Les paradigmes de production des connaissances scientifiques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ECCBB4-4D7C-204A-B072-B7C5A3513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9538" y="4057616"/>
            <a:ext cx="2451600" cy="2451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D302B7-FDB5-F74B-90B1-0214A564E9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530" y="4057616"/>
            <a:ext cx="2496505" cy="23597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7E926F-E865-E04E-B29A-52C250E3258D}"/>
              </a:ext>
            </a:extLst>
          </p:cNvPr>
          <p:cNvSpPr txBox="1"/>
          <p:nvPr/>
        </p:nvSpPr>
        <p:spPr>
          <a:xfrm>
            <a:off x="3289035" y="5447062"/>
            <a:ext cx="3682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err="1"/>
              <a:t>Informaticien</a:t>
            </a:r>
            <a:r>
              <a:rPr lang="en-US" b="1" i="1" dirty="0"/>
              <a:t>, </a:t>
            </a:r>
            <a:r>
              <a:rPr lang="en-US" b="1" i="1" dirty="0" err="1"/>
              <a:t>chercheur</a:t>
            </a:r>
            <a:r>
              <a:rPr lang="en-US" b="1" i="1" dirty="0"/>
              <a:t> </a:t>
            </a:r>
            <a:r>
              <a:rPr lang="en-US" b="1" i="1" dirty="0" err="1"/>
              <a:t>à</a:t>
            </a:r>
            <a:r>
              <a:rPr lang="en-US" b="1" i="1" dirty="0"/>
              <a:t> Microsoft</a:t>
            </a:r>
            <a:br>
              <a:rPr lang="en-US" b="1" i="1" dirty="0"/>
            </a:br>
            <a:r>
              <a:rPr lang="en-US" b="1" i="1" dirty="0" err="1"/>
              <a:t>Lauréat</a:t>
            </a:r>
            <a:r>
              <a:rPr lang="en-US" b="1" i="1" dirty="0"/>
              <a:t> du prix Turing </a:t>
            </a:r>
            <a:r>
              <a:rPr lang="en-US" b="1" i="1" dirty="0" err="1"/>
              <a:t>en</a:t>
            </a:r>
            <a:r>
              <a:rPr lang="en-US" b="1" i="1" dirty="0"/>
              <a:t> 1998</a:t>
            </a:r>
          </a:p>
        </p:txBody>
      </p:sp>
    </p:spTree>
    <p:extLst>
      <p:ext uri="{BB962C8B-B14F-4D97-AF65-F5344CB8AC3E}">
        <p14:creationId xmlns:p14="http://schemas.microsoft.com/office/powerpoint/2010/main" val="224683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B8D486F-CC9B-4145-A825-A4D896D6F8AB}"/>
              </a:ext>
            </a:extLst>
          </p:cNvPr>
          <p:cNvCxnSpPr>
            <a:cxnSpLocks/>
          </p:cNvCxnSpPr>
          <p:nvPr/>
        </p:nvCxnSpPr>
        <p:spPr>
          <a:xfrm>
            <a:off x="48008" y="1443228"/>
            <a:ext cx="12143992" cy="1500"/>
          </a:xfrm>
          <a:prstGeom prst="straightConnector1">
            <a:avLst/>
          </a:prstGeom>
          <a:ln w="1270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1BF22C4-D72D-F54E-8273-26BF239E1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52" name="Text 2">
            <a:extLst>
              <a:ext uri="{FF2B5EF4-FFF2-40B4-BE49-F238E27FC236}">
                <a16:creationId xmlns:a16="http://schemas.microsoft.com/office/drawing/2014/main" id="{A7DE0E98-3861-7B4A-9D3A-58608E372E73}"/>
              </a:ext>
            </a:extLst>
          </p:cNvPr>
          <p:cNvSpPr/>
          <p:nvPr/>
        </p:nvSpPr>
        <p:spPr>
          <a:xfrm>
            <a:off x="510872" y="1765915"/>
            <a:ext cx="1896177" cy="225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Expérimental</a:t>
            </a:r>
            <a:endParaRPr lang="en-US" sz="2400" dirty="0"/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E484C56B-5EB9-6040-8D82-6985CE4AECC5}"/>
              </a:ext>
            </a:extLst>
          </p:cNvPr>
          <p:cNvSpPr/>
          <p:nvPr/>
        </p:nvSpPr>
        <p:spPr>
          <a:xfrm>
            <a:off x="510872" y="2040235"/>
            <a:ext cx="1896177" cy="1877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Antiquité → XVIIe</a:t>
            </a:r>
            <a:endParaRPr lang="en-US" sz="900" dirty="0"/>
          </a:p>
        </p:txBody>
      </p:sp>
      <p:sp>
        <p:nvSpPr>
          <p:cNvPr id="54" name="Shape 4">
            <a:extLst>
              <a:ext uri="{FF2B5EF4-FFF2-40B4-BE49-F238E27FC236}">
                <a16:creationId xmlns:a16="http://schemas.microsoft.com/office/drawing/2014/main" id="{764AC775-E1BF-BC42-B4B1-6FA70F649FF9}"/>
              </a:ext>
            </a:extLst>
          </p:cNvPr>
          <p:cNvSpPr/>
          <p:nvPr/>
        </p:nvSpPr>
        <p:spPr>
          <a:xfrm>
            <a:off x="3153188" y="1334442"/>
            <a:ext cx="2370270" cy="280040"/>
          </a:xfrm>
          <a:prstGeom prst="rect">
            <a:avLst/>
          </a:prstGeom>
          <a:solidFill>
            <a:srgbClr val="185FA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E8211D76-6962-DD43-A779-444524134695}"/>
              </a:ext>
            </a:extLst>
          </p:cNvPr>
          <p:cNvSpPr/>
          <p:nvPr/>
        </p:nvSpPr>
        <p:spPr>
          <a:xfrm>
            <a:off x="3345692" y="1784219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Théorique</a:t>
            </a:r>
            <a:endParaRPr lang="en-US" sz="1100" dirty="0"/>
          </a:p>
        </p:txBody>
      </p:sp>
      <p:sp>
        <p:nvSpPr>
          <p:cNvPr id="56" name="Text 6">
            <a:extLst>
              <a:ext uri="{FF2B5EF4-FFF2-40B4-BE49-F238E27FC236}">
                <a16:creationId xmlns:a16="http://schemas.microsoft.com/office/drawing/2014/main" id="{32AF5310-7C78-254E-B8BE-AB06E8B21B83}"/>
              </a:ext>
            </a:extLst>
          </p:cNvPr>
          <p:cNvSpPr/>
          <p:nvPr/>
        </p:nvSpPr>
        <p:spPr>
          <a:xfrm>
            <a:off x="3345692" y="2058539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XVIIe → XIXe</a:t>
            </a:r>
            <a:endParaRPr lang="en-US" sz="900" dirty="0"/>
          </a:p>
        </p:txBody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786429DA-5C28-414B-B123-D98A4C0B775E}"/>
              </a:ext>
            </a:extLst>
          </p:cNvPr>
          <p:cNvSpPr/>
          <p:nvPr/>
        </p:nvSpPr>
        <p:spPr>
          <a:xfrm>
            <a:off x="5790745" y="1314932"/>
            <a:ext cx="2582882" cy="284055"/>
          </a:xfrm>
          <a:prstGeom prst="rect">
            <a:avLst/>
          </a:prstGeom>
          <a:solidFill>
            <a:srgbClr val="854F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b="1" dirty="0" err="1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XXe</a:t>
            </a:r>
            <a:r>
              <a:rPr lang="en-US" b="1" dirty="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siècle (1950–1990)</a:t>
            </a:r>
          </a:p>
        </p:txBody>
      </p:sp>
      <p:sp>
        <p:nvSpPr>
          <p:cNvPr id="58" name="Text 8">
            <a:extLst>
              <a:ext uri="{FF2B5EF4-FFF2-40B4-BE49-F238E27FC236}">
                <a16:creationId xmlns:a16="http://schemas.microsoft.com/office/drawing/2014/main" id="{0967E575-882E-AC4D-9EC0-2DEC2EE35E78}"/>
              </a:ext>
            </a:extLst>
          </p:cNvPr>
          <p:cNvSpPr/>
          <p:nvPr/>
        </p:nvSpPr>
        <p:spPr>
          <a:xfrm>
            <a:off x="5974538" y="1737142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Computationnel</a:t>
            </a:r>
            <a:endParaRPr lang="en-US" sz="2000" dirty="0"/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3BCD6E79-9BC2-A84F-A64C-A79F06B6B492}"/>
              </a:ext>
            </a:extLst>
          </p:cNvPr>
          <p:cNvSpPr/>
          <p:nvPr/>
        </p:nvSpPr>
        <p:spPr>
          <a:xfrm>
            <a:off x="5808601" y="2040235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XXe siècle</a:t>
            </a:r>
            <a:endParaRPr lang="en-US" sz="900" dirty="0"/>
          </a:p>
        </p:txBody>
      </p:sp>
      <p:sp>
        <p:nvSpPr>
          <p:cNvPr id="60" name="Shape 10">
            <a:extLst>
              <a:ext uri="{FF2B5EF4-FFF2-40B4-BE49-F238E27FC236}">
                <a16:creationId xmlns:a16="http://schemas.microsoft.com/office/drawing/2014/main" id="{AC914997-FBD1-164A-9014-6BD3FFF19B77}"/>
              </a:ext>
            </a:extLst>
          </p:cNvPr>
          <p:cNvSpPr/>
          <p:nvPr/>
        </p:nvSpPr>
        <p:spPr>
          <a:xfrm>
            <a:off x="8703362" y="1322169"/>
            <a:ext cx="2867715" cy="242137"/>
          </a:xfrm>
          <a:prstGeom prst="rect">
            <a:avLst/>
          </a:prstGeom>
          <a:solidFill>
            <a:srgbClr val="993C1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b="1" dirty="0">
              <a:solidFill>
                <a:schemeClr val="bg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61" name="Text 11">
            <a:extLst>
              <a:ext uri="{FF2B5EF4-FFF2-40B4-BE49-F238E27FC236}">
                <a16:creationId xmlns:a16="http://schemas.microsoft.com/office/drawing/2014/main" id="{BB11017A-8031-5143-8652-134FE8E9A7E3}"/>
              </a:ext>
            </a:extLst>
          </p:cNvPr>
          <p:cNvSpPr/>
          <p:nvPr/>
        </p:nvSpPr>
        <p:spPr>
          <a:xfrm>
            <a:off x="8916166" y="1784218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2000" dirty="0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31ACCCE2-7871-AA41-BCEC-9A858D7E713C}"/>
              </a:ext>
            </a:extLst>
          </p:cNvPr>
          <p:cNvSpPr/>
          <p:nvPr/>
        </p:nvSpPr>
        <p:spPr>
          <a:xfrm>
            <a:off x="8916166" y="2058538"/>
            <a:ext cx="19385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XXIe → aujourd'hui</a:t>
            </a:r>
            <a:endParaRPr lang="en-US" sz="900" dirty="0"/>
          </a:p>
        </p:txBody>
      </p:sp>
      <p:sp>
        <p:nvSpPr>
          <p:cNvPr id="63" name="Shape 13">
            <a:extLst>
              <a:ext uri="{FF2B5EF4-FFF2-40B4-BE49-F238E27FC236}">
                <a16:creationId xmlns:a16="http://schemas.microsoft.com/office/drawing/2014/main" id="{5AC12E24-42DB-4940-B774-4517A2C3A9FE}"/>
              </a:ext>
            </a:extLst>
          </p:cNvPr>
          <p:cNvSpPr/>
          <p:nvPr/>
        </p:nvSpPr>
        <p:spPr>
          <a:xfrm>
            <a:off x="391520" y="2067666"/>
            <a:ext cx="2368456" cy="31620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4" name="Shape 14">
            <a:extLst>
              <a:ext uri="{FF2B5EF4-FFF2-40B4-BE49-F238E27FC236}">
                <a16:creationId xmlns:a16="http://schemas.microsoft.com/office/drawing/2014/main" id="{9060089D-0A8A-C244-B1AD-872B49A13B6A}"/>
              </a:ext>
            </a:extLst>
          </p:cNvPr>
          <p:cNvSpPr/>
          <p:nvPr/>
        </p:nvSpPr>
        <p:spPr>
          <a:xfrm>
            <a:off x="391520" y="2067667"/>
            <a:ext cx="2408741" cy="375586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5" name="Text 15">
            <a:extLst>
              <a:ext uri="{FF2B5EF4-FFF2-40B4-BE49-F238E27FC236}">
                <a16:creationId xmlns:a16="http://schemas.microsoft.com/office/drawing/2014/main" id="{8DCC0B5B-7878-7546-8DBB-82E0BD291B93}"/>
              </a:ext>
            </a:extLst>
          </p:cNvPr>
          <p:cNvSpPr/>
          <p:nvPr/>
        </p:nvSpPr>
        <p:spPr>
          <a:xfrm>
            <a:off x="510872" y="2113387"/>
            <a:ext cx="1896177" cy="30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6" name="Text 16">
            <a:extLst>
              <a:ext uri="{FF2B5EF4-FFF2-40B4-BE49-F238E27FC236}">
                <a16:creationId xmlns:a16="http://schemas.microsoft.com/office/drawing/2014/main" id="{B153D43D-83B5-8643-8766-BF102081EF41}"/>
              </a:ext>
            </a:extLst>
          </p:cNvPr>
          <p:cNvSpPr/>
          <p:nvPr/>
        </p:nvSpPr>
        <p:spPr>
          <a:xfrm>
            <a:off x="510872" y="2588875"/>
            <a:ext cx="1896177" cy="2629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Expérimental</a:t>
            </a:r>
            <a:endParaRPr lang="en-US" sz="2400" dirty="0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E654DE28-C6E5-564D-B719-FB27CE3D4461}"/>
              </a:ext>
            </a:extLst>
          </p:cNvPr>
          <p:cNvSpPr/>
          <p:nvPr/>
        </p:nvSpPr>
        <p:spPr>
          <a:xfrm>
            <a:off x="569169" y="3032875"/>
            <a:ext cx="1896177" cy="2225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 err="1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</a:t>
            </a:r>
            <a:r>
              <a:rPr lang="en-US" sz="2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principal :</a:t>
            </a:r>
            <a:endParaRPr lang="en-US" sz="2000" dirty="0"/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E2F54501-78B5-5649-8D63-834665C4F6EF}"/>
              </a:ext>
            </a:extLst>
          </p:cNvPr>
          <p:cNvSpPr/>
          <p:nvPr/>
        </p:nvSpPr>
        <p:spPr>
          <a:xfrm>
            <a:off x="510872" y="3355835"/>
            <a:ext cx="1896177" cy="210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Laboratoire</a:t>
            </a:r>
            <a:endParaRPr lang="en-US" dirty="0"/>
          </a:p>
        </p:txBody>
      </p:sp>
      <p:sp>
        <p:nvSpPr>
          <p:cNvPr id="69" name="Text 19">
            <a:extLst>
              <a:ext uri="{FF2B5EF4-FFF2-40B4-BE49-F238E27FC236}">
                <a16:creationId xmlns:a16="http://schemas.microsoft.com/office/drawing/2014/main" id="{6E6CD892-6975-7346-B4D0-7A06ED285DC4}"/>
              </a:ext>
            </a:extLst>
          </p:cNvPr>
          <p:cNvSpPr/>
          <p:nvPr/>
        </p:nvSpPr>
        <p:spPr>
          <a:xfrm>
            <a:off x="510872" y="3782642"/>
            <a:ext cx="1896177" cy="2415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 err="1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r>
              <a:rPr lang="en-US" sz="2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</a:t>
            </a:r>
            <a:endParaRPr lang="en-US" sz="2000" dirty="0"/>
          </a:p>
        </p:txBody>
      </p:sp>
      <p:sp>
        <p:nvSpPr>
          <p:cNvPr id="70" name="Text 20">
            <a:extLst>
              <a:ext uri="{FF2B5EF4-FFF2-40B4-BE49-F238E27FC236}">
                <a16:creationId xmlns:a16="http://schemas.microsoft.com/office/drawing/2014/main" id="{67B99953-D4D0-5744-A3AA-70A21B597B95}"/>
              </a:ext>
            </a:extLst>
          </p:cNvPr>
          <p:cNvSpPr/>
          <p:nvPr/>
        </p:nvSpPr>
        <p:spPr>
          <a:xfrm>
            <a:off x="451108" y="4239150"/>
            <a:ext cx="2132297" cy="292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&amp; mesurer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0D6AC727-DA73-1A4B-9CB7-743915686D10}"/>
              </a:ext>
            </a:extLst>
          </p:cNvPr>
          <p:cNvSpPr/>
          <p:nvPr/>
        </p:nvSpPr>
        <p:spPr>
          <a:xfrm>
            <a:off x="3106452" y="2058538"/>
            <a:ext cx="2417007" cy="317118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2" name="Shape 22">
            <a:extLst>
              <a:ext uri="{FF2B5EF4-FFF2-40B4-BE49-F238E27FC236}">
                <a16:creationId xmlns:a16="http://schemas.microsoft.com/office/drawing/2014/main" id="{D21FB906-752D-D647-86C8-9E3EB4F72A8E}"/>
              </a:ext>
            </a:extLst>
          </p:cNvPr>
          <p:cNvSpPr/>
          <p:nvPr/>
        </p:nvSpPr>
        <p:spPr>
          <a:xfrm>
            <a:off x="3106453" y="2085971"/>
            <a:ext cx="2417006" cy="354545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73" name="Text 23">
            <a:extLst>
              <a:ext uri="{FF2B5EF4-FFF2-40B4-BE49-F238E27FC236}">
                <a16:creationId xmlns:a16="http://schemas.microsoft.com/office/drawing/2014/main" id="{CD415BFD-736A-3E4C-9CD8-7B6F6956F780}"/>
              </a:ext>
            </a:extLst>
          </p:cNvPr>
          <p:cNvSpPr/>
          <p:nvPr/>
        </p:nvSpPr>
        <p:spPr>
          <a:xfrm>
            <a:off x="3345692" y="2131691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74" name="Text 24">
            <a:extLst>
              <a:ext uri="{FF2B5EF4-FFF2-40B4-BE49-F238E27FC236}">
                <a16:creationId xmlns:a16="http://schemas.microsoft.com/office/drawing/2014/main" id="{27D14624-55AC-EC44-A33A-BAF843EE729E}"/>
              </a:ext>
            </a:extLst>
          </p:cNvPr>
          <p:cNvSpPr/>
          <p:nvPr/>
        </p:nvSpPr>
        <p:spPr>
          <a:xfrm>
            <a:off x="3345692" y="2607179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Théorique</a:t>
            </a:r>
            <a:endParaRPr lang="en-US" sz="1200" dirty="0"/>
          </a:p>
        </p:txBody>
      </p:sp>
      <p:sp>
        <p:nvSpPr>
          <p:cNvPr id="75" name="Text 25">
            <a:extLst>
              <a:ext uri="{FF2B5EF4-FFF2-40B4-BE49-F238E27FC236}">
                <a16:creationId xmlns:a16="http://schemas.microsoft.com/office/drawing/2014/main" id="{27F9F003-4254-0D4B-B044-AAA18EB3D924}"/>
              </a:ext>
            </a:extLst>
          </p:cNvPr>
          <p:cNvSpPr/>
          <p:nvPr/>
        </p:nvSpPr>
        <p:spPr>
          <a:xfrm>
            <a:off x="3345692" y="3072955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 err="1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</a:t>
            </a:r>
            <a:r>
              <a:rPr lang="en-US" sz="2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principal :</a:t>
            </a:r>
            <a:endParaRPr lang="en-US" sz="2000" dirty="0"/>
          </a:p>
        </p:txBody>
      </p:sp>
      <p:sp>
        <p:nvSpPr>
          <p:cNvPr id="76" name="Text 26">
            <a:extLst>
              <a:ext uri="{FF2B5EF4-FFF2-40B4-BE49-F238E27FC236}">
                <a16:creationId xmlns:a16="http://schemas.microsoft.com/office/drawing/2014/main" id="{685AA102-FBA9-104B-ACF8-3A6B31DDC116}"/>
              </a:ext>
            </a:extLst>
          </p:cNvPr>
          <p:cNvSpPr/>
          <p:nvPr/>
        </p:nvSpPr>
        <p:spPr>
          <a:xfrm>
            <a:off x="3345692" y="3374139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Équations</a:t>
            </a:r>
            <a:endParaRPr lang="en-US" dirty="0"/>
          </a:p>
        </p:txBody>
      </p:sp>
      <p:sp>
        <p:nvSpPr>
          <p:cNvPr id="78" name="Text 28">
            <a:extLst>
              <a:ext uri="{FF2B5EF4-FFF2-40B4-BE49-F238E27FC236}">
                <a16:creationId xmlns:a16="http://schemas.microsoft.com/office/drawing/2014/main" id="{050697EC-8DDB-5549-B114-603F22F7A2AC}"/>
              </a:ext>
            </a:extLst>
          </p:cNvPr>
          <p:cNvSpPr/>
          <p:nvPr/>
        </p:nvSpPr>
        <p:spPr>
          <a:xfrm>
            <a:off x="3229296" y="4207727"/>
            <a:ext cx="2218053" cy="345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 &amp; déduire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9" name="Shape 29">
            <a:extLst>
              <a:ext uri="{FF2B5EF4-FFF2-40B4-BE49-F238E27FC236}">
                <a16:creationId xmlns:a16="http://schemas.microsoft.com/office/drawing/2014/main" id="{4312BBEF-9473-DB44-886A-8F7488EE936A}"/>
              </a:ext>
            </a:extLst>
          </p:cNvPr>
          <p:cNvSpPr/>
          <p:nvPr/>
        </p:nvSpPr>
        <p:spPr>
          <a:xfrm>
            <a:off x="5801710" y="2055895"/>
            <a:ext cx="2402193" cy="316205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0" name="Shape 30">
            <a:extLst>
              <a:ext uri="{FF2B5EF4-FFF2-40B4-BE49-F238E27FC236}">
                <a16:creationId xmlns:a16="http://schemas.microsoft.com/office/drawing/2014/main" id="{161C62D1-4D53-8448-BC43-714E028BE886}"/>
              </a:ext>
            </a:extLst>
          </p:cNvPr>
          <p:cNvSpPr/>
          <p:nvPr/>
        </p:nvSpPr>
        <p:spPr>
          <a:xfrm>
            <a:off x="5808601" y="2067667"/>
            <a:ext cx="2395302" cy="457200"/>
          </a:xfrm>
          <a:prstGeom prst="rect">
            <a:avLst/>
          </a:prstGeom>
          <a:solidFill>
            <a:srgbClr val="854F0B"/>
          </a:solidFill>
          <a:ln/>
        </p:spPr>
      </p:sp>
      <p:sp>
        <p:nvSpPr>
          <p:cNvPr id="81" name="Text 31">
            <a:extLst>
              <a:ext uri="{FF2B5EF4-FFF2-40B4-BE49-F238E27FC236}">
                <a16:creationId xmlns:a16="http://schemas.microsoft.com/office/drawing/2014/main" id="{AE05E18D-5EB9-B444-A55C-64CFB9387318}"/>
              </a:ext>
            </a:extLst>
          </p:cNvPr>
          <p:cNvSpPr/>
          <p:nvPr/>
        </p:nvSpPr>
        <p:spPr>
          <a:xfrm>
            <a:off x="5808601" y="2113387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82" name="Text 32">
            <a:extLst>
              <a:ext uri="{FF2B5EF4-FFF2-40B4-BE49-F238E27FC236}">
                <a16:creationId xmlns:a16="http://schemas.microsoft.com/office/drawing/2014/main" id="{5F3201C0-3CCA-9144-9BC8-207D98062B2A}"/>
              </a:ext>
            </a:extLst>
          </p:cNvPr>
          <p:cNvSpPr/>
          <p:nvPr/>
        </p:nvSpPr>
        <p:spPr>
          <a:xfrm>
            <a:off x="5938365" y="2588874"/>
            <a:ext cx="2265537" cy="3383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Computationnel</a:t>
            </a:r>
            <a:endParaRPr lang="en-US" sz="2400" dirty="0"/>
          </a:p>
        </p:txBody>
      </p:sp>
      <p:sp>
        <p:nvSpPr>
          <p:cNvPr id="83" name="Text 33">
            <a:extLst>
              <a:ext uri="{FF2B5EF4-FFF2-40B4-BE49-F238E27FC236}">
                <a16:creationId xmlns:a16="http://schemas.microsoft.com/office/drawing/2014/main" id="{E536C604-2382-D541-AF29-C6229902AA9A}"/>
              </a:ext>
            </a:extLst>
          </p:cNvPr>
          <p:cNvSpPr/>
          <p:nvPr/>
        </p:nvSpPr>
        <p:spPr>
          <a:xfrm>
            <a:off x="5808601" y="3054651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principal</a:t>
            </a:r>
            <a:endParaRPr lang="en-US" sz="2000" dirty="0"/>
          </a:p>
        </p:txBody>
      </p:sp>
      <p:sp>
        <p:nvSpPr>
          <p:cNvPr id="84" name="Text 34">
            <a:extLst>
              <a:ext uri="{FF2B5EF4-FFF2-40B4-BE49-F238E27FC236}">
                <a16:creationId xmlns:a16="http://schemas.microsoft.com/office/drawing/2014/main" id="{92174EED-C94D-F443-92C2-CA0A8C950778}"/>
              </a:ext>
            </a:extLst>
          </p:cNvPr>
          <p:cNvSpPr/>
          <p:nvPr/>
        </p:nvSpPr>
        <p:spPr>
          <a:xfrm>
            <a:off x="5808601" y="3355835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Ordinateur</a:t>
            </a:r>
            <a:endParaRPr lang="en-US" sz="1600" dirty="0"/>
          </a:p>
        </p:txBody>
      </p:sp>
      <p:sp>
        <p:nvSpPr>
          <p:cNvPr id="86" name="Text 36">
            <a:extLst>
              <a:ext uri="{FF2B5EF4-FFF2-40B4-BE49-F238E27FC236}">
                <a16:creationId xmlns:a16="http://schemas.microsoft.com/office/drawing/2014/main" id="{1A2204E8-15BE-844E-8320-33381EBE7B36}"/>
              </a:ext>
            </a:extLst>
          </p:cNvPr>
          <p:cNvSpPr/>
          <p:nvPr/>
        </p:nvSpPr>
        <p:spPr>
          <a:xfrm>
            <a:off x="6027597" y="4257453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Simuler &amp; calculer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7" name="Shape 37">
            <a:extLst>
              <a:ext uri="{FF2B5EF4-FFF2-40B4-BE49-F238E27FC236}">
                <a16:creationId xmlns:a16="http://schemas.microsoft.com/office/drawing/2014/main" id="{ACC465F1-D7D9-E645-B508-85791DDAFD9B}"/>
              </a:ext>
            </a:extLst>
          </p:cNvPr>
          <p:cNvSpPr/>
          <p:nvPr/>
        </p:nvSpPr>
        <p:spPr>
          <a:xfrm>
            <a:off x="8703362" y="2055895"/>
            <a:ext cx="2374252" cy="31437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8" name="Shape 38">
            <a:extLst>
              <a:ext uri="{FF2B5EF4-FFF2-40B4-BE49-F238E27FC236}">
                <a16:creationId xmlns:a16="http://schemas.microsoft.com/office/drawing/2014/main" id="{C7D5B064-853D-DD48-9703-5481D4C2B526}"/>
              </a:ext>
            </a:extLst>
          </p:cNvPr>
          <p:cNvSpPr/>
          <p:nvPr/>
        </p:nvSpPr>
        <p:spPr>
          <a:xfrm>
            <a:off x="8703362" y="2085970"/>
            <a:ext cx="2374252" cy="4572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89" name="Text 39">
            <a:extLst>
              <a:ext uri="{FF2B5EF4-FFF2-40B4-BE49-F238E27FC236}">
                <a16:creationId xmlns:a16="http://schemas.microsoft.com/office/drawing/2014/main" id="{FD506F28-C046-4244-B907-F016E0DE9805}"/>
              </a:ext>
            </a:extLst>
          </p:cNvPr>
          <p:cNvSpPr/>
          <p:nvPr/>
        </p:nvSpPr>
        <p:spPr>
          <a:xfrm>
            <a:off x="8916166" y="213169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90" name="Text 40">
            <a:extLst>
              <a:ext uri="{FF2B5EF4-FFF2-40B4-BE49-F238E27FC236}">
                <a16:creationId xmlns:a16="http://schemas.microsoft.com/office/drawing/2014/main" id="{6E91BFA4-513C-9647-925C-5FB5C287AB95}"/>
              </a:ext>
            </a:extLst>
          </p:cNvPr>
          <p:cNvSpPr/>
          <p:nvPr/>
        </p:nvSpPr>
        <p:spPr>
          <a:xfrm>
            <a:off x="8916166" y="2607178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2400" dirty="0"/>
          </a:p>
        </p:txBody>
      </p:sp>
      <p:sp>
        <p:nvSpPr>
          <p:cNvPr id="91" name="Text 41">
            <a:extLst>
              <a:ext uri="{FF2B5EF4-FFF2-40B4-BE49-F238E27FC236}">
                <a16:creationId xmlns:a16="http://schemas.microsoft.com/office/drawing/2014/main" id="{1E4FE85E-B410-D948-9C23-95B3E93C2E1C}"/>
              </a:ext>
            </a:extLst>
          </p:cNvPr>
          <p:cNvSpPr/>
          <p:nvPr/>
        </p:nvSpPr>
        <p:spPr>
          <a:xfrm>
            <a:off x="8916166" y="3072954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principal</a:t>
            </a:r>
            <a:endParaRPr lang="en-US" sz="2000" dirty="0"/>
          </a:p>
        </p:txBody>
      </p:sp>
      <p:sp>
        <p:nvSpPr>
          <p:cNvPr id="92" name="Text 42">
            <a:extLst>
              <a:ext uri="{FF2B5EF4-FFF2-40B4-BE49-F238E27FC236}">
                <a16:creationId xmlns:a16="http://schemas.microsoft.com/office/drawing/2014/main" id="{AA152469-DCC8-E648-B83D-B3B49916598F}"/>
              </a:ext>
            </a:extLst>
          </p:cNvPr>
          <p:cNvSpPr/>
          <p:nvPr/>
        </p:nvSpPr>
        <p:spPr>
          <a:xfrm>
            <a:off x="8916166" y="337413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Big Data</a:t>
            </a:r>
            <a:endParaRPr lang="en-US" dirty="0"/>
          </a:p>
        </p:txBody>
      </p:sp>
      <p:sp>
        <p:nvSpPr>
          <p:cNvPr id="94" name="Text 44">
            <a:extLst>
              <a:ext uri="{FF2B5EF4-FFF2-40B4-BE49-F238E27FC236}">
                <a16:creationId xmlns:a16="http://schemas.microsoft.com/office/drawing/2014/main" id="{0AB184F6-3C48-1B4F-96A2-63622BA6181E}"/>
              </a:ext>
            </a:extLst>
          </p:cNvPr>
          <p:cNvSpPr/>
          <p:nvPr/>
        </p:nvSpPr>
        <p:spPr>
          <a:xfrm>
            <a:off x="8762636" y="4180260"/>
            <a:ext cx="2314978" cy="399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&amp; prédire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6" name="Shape 1">
            <a:extLst>
              <a:ext uri="{FF2B5EF4-FFF2-40B4-BE49-F238E27FC236}">
                <a16:creationId xmlns:a16="http://schemas.microsoft.com/office/drawing/2014/main" id="{C924FF31-9677-A344-B4D8-F7906E18725F}"/>
              </a:ext>
            </a:extLst>
          </p:cNvPr>
          <p:cNvSpPr/>
          <p:nvPr/>
        </p:nvSpPr>
        <p:spPr>
          <a:xfrm>
            <a:off x="391520" y="1280943"/>
            <a:ext cx="2431201" cy="334757"/>
          </a:xfrm>
          <a:prstGeom prst="rect">
            <a:avLst/>
          </a:prstGeom>
          <a:solidFill>
            <a:srgbClr val="1D9E7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091702-7CE8-BB40-9617-2C7D81C5B7CA}"/>
              </a:ext>
            </a:extLst>
          </p:cNvPr>
          <p:cNvSpPr/>
          <p:nvPr/>
        </p:nvSpPr>
        <p:spPr>
          <a:xfrm>
            <a:off x="3153187" y="1317649"/>
            <a:ext cx="21307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1600" b="1" i="1" dirty="0" err="1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XVIIe</a:t>
            </a:r>
            <a:r>
              <a:rPr lang="en-US" sz="1600" b="1" i="1" dirty="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→ </a:t>
            </a:r>
            <a:r>
              <a:rPr lang="en-US" sz="1600" b="1" i="1" dirty="0" err="1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XIXe</a:t>
            </a:r>
            <a:r>
              <a:rPr lang="en-US" sz="1600" b="1" i="1" dirty="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siècle</a:t>
            </a:r>
            <a:endParaRPr lang="en-US" sz="1600" b="1" dirty="0">
              <a:solidFill>
                <a:schemeClr val="bg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C70548-25EC-394B-BC87-89E08C4C87F7}"/>
              </a:ext>
            </a:extLst>
          </p:cNvPr>
          <p:cNvSpPr/>
          <p:nvPr/>
        </p:nvSpPr>
        <p:spPr>
          <a:xfrm>
            <a:off x="310313" y="1302784"/>
            <a:ext cx="260996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i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Antiquité</a:t>
            </a:r>
            <a:r>
              <a:rPr lang="en-US" sz="1600" b="1" i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→ </a:t>
            </a:r>
            <a:r>
              <a:rPr lang="en-US" sz="1600" b="1" i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XVIIe</a:t>
            </a:r>
            <a:r>
              <a:rPr lang="en-US" sz="1600" b="1" i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siècle</a:t>
            </a:r>
          </a:p>
        </p:txBody>
      </p:sp>
      <p:sp>
        <p:nvSpPr>
          <p:cNvPr id="97" name="Text 19">
            <a:extLst>
              <a:ext uri="{FF2B5EF4-FFF2-40B4-BE49-F238E27FC236}">
                <a16:creationId xmlns:a16="http://schemas.microsoft.com/office/drawing/2014/main" id="{E921865B-F260-B340-A683-414BFB3D204F}"/>
              </a:ext>
            </a:extLst>
          </p:cNvPr>
          <p:cNvSpPr/>
          <p:nvPr/>
        </p:nvSpPr>
        <p:spPr>
          <a:xfrm>
            <a:off x="3271318" y="3777959"/>
            <a:ext cx="1896177" cy="2415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 err="1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r>
              <a:rPr lang="en-US" sz="2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</a:t>
            </a:r>
            <a:endParaRPr lang="en-US" sz="2000" dirty="0"/>
          </a:p>
        </p:txBody>
      </p:sp>
      <p:sp>
        <p:nvSpPr>
          <p:cNvPr id="98" name="Text 19">
            <a:extLst>
              <a:ext uri="{FF2B5EF4-FFF2-40B4-BE49-F238E27FC236}">
                <a16:creationId xmlns:a16="http://schemas.microsoft.com/office/drawing/2014/main" id="{0EA8C37B-2816-FF44-A2BD-4CE6A7260A61}"/>
              </a:ext>
            </a:extLst>
          </p:cNvPr>
          <p:cNvSpPr/>
          <p:nvPr/>
        </p:nvSpPr>
        <p:spPr>
          <a:xfrm>
            <a:off x="6054717" y="3741760"/>
            <a:ext cx="1896177" cy="2415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 err="1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r>
              <a:rPr lang="en-US" sz="2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</a:t>
            </a:r>
            <a:endParaRPr lang="en-US" sz="2000" dirty="0"/>
          </a:p>
        </p:txBody>
      </p:sp>
      <p:sp>
        <p:nvSpPr>
          <p:cNvPr id="99" name="Text 19">
            <a:extLst>
              <a:ext uri="{FF2B5EF4-FFF2-40B4-BE49-F238E27FC236}">
                <a16:creationId xmlns:a16="http://schemas.microsoft.com/office/drawing/2014/main" id="{4154EF70-E68C-FC49-AF3D-5F2C63D74CBB}"/>
              </a:ext>
            </a:extLst>
          </p:cNvPr>
          <p:cNvSpPr/>
          <p:nvPr/>
        </p:nvSpPr>
        <p:spPr>
          <a:xfrm>
            <a:off x="8935710" y="3751763"/>
            <a:ext cx="1896177" cy="2415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 err="1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r>
              <a:rPr lang="en-US" sz="2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</a:t>
            </a:r>
            <a:endParaRPr lang="en-US" sz="200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EDE641F-2947-7E4E-B148-32DA58B73E6C}"/>
              </a:ext>
            </a:extLst>
          </p:cNvPr>
          <p:cNvSpPr/>
          <p:nvPr/>
        </p:nvSpPr>
        <p:spPr>
          <a:xfrm>
            <a:off x="8640914" y="1314932"/>
            <a:ext cx="26388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1600" b="1" i="1" dirty="0" err="1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XXIe</a:t>
            </a:r>
            <a:r>
              <a:rPr lang="en-US" sz="1600" b="1" i="1" dirty="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siècle → </a:t>
            </a:r>
            <a:r>
              <a:rPr lang="en-US" sz="1600" b="1" i="1" dirty="0" err="1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aujourd'hui</a:t>
            </a:r>
            <a:endParaRPr lang="en-US" sz="1600" b="1" dirty="0">
              <a:solidFill>
                <a:schemeClr val="bg1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365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1BF22C4-D72D-F54E-8273-26BF239E1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49" name="Ellipse 16">
            <a:extLst>
              <a:ext uri="{FF2B5EF4-FFF2-40B4-BE49-F238E27FC236}">
                <a16:creationId xmlns:a16="http://schemas.microsoft.com/office/drawing/2014/main" id="{61437C26-A1E5-EC45-B6EC-BA009D918B43}"/>
              </a:ext>
            </a:extLst>
          </p:cNvPr>
          <p:cNvSpPr/>
          <p:nvPr/>
        </p:nvSpPr>
        <p:spPr>
          <a:xfrm>
            <a:off x="48008" y="677027"/>
            <a:ext cx="332002" cy="356126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0" name="Ellipse 18">
            <a:extLst>
              <a:ext uri="{FF2B5EF4-FFF2-40B4-BE49-F238E27FC236}">
                <a16:creationId xmlns:a16="http://schemas.microsoft.com/office/drawing/2014/main" id="{DFBE11CB-4672-9341-B2EC-AA75F9464B4C}"/>
              </a:ext>
            </a:extLst>
          </p:cNvPr>
          <p:cNvSpPr/>
          <p:nvPr/>
        </p:nvSpPr>
        <p:spPr>
          <a:xfrm>
            <a:off x="792530" y="1408014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5" name="ZoneTexte 19">
            <a:extLst>
              <a:ext uri="{FF2B5EF4-FFF2-40B4-BE49-F238E27FC236}">
                <a16:creationId xmlns:a16="http://schemas.microsoft.com/office/drawing/2014/main" id="{8C0545FC-8223-CA42-A304-47F08C211D18}"/>
              </a:ext>
            </a:extLst>
          </p:cNvPr>
          <p:cNvSpPr txBox="1"/>
          <p:nvPr/>
        </p:nvSpPr>
        <p:spPr>
          <a:xfrm>
            <a:off x="1247976" y="1267181"/>
            <a:ext cx="106392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b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Principe :</a:t>
            </a:r>
          </a:p>
          <a:p>
            <a:pPr algn="just"/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 connaissance scientifique est obtenue par l'observation directe et l'expérimentation du monde réel. Chaque hypothèse doit être validée par des mesures reproductibles.</a:t>
            </a:r>
          </a:p>
        </p:txBody>
      </p:sp>
      <p:sp>
        <p:nvSpPr>
          <p:cNvPr id="96" name="État de l’art">
            <a:extLst>
              <a:ext uri="{FF2B5EF4-FFF2-40B4-BE49-F238E27FC236}">
                <a16:creationId xmlns:a16="http://schemas.microsoft.com/office/drawing/2014/main" id="{1E50A585-95A7-8E47-84D9-6CB60B92F4C2}"/>
              </a:ext>
            </a:extLst>
          </p:cNvPr>
          <p:cNvSpPr txBox="1"/>
          <p:nvPr/>
        </p:nvSpPr>
        <p:spPr>
          <a:xfrm>
            <a:off x="624520" y="669732"/>
            <a:ext cx="9995354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i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1er Paradigme : La science expérimentale</a:t>
            </a:r>
          </a:p>
        </p:txBody>
      </p:sp>
      <p:sp>
        <p:nvSpPr>
          <p:cNvPr id="97" name="Ellipse 18">
            <a:extLst>
              <a:ext uri="{FF2B5EF4-FFF2-40B4-BE49-F238E27FC236}">
                <a16:creationId xmlns:a16="http://schemas.microsoft.com/office/drawing/2014/main" id="{15B16C9E-0BC9-444D-BA04-6CAC2BC02FCD}"/>
              </a:ext>
            </a:extLst>
          </p:cNvPr>
          <p:cNvSpPr/>
          <p:nvPr/>
        </p:nvSpPr>
        <p:spPr>
          <a:xfrm>
            <a:off x="792530" y="3357130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8" name="ZoneTexte 19">
            <a:extLst>
              <a:ext uri="{FF2B5EF4-FFF2-40B4-BE49-F238E27FC236}">
                <a16:creationId xmlns:a16="http://schemas.microsoft.com/office/drawing/2014/main" id="{71822C2D-6D7C-B94A-A72E-4BE847851170}"/>
              </a:ext>
            </a:extLst>
          </p:cNvPr>
          <p:cNvSpPr txBox="1"/>
          <p:nvPr/>
        </p:nvSpPr>
        <p:spPr>
          <a:xfrm>
            <a:off x="1247976" y="3216297"/>
            <a:ext cx="106392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b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Caractéristiques 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Observation directe des phénomènes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Expériences physiques contrôlées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Mesures empiriques quantitatives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Validation par reproduction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Méthode hypothético-déductive</a:t>
            </a: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7885485D-47E4-A745-B29F-F6F91D97F6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6940" y="3127342"/>
            <a:ext cx="2501871" cy="2486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622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1BF22C4-D72D-F54E-8273-26BF239E1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49" name="Ellipse 16">
            <a:extLst>
              <a:ext uri="{FF2B5EF4-FFF2-40B4-BE49-F238E27FC236}">
                <a16:creationId xmlns:a16="http://schemas.microsoft.com/office/drawing/2014/main" id="{61437C26-A1E5-EC45-B6EC-BA009D918B43}"/>
              </a:ext>
            </a:extLst>
          </p:cNvPr>
          <p:cNvSpPr/>
          <p:nvPr/>
        </p:nvSpPr>
        <p:spPr>
          <a:xfrm>
            <a:off x="48008" y="677027"/>
            <a:ext cx="332002" cy="356126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0" name="Ellipse 18">
            <a:extLst>
              <a:ext uri="{FF2B5EF4-FFF2-40B4-BE49-F238E27FC236}">
                <a16:creationId xmlns:a16="http://schemas.microsoft.com/office/drawing/2014/main" id="{DFBE11CB-4672-9341-B2EC-AA75F9464B4C}"/>
              </a:ext>
            </a:extLst>
          </p:cNvPr>
          <p:cNvSpPr/>
          <p:nvPr/>
        </p:nvSpPr>
        <p:spPr>
          <a:xfrm>
            <a:off x="792530" y="1408014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5" name="ZoneTexte 19">
            <a:extLst>
              <a:ext uri="{FF2B5EF4-FFF2-40B4-BE49-F238E27FC236}">
                <a16:creationId xmlns:a16="http://schemas.microsoft.com/office/drawing/2014/main" id="{8C0545FC-8223-CA42-A304-47F08C211D18}"/>
              </a:ext>
            </a:extLst>
          </p:cNvPr>
          <p:cNvSpPr txBox="1"/>
          <p:nvPr/>
        </p:nvSpPr>
        <p:spPr>
          <a:xfrm>
            <a:off x="1247976" y="1267181"/>
            <a:ext cx="106392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b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Exemples 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Expériences de Galilée sur la chute des corps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Chimie en laboratoire (Lavoisier)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Observation astronomique (</a:t>
            </a:r>
            <a:r>
              <a:rPr lang="fr-FR" sz="24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Tycho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Brahe)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Test de capteurs </a:t>
            </a:r>
            <a:r>
              <a:rPr lang="fr-FR" sz="24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IoT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humidité en champ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Essais de fertilisation sur parcelles témoins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Mesure de rendement avant/après irrigation</a:t>
            </a:r>
          </a:p>
        </p:txBody>
      </p:sp>
      <p:sp>
        <p:nvSpPr>
          <p:cNvPr id="96" name="État de l’art">
            <a:extLst>
              <a:ext uri="{FF2B5EF4-FFF2-40B4-BE49-F238E27FC236}">
                <a16:creationId xmlns:a16="http://schemas.microsoft.com/office/drawing/2014/main" id="{1E50A585-95A7-8E47-84D9-6CB60B92F4C2}"/>
              </a:ext>
            </a:extLst>
          </p:cNvPr>
          <p:cNvSpPr txBox="1"/>
          <p:nvPr/>
        </p:nvSpPr>
        <p:spPr>
          <a:xfrm>
            <a:off x="624520" y="669732"/>
            <a:ext cx="9995354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i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1er Paradigme : La science expérimentale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71DF06-A5B4-4841-ABD0-060992DDA1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2176" y="20272"/>
            <a:ext cx="2673052" cy="2673052"/>
          </a:xfrm>
          <a:prstGeom prst="rect">
            <a:avLst/>
          </a:prstGeom>
        </p:spPr>
      </p:pic>
      <p:sp>
        <p:nvSpPr>
          <p:cNvPr id="14" name="Rectangle : coins arrondis 45">
            <a:extLst>
              <a:ext uri="{FF2B5EF4-FFF2-40B4-BE49-F238E27FC236}">
                <a16:creationId xmlns:a16="http://schemas.microsoft.com/office/drawing/2014/main" id="{EEFC37F6-9F61-BC49-9EB5-DC563255E8D5}"/>
              </a:ext>
            </a:extLst>
          </p:cNvPr>
          <p:cNvSpPr/>
          <p:nvPr/>
        </p:nvSpPr>
        <p:spPr>
          <a:xfrm>
            <a:off x="624520" y="5027746"/>
            <a:ext cx="9958647" cy="1135059"/>
          </a:xfrm>
          <a:prstGeom prst="roundRect">
            <a:avLst>
              <a:gd name="adj" fmla="val 35897"/>
            </a:avLst>
          </a:prstGeom>
          <a:solidFill>
            <a:srgbClr val="A0CEFD"/>
          </a:solidFill>
          <a:ln>
            <a:solidFill>
              <a:srgbClr val="E9E9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2800" b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Vision : </a:t>
            </a:r>
          </a:p>
          <a:p>
            <a:pPr algn="just"/>
            <a:r>
              <a:rPr lang="fr-FR" sz="2800" b="1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"Observer et expérimenter pour comprendre."</a:t>
            </a:r>
          </a:p>
        </p:txBody>
      </p:sp>
    </p:spTree>
    <p:extLst>
      <p:ext uri="{BB962C8B-B14F-4D97-AF65-F5344CB8AC3E}">
        <p14:creationId xmlns:p14="http://schemas.microsoft.com/office/powerpoint/2010/main" val="726835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1BF22C4-D72D-F54E-8273-26BF239E1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49" name="Ellipse 16">
            <a:extLst>
              <a:ext uri="{FF2B5EF4-FFF2-40B4-BE49-F238E27FC236}">
                <a16:creationId xmlns:a16="http://schemas.microsoft.com/office/drawing/2014/main" id="{61437C26-A1E5-EC45-B6EC-BA009D918B43}"/>
              </a:ext>
            </a:extLst>
          </p:cNvPr>
          <p:cNvSpPr/>
          <p:nvPr/>
        </p:nvSpPr>
        <p:spPr>
          <a:xfrm>
            <a:off x="48008" y="677027"/>
            <a:ext cx="332002" cy="356126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0" name="Ellipse 18">
            <a:extLst>
              <a:ext uri="{FF2B5EF4-FFF2-40B4-BE49-F238E27FC236}">
                <a16:creationId xmlns:a16="http://schemas.microsoft.com/office/drawing/2014/main" id="{DFBE11CB-4672-9341-B2EC-AA75F9464B4C}"/>
              </a:ext>
            </a:extLst>
          </p:cNvPr>
          <p:cNvSpPr/>
          <p:nvPr/>
        </p:nvSpPr>
        <p:spPr>
          <a:xfrm>
            <a:off x="792530" y="1408014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5" name="ZoneTexte 19">
            <a:extLst>
              <a:ext uri="{FF2B5EF4-FFF2-40B4-BE49-F238E27FC236}">
                <a16:creationId xmlns:a16="http://schemas.microsoft.com/office/drawing/2014/main" id="{8C0545FC-8223-CA42-A304-47F08C211D18}"/>
              </a:ext>
            </a:extLst>
          </p:cNvPr>
          <p:cNvSpPr txBox="1"/>
          <p:nvPr/>
        </p:nvSpPr>
        <p:spPr>
          <a:xfrm>
            <a:off x="1247976" y="1267181"/>
            <a:ext cx="106392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Principe :</a:t>
            </a:r>
          </a:p>
          <a:p>
            <a:pPr algn="just"/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Les phénomènes naturels sont expliqués à travers des modèles théoriques et des formulations mathématiques universelles, déduites par la logique.</a:t>
            </a:r>
          </a:p>
        </p:txBody>
      </p:sp>
      <p:sp>
        <p:nvSpPr>
          <p:cNvPr id="97" name="Ellipse 18">
            <a:extLst>
              <a:ext uri="{FF2B5EF4-FFF2-40B4-BE49-F238E27FC236}">
                <a16:creationId xmlns:a16="http://schemas.microsoft.com/office/drawing/2014/main" id="{15B16C9E-0BC9-444D-BA04-6CAC2BC02FCD}"/>
              </a:ext>
            </a:extLst>
          </p:cNvPr>
          <p:cNvSpPr/>
          <p:nvPr/>
        </p:nvSpPr>
        <p:spPr>
          <a:xfrm>
            <a:off x="792530" y="3357130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8" name="ZoneTexte 19">
            <a:extLst>
              <a:ext uri="{FF2B5EF4-FFF2-40B4-BE49-F238E27FC236}">
                <a16:creationId xmlns:a16="http://schemas.microsoft.com/office/drawing/2014/main" id="{71822C2D-6D7C-B94A-A72E-4BE847851170}"/>
              </a:ext>
            </a:extLst>
          </p:cNvPr>
          <p:cNvSpPr txBox="1"/>
          <p:nvPr/>
        </p:nvSpPr>
        <p:spPr>
          <a:xfrm>
            <a:off x="1247976" y="3216297"/>
            <a:ext cx="106392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Caractéristiques 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Modélisation mathématique abstraite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Lois universelles (équations)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Déduction logique formelle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Concepts généralisables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Prédiction sans expérience directe</a:t>
            </a:r>
          </a:p>
        </p:txBody>
      </p:sp>
      <p:sp>
        <p:nvSpPr>
          <p:cNvPr id="11" name="État de l’art">
            <a:extLst>
              <a:ext uri="{FF2B5EF4-FFF2-40B4-BE49-F238E27FC236}">
                <a16:creationId xmlns:a16="http://schemas.microsoft.com/office/drawing/2014/main" id="{4444FE2D-336F-DB48-9413-69A42A7AD72A}"/>
              </a:ext>
            </a:extLst>
          </p:cNvPr>
          <p:cNvSpPr txBox="1"/>
          <p:nvPr/>
        </p:nvSpPr>
        <p:spPr>
          <a:xfrm>
            <a:off x="553583" y="616224"/>
            <a:ext cx="9995354" cy="54300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i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2ème Paradigme : La science théorique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92DD91-C76F-8E4A-BBB3-93DDBA9D7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235" y="2735019"/>
            <a:ext cx="4141133" cy="295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983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1BF22C4-D72D-F54E-8273-26BF239E1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49" name="Ellipse 16">
            <a:extLst>
              <a:ext uri="{FF2B5EF4-FFF2-40B4-BE49-F238E27FC236}">
                <a16:creationId xmlns:a16="http://schemas.microsoft.com/office/drawing/2014/main" id="{61437C26-A1E5-EC45-B6EC-BA009D918B43}"/>
              </a:ext>
            </a:extLst>
          </p:cNvPr>
          <p:cNvSpPr/>
          <p:nvPr/>
        </p:nvSpPr>
        <p:spPr>
          <a:xfrm>
            <a:off x="48008" y="677027"/>
            <a:ext cx="332002" cy="356126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0" name="Ellipse 18">
            <a:extLst>
              <a:ext uri="{FF2B5EF4-FFF2-40B4-BE49-F238E27FC236}">
                <a16:creationId xmlns:a16="http://schemas.microsoft.com/office/drawing/2014/main" id="{DFBE11CB-4672-9341-B2EC-AA75F9464B4C}"/>
              </a:ext>
            </a:extLst>
          </p:cNvPr>
          <p:cNvSpPr/>
          <p:nvPr/>
        </p:nvSpPr>
        <p:spPr>
          <a:xfrm>
            <a:off x="792530" y="1408014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5" name="ZoneTexte 19">
            <a:extLst>
              <a:ext uri="{FF2B5EF4-FFF2-40B4-BE49-F238E27FC236}">
                <a16:creationId xmlns:a16="http://schemas.microsoft.com/office/drawing/2014/main" id="{8C0545FC-8223-CA42-A304-47F08C211D18}"/>
              </a:ext>
            </a:extLst>
          </p:cNvPr>
          <p:cNvSpPr txBox="1"/>
          <p:nvPr/>
        </p:nvSpPr>
        <p:spPr>
          <a:xfrm>
            <a:off x="1062172" y="1320044"/>
            <a:ext cx="106392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Exemples 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Lois de Newton : F = ma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Relativité d'Einstein : E = mc²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Théorie des probabilités (Pascal, Bernoulli)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Équations de Maxwell (électromagnétisme)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Modélisation mathématique de la croissance des cultures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Optimisation théorique des doses d'intrants</a:t>
            </a:r>
          </a:p>
        </p:txBody>
      </p:sp>
      <p:sp>
        <p:nvSpPr>
          <p:cNvPr id="14" name="Rectangle : coins arrondis 45">
            <a:extLst>
              <a:ext uri="{FF2B5EF4-FFF2-40B4-BE49-F238E27FC236}">
                <a16:creationId xmlns:a16="http://schemas.microsoft.com/office/drawing/2014/main" id="{EEFC37F6-9F61-BC49-9EB5-DC563255E8D5}"/>
              </a:ext>
            </a:extLst>
          </p:cNvPr>
          <p:cNvSpPr/>
          <p:nvPr/>
        </p:nvSpPr>
        <p:spPr>
          <a:xfrm>
            <a:off x="48008" y="5506730"/>
            <a:ext cx="7324342" cy="1002486"/>
          </a:xfrm>
          <a:prstGeom prst="roundRect">
            <a:avLst>
              <a:gd name="adj" fmla="val 35897"/>
            </a:avLst>
          </a:prstGeom>
          <a:solidFill>
            <a:srgbClr val="A0CEFD"/>
          </a:solidFill>
          <a:ln>
            <a:solidFill>
              <a:srgbClr val="E9E9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Vision du 2</a:t>
            </a:r>
            <a:r>
              <a:rPr lang="fr-FR" sz="2400" b="1" baseline="30000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ème</a:t>
            </a:r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paradigme : </a:t>
            </a:r>
          </a:p>
          <a:p>
            <a:pPr algn="just"/>
            <a:r>
              <a:rPr lang="fr-FR" sz="2400" b="1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"Décrire le monde à travers les mathématiques."</a:t>
            </a:r>
          </a:p>
        </p:txBody>
      </p:sp>
      <p:sp>
        <p:nvSpPr>
          <p:cNvPr id="11" name="État de l’art">
            <a:extLst>
              <a:ext uri="{FF2B5EF4-FFF2-40B4-BE49-F238E27FC236}">
                <a16:creationId xmlns:a16="http://schemas.microsoft.com/office/drawing/2014/main" id="{856FCD13-649D-4841-9314-4EDA54B8052F}"/>
              </a:ext>
            </a:extLst>
          </p:cNvPr>
          <p:cNvSpPr txBox="1"/>
          <p:nvPr/>
        </p:nvSpPr>
        <p:spPr>
          <a:xfrm>
            <a:off x="553583" y="677027"/>
            <a:ext cx="9995354" cy="54300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i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2ème Paradigme : La science théorique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6BA78E-1648-5045-BD0A-8C8B2784D0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950" y="4195672"/>
            <a:ext cx="4591049" cy="233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9114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1BF22C4-D72D-F54E-8273-26BF239E1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49" name="Ellipse 16">
            <a:extLst>
              <a:ext uri="{FF2B5EF4-FFF2-40B4-BE49-F238E27FC236}">
                <a16:creationId xmlns:a16="http://schemas.microsoft.com/office/drawing/2014/main" id="{61437C26-A1E5-EC45-B6EC-BA009D918B43}"/>
              </a:ext>
            </a:extLst>
          </p:cNvPr>
          <p:cNvSpPr/>
          <p:nvPr/>
        </p:nvSpPr>
        <p:spPr>
          <a:xfrm>
            <a:off x="48008" y="677027"/>
            <a:ext cx="332002" cy="356126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0" name="Ellipse 18">
            <a:extLst>
              <a:ext uri="{FF2B5EF4-FFF2-40B4-BE49-F238E27FC236}">
                <a16:creationId xmlns:a16="http://schemas.microsoft.com/office/drawing/2014/main" id="{DFBE11CB-4672-9341-B2EC-AA75F9464B4C}"/>
              </a:ext>
            </a:extLst>
          </p:cNvPr>
          <p:cNvSpPr/>
          <p:nvPr/>
        </p:nvSpPr>
        <p:spPr>
          <a:xfrm>
            <a:off x="792530" y="1408014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5" name="ZoneTexte 19">
            <a:extLst>
              <a:ext uri="{FF2B5EF4-FFF2-40B4-BE49-F238E27FC236}">
                <a16:creationId xmlns:a16="http://schemas.microsoft.com/office/drawing/2014/main" id="{8C0545FC-8223-CA42-A304-47F08C211D18}"/>
              </a:ext>
            </a:extLst>
          </p:cNvPr>
          <p:cNvSpPr txBox="1"/>
          <p:nvPr/>
        </p:nvSpPr>
        <p:spPr>
          <a:xfrm>
            <a:off x="1247976" y="1267181"/>
            <a:ext cx="106392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Principe :</a:t>
            </a:r>
          </a:p>
          <a:p>
            <a:pPr algn="just"/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 puissance de calcul informatique permet de simuler et analyser des phénomènes trop complexes pour les paradigmes précédents, en résolvant numériquement des équations massives.</a:t>
            </a:r>
          </a:p>
        </p:txBody>
      </p:sp>
      <p:sp>
        <p:nvSpPr>
          <p:cNvPr id="97" name="Ellipse 18">
            <a:extLst>
              <a:ext uri="{FF2B5EF4-FFF2-40B4-BE49-F238E27FC236}">
                <a16:creationId xmlns:a16="http://schemas.microsoft.com/office/drawing/2014/main" id="{15B16C9E-0BC9-444D-BA04-6CAC2BC02FCD}"/>
              </a:ext>
            </a:extLst>
          </p:cNvPr>
          <p:cNvSpPr/>
          <p:nvPr/>
        </p:nvSpPr>
        <p:spPr>
          <a:xfrm>
            <a:off x="792530" y="3357130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8" name="ZoneTexte 19">
            <a:extLst>
              <a:ext uri="{FF2B5EF4-FFF2-40B4-BE49-F238E27FC236}">
                <a16:creationId xmlns:a16="http://schemas.microsoft.com/office/drawing/2014/main" id="{71822C2D-6D7C-B94A-A72E-4BE847851170}"/>
              </a:ext>
            </a:extLst>
          </p:cNvPr>
          <p:cNvSpPr txBox="1"/>
          <p:nvPr/>
        </p:nvSpPr>
        <p:spPr>
          <a:xfrm>
            <a:off x="1247976" y="3216297"/>
            <a:ext cx="106392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Caractéristiques 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Simulation numérique de systèmes complexes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Calcul haute performance (HPC)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Algorithmique et modélisation informatique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Résolution numérique d'équations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Visualisation scientifique 3D</a:t>
            </a:r>
          </a:p>
        </p:txBody>
      </p:sp>
      <p:sp>
        <p:nvSpPr>
          <p:cNvPr id="11" name="État de l’art">
            <a:extLst>
              <a:ext uri="{FF2B5EF4-FFF2-40B4-BE49-F238E27FC236}">
                <a16:creationId xmlns:a16="http://schemas.microsoft.com/office/drawing/2014/main" id="{4444FE2D-336F-DB48-9413-69A42A7AD72A}"/>
              </a:ext>
            </a:extLst>
          </p:cNvPr>
          <p:cNvSpPr txBox="1"/>
          <p:nvPr/>
        </p:nvSpPr>
        <p:spPr>
          <a:xfrm>
            <a:off x="553583" y="616224"/>
            <a:ext cx="9995354" cy="54300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i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3</a:t>
            </a:r>
            <a:r>
              <a:rPr lang="fr-FR" sz="2800" i="1" baseline="30000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ème</a:t>
            </a:r>
            <a:r>
              <a:rPr lang="fr-FR" sz="2800" i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Paradigme : La science computationnelle</a:t>
            </a:r>
          </a:p>
        </p:txBody>
      </p:sp>
    </p:spTree>
    <p:extLst>
      <p:ext uri="{BB962C8B-B14F-4D97-AF65-F5344CB8AC3E}">
        <p14:creationId xmlns:p14="http://schemas.microsoft.com/office/powerpoint/2010/main" val="4250904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1BF22C4-D72D-F54E-8273-26BF239E1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49" name="Ellipse 16">
            <a:extLst>
              <a:ext uri="{FF2B5EF4-FFF2-40B4-BE49-F238E27FC236}">
                <a16:creationId xmlns:a16="http://schemas.microsoft.com/office/drawing/2014/main" id="{61437C26-A1E5-EC45-B6EC-BA009D918B43}"/>
              </a:ext>
            </a:extLst>
          </p:cNvPr>
          <p:cNvSpPr/>
          <p:nvPr/>
        </p:nvSpPr>
        <p:spPr>
          <a:xfrm>
            <a:off x="48008" y="677027"/>
            <a:ext cx="332002" cy="356126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0" name="Ellipse 18">
            <a:extLst>
              <a:ext uri="{FF2B5EF4-FFF2-40B4-BE49-F238E27FC236}">
                <a16:creationId xmlns:a16="http://schemas.microsoft.com/office/drawing/2014/main" id="{DFBE11CB-4672-9341-B2EC-AA75F9464B4C}"/>
              </a:ext>
            </a:extLst>
          </p:cNvPr>
          <p:cNvSpPr/>
          <p:nvPr/>
        </p:nvSpPr>
        <p:spPr>
          <a:xfrm>
            <a:off x="792530" y="1408014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5" name="ZoneTexte 19">
            <a:extLst>
              <a:ext uri="{FF2B5EF4-FFF2-40B4-BE49-F238E27FC236}">
                <a16:creationId xmlns:a16="http://schemas.microsoft.com/office/drawing/2014/main" id="{8C0545FC-8223-CA42-A304-47F08C211D18}"/>
              </a:ext>
            </a:extLst>
          </p:cNvPr>
          <p:cNvSpPr txBox="1"/>
          <p:nvPr/>
        </p:nvSpPr>
        <p:spPr>
          <a:xfrm>
            <a:off x="1062172" y="1320044"/>
            <a:ext cx="106392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Exemples 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Prévisions météorologiques numériques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Simulation climatique (modèles GCM)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Réseaux de neurones artificiels (1980s)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Modélisation moléculaire en biochimie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Simulation d'irrigation par logiciel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Modélisation de propagation des ravageurs</a:t>
            </a:r>
          </a:p>
        </p:txBody>
      </p:sp>
      <p:sp>
        <p:nvSpPr>
          <p:cNvPr id="14" name="Rectangle : coins arrondis 45">
            <a:extLst>
              <a:ext uri="{FF2B5EF4-FFF2-40B4-BE49-F238E27FC236}">
                <a16:creationId xmlns:a16="http://schemas.microsoft.com/office/drawing/2014/main" id="{EEFC37F6-9F61-BC49-9EB5-DC563255E8D5}"/>
              </a:ext>
            </a:extLst>
          </p:cNvPr>
          <p:cNvSpPr/>
          <p:nvPr/>
        </p:nvSpPr>
        <p:spPr>
          <a:xfrm>
            <a:off x="48008" y="5506730"/>
            <a:ext cx="7324342" cy="1002486"/>
          </a:xfrm>
          <a:prstGeom prst="roundRect">
            <a:avLst>
              <a:gd name="adj" fmla="val 35897"/>
            </a:avLst>
          </a:prstGeom>
          <a:solidFill>
            <a:srgbClr val="A0CEFD"/>
          </a:solidFill>
          <a:ln>
            <a:solidFill>
              <a:srgbClr val="E9E9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Vision du 3</a:t>
            </a:r>
            <a:r>
              <a:rPr lang="fr-FR" sz="2400" b="1" baseline="30000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ème</a:t>
            </a:r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paradigme : </a:t>
            </a:r>
          </a:p>
          <a:p>
            <a:pPr algn="just"/>
            <a:r>
              <a:rPr lang="fr-FR" sz="2400" b="1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"Simuler le réel grâce au calcul."</a:t>
            </a:r>
          </a:p>
        </p:txBody>
      </p:sp>
      <p:sp>
        <p:nvSpPr>
          <p:cNvPr id="11" name="État de l’art">
            <a:extLst>
              <a:ext uri="{FF2B5EF4-FFF2-40B4-BE49-F238E27FC236}">
                <a16:creationId xmlns:a16="http://schemas.microsoft.com/office/drawing/2014/main" id="{856FCD13-649D-4841-9314-4EDA54B8052F}"/>
              </a:ext>
            </a:extLst>
          </p:cNvPr>
          <p:cNvSpPr txBox="1"/>
          <p:nvPr/>
        </p:nvSpPr>
        <p:spPr>
          <a:xfrm>
            <a:off x="553583" y="677027"/>
            <a:ext cx="9995354" cy="54300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i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3</a:t>
            </a:r>
            <a:r>
              <a:rPr lang="fr-FR" sz="2800" i="1" baseline="30000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ème</a:t>
            </a:r>
            <a:r>
              <a:rPr lang="fr-FR" sz="2800" i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Paradigme : La science computationnelle</a:t>
            </a:r>
          </a:p>
        </p:txBody>
      </p:sp>
    </p:spTree>
    <p:extLst>
      <p:ext uri="{BB962C8B-B14F-4D97-AF65-F5344CB8AC3E}">
        <p14:creationId xmlns:p14="http://schemas.microsoft.com/office/powerpoint/2010/main" val="2554272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1BF22C4-D72D-F54E-8273-26BF239E1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49" name="Ellipse 16">
            <a:extLst>
              <a:ext uri="{FF2B5EF4-FFF2-40B4-BE49-F238E27FC236}">
                <a16:creationId xmlns:a16="http://schemas.microsoft.com/office/drawing/2014/main" id="{61437C26-A1E5-EC45-B6EC-BA009D918B43}"/>
              </a:ext>
            </a:extLst>
          </p:cNvPr>
          <p:cNvSpPr/>
          <p:nvPr/>
        </p:nvSpPr>
        <p:spPr>
          <a:xfrm>
            <a:off x="48008" y="677027"/>
            <a:ext cx="332002" cy="356126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0" name="Ellipse 18">
            <a:extLst>
              <a:ext uri="{FF2B5EF4-FFF2-40B4-BE49-F238E27FC236}">
                <a16:creationId xmlns:a16="http://schemas.microsoft.com/office/drawing/2014/main" id="{DFBE11CB-4672-9341-B2EC-AA75F9464B4C}"/>
              </a:ext>
            </a:extLst>
          </p:cNvPr>
          <p:cNvSpPr/>
          <p:nvPr/>
        </p:nvSpPr>
        <p:spPr>
          <a:xfrm>
            <a:off x="792530" y="1408014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5" name="ZoneTexte 19">
            <a:extLst>
              <a:ext uri="{FF2B5EF4-FFF2-40B4-BE49-F238E27FC236}">
                <a16:creationId xmlns:a16="http://schemas.microsoft.com/office/drawing/2014/main" id="{8C0545FC-8223-CA42-A304-47F08C211D18}"/>
              </a:ext>
            </a:extLst>
          </p:cNvPr>
          <p:cNvSpPr txBox="1"/>
          <p:nvPr/>
        </p:nvSpPr>
        <p:spPr>
          <a:xfrm>
            <a:off x="1247976" y="1267181"/>
            <a:ext cx="106392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Principe :</a:t>
            </a:r>
          </a:p>
          <a:p>
            <a:pPr algn="just"/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Les connaissances émergent directement de l'analyse massive de données, sans hypothèse préalable. L'IA et le </a:t>
            </a:r>
            <a:r>
              <a:rPr lang="fr-FR" sz="24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Big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Data découvrent des patterns invisibles à l'œil humain.</a:t>
            </a:r>
          </a:p>
        </p:txBody>
      </p:sp>
      <p:sp>
        <p:nvSpPr>
          <p:cNvPr id="97" name="Ellipse 18">
            <a:extLst>
              <a:ext uri="{FF2B5EF4-FFF2-40B4-BE49-F238E27FC236}">
                <a16:creationId xmlns:a16="http://schemas.microsoft.com/office/drawing/2014/main" id="{15B16C9E-0BC9-444D-BA04-6CAC2BC02FCD}"/>
              </a:ext>
            </a:extLst>
          </p:cNvPr>
          <p:cNvSpPr/>
          <p:nvPr/>
        </p:nvSpPr>
        <p:spPr>
          <a:xfrm>
            <a:off x="792530" y="3357130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8" name="ZoneTexte 19">
            <a:extLst>
              <a:ext uri="{FF2B5EF4-FFF2-40B4-BE49-F238E27FC236}">
                <a16:creationId xmlns:a16="http://schemas.microsoft.com/office/drawing/2014/main" id="{71822C2D-6D7C-B94A-A72E-4BE847851170}"/>
              </a:ext>
            </a:extLst>
          </p:cNvPr>
          <p:cNvSpPr txBox="1"/>
          <p:nvPr/>
        </p:nvSpPr>
        <p:spPr>
          <a:xfrm>
            <a:off x="1247976" y="3216297"/>
            <a:ext cx="106392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Caractéristiques 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Big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Data (volumes, variété, vélocité </a:t>
            </a:r>
            <a:r>
              <a:rPr lang="fr-FR" sz="2400" b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+ véracité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Intelligence artificielle &amp; Machine Learning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Fouille de données (Data Mining)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Découverte automatique de patterns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IA générative et apprentissage profond</a:t>
            </a:r>
          </a:p>
        </p:txBody>
      </p:sp>
      <p:sp>
        <p:nvSpPr>
          <p:cNvPr id="11" name="État de l’art">
            <a:extLst>
              <a:ext uri="{FF2B5EF4-FFF2-40B4-BE49-F238E27FC236}">
                <a16:creationId xmlns:a16="http://schemas.microsoft.com/office/drawing/2014/main" id="{4444FE2D-336F-DB48-9413-69A42A7AD72A}"/>
              </a:ext>
            </a:extLst>
          </p:cNvPr>
          <p:cNvSpPr txBox="1"/>
          <p:nvPr/>
        </p:nvSpPr>
        <p:spPr>
          <a:xfrm>
            <a:off x="553582" y="616224"/>
            <a:ext cx="11119305" cy="54300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i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4</a:t>
            </a:r>
            <a:r>
              <a:rPr lang="fr-FR" sz="2800" i="1" baseline="30000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ème</a:t>
            </a:r>
            <a:r>
              <a:rPr lang="fr-FR" sz="2800" i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Paradigme : Data-</a:t>
            </a:r>
            <a:r>
              <a:rPr lang="fr-FR" sz="2800" i="1" dirty="0" err="1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driven</a:t>
            </a:r>
            <a:r>
              <a:rPr lang="fr-FR" sz="2800" i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« science guidée par les données »</a:t>
            </a:r>
          </a:p>
        </p:txBody>
      </p:sp>
    </p:spTree>
    <p:extLst>
      <p:ext uri="{BB962C8B-B14F-4D97-AF65-F5344CB8AC3E}">
        <p14:creationId xmlns:p14="http://schemas.microsoft.com/office/powerpoint/2010/main" val="1804187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1BF22C4-D72D-F54E-8273-26BF239E1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49" name="Ellipse 16">
            <a:extLst>
              <a:ext uri="{FF2B5EF4-FFF2-40B4-BE49-F238E27FC236}">
                <a16:creationId xmlns:a16="http://schemas.microsoft.com/office/drawing/2014/main" id="{61437C26-A1E5-EC45-B6EC-BA009D918B43}"/>
              </a:ext>
            </a:extLst>
          </p:cNvPr>
          <p:cNvSpPr/>
          <p:nvPr/>
        </p:nvSpPr>
        <p:spPr>
          <a:xfrm>
            <a:off x="48008" y="677027"/>
            <a:ext cx="332002" cy="356126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0" name="Ellipse 18">
            <a:extLst>
              <a:ext uri="{FF2B5EF4-FFF2-40B4-BE49-F238E27FC236}">
                <a16:creationId xmlns:a16="http://schemas.microsoft.com/office/drawing/2014/main" id="{DFBE11CB-4672-9341-B2EC-AA75F9464B4C}"/>
              </a:ext>
            </a:extLst>
          </p:cNvPr>
          <p:cNvSpPr/>
          <p:nvPr/>
        </p:nvSpPr>
        <p:spPr>
          <a:xfrm>
            <a:off x="792530" y="1408014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5" name="ZoneTexte 19">
            <a:extLst>
              <a:ext uri="{FF2B5EF4-FFF2-40B4-BE49-F238E27FC236}">
                <a16:creationId xmlns:a16="http://schemas.microsoft.com/office/drawing/2014/main" id="{8C0545FC-8223-CA42-A304-47F08C211D18}"/>
              </a:ext>
            </a:extLst>
          </p:cNvPr>
          <p:cNvSpPr txBox="1"/>
          <p:nvPr/>
        </p:nvSpPr>
        <p:spPr>
          <a:xfrm>
            <a:off x="1062172" y="1320044"/>
            <a:ext cx="106392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Exemples 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Deep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Learning (reconnaissance d'images)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Médecine prédictive (diagnostic IA)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Agriculture intelligente : prédiction rendements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Recommandation automatique (</a:t>
            </a:r>
            <a:r>
              <a:rPr lang="fr-FR" sz="24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Netflix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YouTube)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IA générative (GPT, Gemini, Claude)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Détection précoce de maladies des plantes</a:t>
            </a:r>
          </a:p>
        </p:txBody>
      </p:sp>
      <p:sp>
        <p:nvSpPr>
          <p:cNvPr id="14" name="Rectangle : coins arrondis 45">
            <a:extLst>
              <a:ext uri="{FF2B5EF4-FFF2-40B4-BE49-F238E27FC236}">
                <a16:creationId xmlns:a16="http://schemas.microsoft.com/office/drawing/2014/main" id="{EEFC37F6-9F61-BC49-9EB5-DC563255E8D5}"/>
              </a:ext>
            </a:extLst>
          </p:cNvPr>
          <p:cNvSpPr/>
          <p:nvPr/>
        </p:nvSpPr>
        <p:spPr>
          <a:xfrm>
            <a:off x="48008" y="5506730"/>
            <a:ext cx="7324342" cy="1002486"/>
          </a:xfrm>
          <a:prstGeom prst="roundRect">
            <a:avLst>
              <a:gd name="adj" fmla="val 35897"/>
            </a:avLst>
          </a:prstGeom>
          <a:solidFill>
            <a:srgbClr val="A0CEFD"/>
          </a:solidFill>
          <a:ln>
            <a:solidFill>
              <a:srgbClr val="E9E9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Vision du 4</a:t>
            </a:r>
            <a:r>
              <a:rPr lang="fr-FR" sz="2400" b="1" baseline="30000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ème</a:t>
            </a:r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paradigme : </a:t>
            </a:r>
          </a:p>
          <a:p>
            <a:pPr algn="just"/>
            <a:r>
              <a:rPr lang="fr-FR" sz="2400" b="1" i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"Observer et expérimenter pour comprendre."</a:t>
            </a:r>
          </a:p>
        </p:txBody>
      </p:sp>
      <p:sp>
        <p:nvSpPr>
          <p:cNvPr id="11" name="État de l’art">
            <a:extLst>
              <a:ext uri="{FF2B5EF4-FFF2-40B4-BE49-F238E27FC236}">
                <a16:creationId xmlns:a16="http://schemas.microsoft.com/office/drawing/2014/main" id="{856FCD13-649D-4841-9314-4EDA54B8052F}"/>
              </a:ext>
            </a:extLst>
          </p:cNvPr>
          <p:cNvSpPr txBox="1"/>
          <p:nvPr/>
        </p:nvSpPr>
        <p:spPr>
          <a:xfrm>
            <a:off x="553582" y="677027"/>
            <a:ext cx="10933567" cy="54300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i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4</a:t>
            </a:r>
            <a:r>
              <a:rPr lang="fr-FR" sz="2800" i="1" baseline="30000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ème</a:t>
            </a:r>
            <a:r>
              <a:rPr lang="fr-FR" sz="2800" i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Paradigme : Data-</a:t>
            </a:r>
            <a:r>
              <a:rPr lang="fr-FR" sz="2800" i="1" dirty="0" err="1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driven</a:t>
            </a:r>
            <a:r>
              <a:rPr lang="fr-FR" sz="2800" i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« science guidée par les données »</a:t>
            </a:r>
          </a:p>
        </p:txBody>
      </p:sp>
    </p:spTree>
    <p:extLst>
      <p:ext uri="{BB962C8B-B14F-4D97-AF65-F5344CB8AC3E}">
        <p14:creationId xmlns:p14="http://schemas.microsoft.com/office/powerpoint/2010/main" val="4260364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03E943D-1A63-1945-836F-EFC5236D036B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78525" y="695461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10788159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 fontScale="77500" lnSpcReduction="20000"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i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Toute révolution technologique est d’abord une révolution du regard sur l’homme.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854C6A0-5A3D-714D-981B-58923A29EA1B}"/>
              </a:ext>
            </a:extLst>
          </p:cNvPr>
          <p:cNvSpPr/>
          <p:nvPr/>
        </p:nvSpPr>
        <p:spPr>
          <a:xfrm>
            <a:off x="792530" y="1408014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4BD8F1A-18F7-5640-94C9-503FE9033E8E}"/>
              </a:ext>
            </a:extLst>
          </p:cNvPr>
          <p:cNvSpPr txBox="1"/>
          <p:nvPr/>
        </p:nvSpPr>
        <p:spPr>
          <a:xfrm>
            <a:off x="1247976" y="1267181"/>
            <a:ext cx="7908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 révolution de l’écriture (env. -3000 av. J.-C.)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8C1985A-AC11-0442-AC66-F1B81E58D539}"/>
              </a:ext>
            </a:extLst>
          </p:cNvPr>
          <p:cNvSpPr/>
          <p:nvPr/>
        </p:nvSpPr>
        <p:spPr>
          <a:xfrm>
            <a:off x="792530" y="2260241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B7DCAF1-77EE-D847-98A9-C85FAC83E20D}"/>
              </a:ext>
            </a:extLst>
          </p:cNvPr>
          <p:cNvSpPr txBox="1"/>
          <p:nvPr/>
        </p:nvSpPr>
        <p:spPr>
          <a:xfrm>
            <a:off x="1247976" y="2119408"/>
            <a:ext cx="97122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 révolution de l’imprimerie (XVe siècle), Gutenberg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B4043CA4-1667-E643-BFE7-9E6787ABC5F2}"/>
              </a:ext>
            </a:extLst>
          </p:cNvPr>
          <p:cNvSpPr/>
          <p:nvPr/>
        </p:nvSpPr>
        <p:spPr>
          <a:xfrm>
            <a:off x="792530" y="3390453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AA7F431-42E8-1244-9D0F-6B87D8C18A7D}"/>
              </a:ext>
            </a:extLst>
          </p:cNvPr>
          <p:cNvSpPr txBox="1"/>
          <p:nvPr/>
        </p:nvSpPr>
        <p:spPr>
          <a:xfrm>
            <a:off x="1247976" y="3249620"/>
            <a:ext cx="8408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 révolution industrielle (XVIIIe–XIXe siècles)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C6928569-6657-494E-A0CC-34709F12D0C5}"/>
              </a:ext>
            </a:extLst>
          </p:cNvPr>
          <p:cNvSpPr/>
          <p:nvPr/>
        </p:nvSpPr>
        <p:spPr>
          <a:xfrm>
            <a:off x="792530" y="4409339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E073254-1F17-F941-ACD5-5ADF0A6620AA}"/>
              </a:ext>
            </a:extLst>
          </p:cNvPr>
          <p:cNvSpPr txBox="1"/>
          <p:nvPr/>
        </p:nvSpPr>
        <p:spPr>
          <a:xfrm>
            <a:off x="1247976" y="4268506"/>
            <a:ext cx="8408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 révolution numérique (XXe siècle)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3D95374F-91BB-7A4F-8119-7E20EF9F5BA7}"/>
              </a:ext>
            </a:extLst>
          </p:cNvPr>
          <p:cNvSpPr/>
          <p:nvPr/>
        </p:nvSpPr>
        <p:spPr>
          <a:xfrm>
            <a:off x="792530" y="5281576"/>
            <a:ext cx="197025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32D2886-9F97-2A47-85B3-BBA5D0D3F57E}"/>
              </a:ext>
            </a:extLst>
          </p:cNvPr>
          <p:cNvSpPr txBox="1"/>
          <p:nvPr/>
        </p:nvSpPr>
        <p:spPr>
          <a:xfrm>
            <a:off x="1247976" y="5140743"/>
            <a:ext cx="100505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 révolution de l’intelligence artificielle (XXIe siècle)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1BF22C4-D72D-F54E-8273-26BF239E1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319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78525" y="695461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Alain M. Turing : « </a:t>
            </a:r>
            <a:r>
              <a:rPr lang="fr-FR" sz="2800" i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Le père de l’IA moderne »</a:t>
            </a:r>
            <a:endParaRPr lang="fr-FR" sz="2800" i="1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CBBDD3C-2A0E-B242-88B3-EF5A908B1973}"/>
              </a:ext>
            </a:extLst>
          </p:cNvPr>
          <p:cNvSpPr/>
          <p:nvPr/>
        </p:nvSpPr>
        <p:spPr>
          <a:xfrm>
            <a:off x="874762" y="1279087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E2622FF-2FBD-864E-B139-A9E95E71E034}"/>
              </a:ext>
            </a:extLst>
          </p:cNvPr>
          <p:cNvSpPr txBox="1"/>
          <p:nvPr/>
        </p:nvSpPr>
        <p:spPr>
          <a:xfrm>
            <a:off x="1330209" y="1338670"/>
            <a:ext cx="108396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Mathématicien et logicien britannique, Alan Turing a posé les bases théoriques de l’IA avant même que les ordinateurs n’existent vraiment.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buFontTx/>
              <a:buChar char="-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En 1936, il conçoit la « machine de Turing », un modèle mathématique capable de simuler toute opération logique.</a:t>
            </a:r>
          </a:p>
          <a:p>
            <a:pPr marL="342900" indent="-342900">
              <a:buFontTx/>
              <a:buChar char="-"/>
            </a:pPr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buFontTx/>
              <a:buChar char="-"/>
            </a:pP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En 1950, il publie un article célèbre : </a:t>
            </a:r>
            <a:r>
              <a:rPr lang="fr-FR" sz="2400" b="1" dirty="0">
                <a:solidFill>
                  <a:srgbClr val="3333B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“</a:t>
            </a:r>
            <a:r>
              <a:rPr lang="fr-FR" sz="2400" b="1" dirty="0" err="1">
                <a:solidFill>
                  <a:srgbClr val="3333B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Computing</a:t>
            </a:r>
            <a:r>
              <a:rPr lang="fr-FR" sz="2400" b="1" dirty="0">
                <a:solidFill>
                  <a:srgbClr val="3333B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fr-FR" sz="2400" b="1" dirty="0" err="1">
                <a:solidFill>
                  <a:srgbClr val="3333B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Machinery</a:t>
            </a:r>
            <a:r>
              <a:rPr lang="fr-FR" sz="2400" b="1" dirty="0">
                <a:solidFill>
                  <a:srgbClr val="3333B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and Intelligence”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dans lequel il pose la question :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r>
              <a:rPr lang="fr-FR" sz="2400" b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« Les machines peuvent-elles penser ? »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853C5B4-899F-084E-8C7F-54F365F52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8" name="ZoneTexte 5">
            <a:extLst>
              <a:ext uri="{FF2B5EF4-FFF2-40B4-BE49-F238E27FC236}">
                <a16:creationId xmlns:a16="http://schemas.microsoft.com/office/drawing/2014/main" id="{F75CA5C7-7C7D-DB4E-B326-E6D3AB7293E5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2028462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78525" y="695461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Alain M. Turing : « </a:t>
            </a:r>
            <a:r>
              <a:rPr lang="fr-FR" sz="2800" i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Le père de l’IA moderne »</a:t>
            </a:r>
            <a:endParaRPr lang="fr-FR" sz="2800" i="1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CBBDD3C-2A0E-B242-88B3-EF5A908B1973}"/>
              </a:ext>
            </a:extLst>
          </p:cNvPr>
          <p:cNvSpPr/>
          <p:nvPr/>
        </p:nvSpPr>
        <p:spPr>
          <a:xfrm>
            <a:off x="874762" y="1279087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E2622FF-2FBD-864E-B139-A9E95E71E034}"/>
              </a:ext>
            </a:extLst>
          </p:cNvPr>
          <p:cNvSpPr txBox="1"/>
          <p:nvPr/>
        </p:nvSpPr>
        <p:spPr>
          <a:xfrm>
            <a:off x="1330209" y="1138254"/>
            <a:ext cx="10839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Il propose le test de Turing, une expérience destinée à vérifier si une machine peut imiter l’intelligence humaine au point de tromper un interlocuteur humain.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5D29F69-06B0-ED49-9F9C-B5D2220FD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8" name="ZoneTexte 5">
            <a:extLst>
              <a:ext uri="{FF2B5EF4-FFF2-40B4-BE49-F238E27FC236}">
                <a16:creationId xmlns:a16="http://schemas.microsoft.com/office/drawing/2014/main" id="{1F1BA8E7-F36F-D74D-ACD7-C78D93C32783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17658481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78525" y="695461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Alain M. Turing : « </a:t>
            </a:r>
            <a:r>
              <a:rPr lang="fr-FR" sz="2800" i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Le père de l’IA moderne »</a:t>
            </a:r>
            <a:endParaRPr lang="fr-FR" sz="2800" i="1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E2622FF-2FBD-864E-B139-A9E95E71E034}"/>
              </a:ext>
            </a:extLst>
          </p:cNvPr>
          <p:cNvSpPr txBox="1"/>
          <p:nvPr/>
        </p:nvSpPr>
        <p:spPr>
          <a:xfrm>
            <a:off x="984562" y="1939919"/>
            <a:ext cx="108396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Principe : du jeu de l’imitation ou test de </a:t>
            </a:r>
            <a:r>
              <a:rPr lang="fr-FR" sz="2400" b="1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turing</a:t>
            </a:r>
            <a:endParaRPr lang="fr-FR" sz="2400" b="1" dirty="0">
              <a:solidFill>
                <a:srgbClr val="FF0000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- Un interrogateur communique avec deux interlocuteurs : un humain et une machine.</a:t>
            </a: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- Si l’interrogateur ne peut pas distinguer la machine de l’humain → la machine “pense”.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fr-FR" sz="2400" b="1" dirty="0">
                <a:solidFill>
                  <a:srgbClr val="3333B2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Turing redéfinit la pensée comme capacité à imiter le comportement humain.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A43608E-488B-C04F-8FDF-6D78CF581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9" name="ZoneTexte 5">
            <a:extLst>
              <a:ext uri="{FF2B5EF4-FFF2-40B4-BE49-F238E27FC236}">
                <a16:creationId xmlns:a16="http://schemas.microsoft.com/office/drawing/2014/main" id="{969A9B53-5F6D-0C41-B1A0-24D31D3EA8ED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1283978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78525" y="695461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Alain M. Turing : « </a:t>
            </a:r>
            <a:r>
              <a:rPr lang="fr-FR" sz="2800" i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Le père de l’IA moderne »</a:t>
            </a:r>
            <a:endParaRPr lang="fr-FR" sz="2800" i="1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CBBDD3C-2A0E-B242-88B3-EF5A908B1973}"/>
              </a:ext>
            </a:extLst>
          </p:cNvPr>
          <p:cNvSpPr/>
          <p:nvPr/>
        </p:nvSpPr>
        <p:spPr>
          <a:xfrm>
            <a:off x="874762" y="1279087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E2622FF-2FBD-864E-B139-A9E95E71E034}"/>
              </a:ext>
            </a:extLst>
          </p:cNvPr>
          <p:cNvSpPr txBox="1"/>
          <p:nvPr/>
        </p:nvSpPr>
        <p:spPr>
          <a:xfrm>
            <a:off x="1330209" y="1138254"/>
            <a:ext cx="10839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1950 notion d’IA avec Alan Turing (1912–1954) et la question : </a:t>
            </a:r>
            <a:b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</a:br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« Les machines peuvent-elles penser ? »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D6A5D7A6-847E-DB44-9668-1649195D237A}"/>
              </a:ext>
            </a:extLst>
          </p:cNvPr>
          <p:cNvSpPr/>
          <p:nvPr/>
        </p:nvSpPr>
        <p:spPr>
          <a:xfrm>
            <a:off x="792529" y="2612600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E4841AB-B8C5-334B-A1B2-FF1CBB289D2D}"/>
              </a:ext>
            </a:extLst>
          </p:cNvPr>
          <p:cNvSpPr txBox="1"/>
          <p:nvPr/>
        </p:nvSpPr>
        <p:spPr>
          <a:xfrm>
            <a:off x="1036499" y="2417471"/>
            <a:ext cx="51764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« imitation </a:t>
            </a:r>
            <a:r>
              <a:rPr lang="fr-FR" sz="2400" b="1" dirty="0" err="1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game</a:t>
            </a:r>
            <a:r>
              <a:rPr lang="fr-FR" sz="2400" b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 »</a:t>
            </a: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Le test de Turing</a:t>
            </a:r>
            <a:endParaRPr lang="fr-FR" sz="2400" b="1" dirty="0">
              <a:solidFill>
                <a:srgbClr val="3333B3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6BAB1FE-EEC8-6646-89D0-D41152CF0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217" y="1954301"/>
            <a:ext cx="5934292" cy="45247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292BB7C-EDD1-5B4D-A325-12F237153264}"/>
              </a:ext>
            </a:extLst>
          </p:cNvPr>
          <p:cNvSpPr/>
          <p:nvPr/>
        </p:nvSpPr>
        <p:spPr>
          <a:xfrm>
            <a:off x="379962" y="3667364"/>
            <a:ext cx="6096000" cy="280076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200" b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 et B</a:t>
            </a:r>
            <a:r>
              <a:rPr lang="fr-FR" sz="2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sont respectivement un 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ordinateur</a:t>
            </a:r>
            <a:r>
              <a:rPr lang="fr-FR" sz="2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programmé pour se faire passer pour un humain et un </a:t>
            </a:r>
            <a:r>
              <a:rPr lang="fr-FR" sz="2200" b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joueur humain</a:t>
            </a:r>
            <a:r>
              <a:rPr lang="fr-FR" sz="2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. </a:t>
            </a:r>
          </a:p>
          <a:p>
            <a:endParaRPr lang="fr-FR" sz="22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Le </a:t>
            </a:r>
            <a:r>
              <a:rPr lang="fr-FR" sz="2200" b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joueur C</a:t>
            </a:r>
            <a:r>
              <a:rPr lang="fr-FR" sz="2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, l'interrogateur, doit déterminer lequel de ces joueurs est un ordinateur. </a:t>
            </a:r>
          </a:p>
          <a:p>
            <a:endParaRPr lang="fr-FR" sz="22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L'interrogateur est limité à des questions écrites.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6005D77C-4C05-544C-86F6-E3314F160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12" name="ZoneTexte 5">
            <a:extLst>
              <a:ext uri="{FF2B5EF4-FFF2-40B4-BE49-F238E27FC236}">
                <a16:creationId xmlns:a16="http://schemas.microsoft.com/office/drawing/2014/main" id="{ED88E3EA-CB3C-F740-A2FD-671D3C3CC798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3570209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78525" y="695461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Alain M. Turing : « </a:t>
            </a:r>
            <a:r>
              <a:rPr lang="fr-FR" sz="2800" i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Le père de l’IA moderne »</a:t>
            </a:r>
            <a:endParaRPr lang="fr-FR" sz="2800" i="1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E2622FF-2FBD-864E-B139-A9E95E71E034}"/>
              </a:ext>
            </a:extLst>
          </p:cNvPr>
          <p:cNvSpPr txBox="1"/>
          <p:nvPr/>
        </p:nvSpPr>
        <p:spPr>
          <a:xfrm>
            <a:off x="48008" y="2002549"/>
            <a:ext cx="1214399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Turing déplace le débat :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 • De la philosophie (« Qu’est-ce que penser ? »)</a:t>
            </a: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 • Vers la science (« </a:t>
            </a:r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Comment reconnaître un comportement intelligent ?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»)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Approche computationnelle de l’intelligence :</a:t>
            </a: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 </a:t>
            </a:r>
          </a:p>
          <a:p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Penser = traiter l’information selon des règles logiques.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DCD4ADC-4A89-A946-B25D-441D61FE3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9" name="ZoneTexte 5">
            <a:extLst>
              <a:ext uri="{FF2B5EF4-FFF2-40B4-BE49-F238E27FC236}">
                <a16:creationId xmlns:a16="http://schemas.microsoft.com/office/drawing/2014/main" id="{43688B56-3508-9947-890D-5CA0D2306DBF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19867170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78525" y="695461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Alain M. Turing : « </a:t>
            </a:r>
            <a:r>
              <a:rPr lang="fr-FR" sz="2800" i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Le père de l’IA moderne »</a:t>
            </a:r>
            <a:endParaRPr lang="fr-FR" sz="2800" i="1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08EC3A7-C63F-234A-B376-AD953BDA4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2371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✅ </a:t>
            </a:r>
            <a:r>
              <a:rPr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Apports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lang="fr-FR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de Alain Turing 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:</a:t>
            </a:r>
            <a:endParaRPr lang="fr-FR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>
              <a:buFontTx/>
              <a:buChar char="-"/>
            </a:pP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Base </a:t>
            </a:r>
            <a:r>
              <a:rPr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conceptuelle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de </a:t>
            </a:r>
            <a:r>
              <a:rPr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l’intelligence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artificielle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</a:t>
            </a:r>
            <a:endParaRPr lang="fr-FR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>
              <a:buFontTx/>
              <a:buChar char="-"/>
            </a:pP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Inspiration pour la </a:t>
            </a:r>
            <a:r>
              <a:rPr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linguistique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computationnelle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et la </a:t>
            </a:r>
            <a:r>
              <a:rPr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robotique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</a:t>
            </a:r>
            <a:endParaRPr lang="fr-FR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>
              <a:buFontTx/>
              <a:buChar char="-"/>
            </a:pPr>
            <a:r>
              <a:rPr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Référence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symbolique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encore </a:t>
            </a:r>
            <a:r>
              <a:rPr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utilisée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</a:t>
            </a:r>
          </a:p>
          <a:p>
            <a:endParaRPr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 marL="0" indent="0">
              <a:buNone/>
            </a:pP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❌ </a:t>
            </a:r>
            <a:r>
              <a:rPr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Limites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et critiques :</a:t>
            </a:r>
          </a:p>
          <a:p>
            <a:pPr>
              <a:buFontTx/>
              <a:buChar char="-"/>
            </a:pPr>
            <a:r>
              <a:rPr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Simuler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la </a:t>
            </a:r>
            <a:r>
              <a:rPr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pensée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≠ </a:t>
            </a:r>
            <a:r>
              <a:rPr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penser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réellement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.</a:t>
            </a:r>
            <a:endParaRPr lang="fr-FR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>
              <a:buFontTx/>
              <a:buChar char="-"/>
            </a:pP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John Searle (1980) : “Chinese Room Argument”.</a:t>
            </a:r>
            <a:endParaRPr lang="fr-FR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  <a:p>
            <a:pPr>
              <a:buFontTx/>
              <a:buChar char="-"/>
            </a:pPr>
            <a:r>
              <a:rPr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Mesure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l’imitation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</a:t>
            </a:r>
            <a:r>
              <a:rPr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linguistique</a:t>
            </a:r>
            <a:r>
              <a:rPr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, pas la conscience.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2C2D18A-1A59-E549-A345-3D1651B77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7" name="ZoneTexte 5">
            <a:extLst>
              <a:ext uri="{FF2B5EF4-FFF2-40B4-BE49-F238E27FC236}">
                <a16:creationId xmlns:a16="http://schemas.microsoft.com/office/drawing/2014/main" id="{E5E101F3-6B6C-FA4B-BA50-00C2EDDA93F4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818148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78525" y="695461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Alain M. Turing : « </a:t>
            </a:r>
            <a:r>
              <a:rPr lang="fr-FR" sz="2800" i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Le père de l’IA moderne »</a:t>
            </a:r>
            <a:endParaRPr lang="fr-FR" sz="2800" i="1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CBBDD3C-2A0E-B242-88B3-EF5A908B1973}"/>
              </a:ext>
            </a:extLst>
          </p:cNvPr>
          <p:cNvSpPr/>
          <p:nvPr/>
        </p:nvSpPr>
        <p:spPr>
          <a:xfrm>
            <a:off x="874762" y="1279087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E2622FF-2FBD-864E-B139-A9E95E71E034}"/>
              </a:ext>
            </a:extLst>
          </p:cNvPr>
          <p:cNvSpPr txBox="1"/>
          <p:nvPr/>
        </p:nvSpPr>
        <p:spPr>
          <a:xfrm>
            <a:off x="1330209" y="1138254"/>
            <a:ext cx="1083964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Son intuition : penser, c’est traiter de l’information — une idée qui inspire toute la recherche en IA.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Turing a transformé une question philosophique en programme scientifique :  c'est la fondation de l’intelligence artificielle moderne.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Sa question reste ouverte : « Les machines peuvent-elles penser ? »</a:t>
            </a: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Ou seulement imiter la pensée humaine ?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Turing meurt jeune, mais son héritage traverse tout le XXe siècle.</a:t>
            </a: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Il ouvre la voie à la possibilité d’une pensée “artificielle”, et aussi à la réflexion éthique : qu’est-ce que penser ? qu’est-ce qu’être humain ?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11A6CC6-FE4E-C345-9831-9564846A81E7}"/>
              </a:ext>
            </a:extLst>
          </p:cNvPr>
          <p:cNvSpPr/>
          <p:nvPr/>
        </p:nvSpPr>
        <p:spPr>
          <a:xfrm>
            <a:off x="851798" y="2308307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93C0D318-463F-444C-A170-42FED8622406}"/>
              </a:ext>
            </a:extLst>
          </p:cNvPr>
          <p:cNvSpPr/>
          <p:nvPr/>
        </p:nvSpPr>
        <p:spPr>
          <a:xfrm>
            <a:off x="803782" y="3487839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9105938F-DC94-8A4D-9C09-AE0BAFB1F3E5}"/>
              </a:ext>
            </a:extLst>
          </p:cNvPr>
          <p:cNvSpPr/>
          <p:nvPr/>
        </p:nvSpPr>
        <p:spPr>
          <a:xfrm>
            <a:off x="843448" y="4967995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5894E34-E981-3A44-ADD0-C903B5FF8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6055" y="5867088"/>
            <a:ext cx="793314" cy="642127"/>
          </a:xfrm>
          <a:prstGeom prst="rect">
            <a:avLst/>
          </a:prstGeom>
        </p:spPr>
      </p:pic>
      <p:sp>
        <p:nvSpPr>
          <p:cNvPr id="12" name="ZoneTexte 5">
            <a:extLst>
              <a:ext uri="{FF2B5EF4-FFF2-40B4-BE49-F238E27FC236}">
                <a16:creationId xmlns:a16="http://schemas.microsoft.com/office/drawing/2014/main" id="{238ECC12-0BBC-E944-A6D8-D4299D6C37C6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35078699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78525" y="695461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 fontScale="85000" lnSpcReduction="10000"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John McCarthy (1927–2011) Celui qui a donné le nom à l’IA</a:t>
            </a:r>
            <a:endParaRPr lang="fr-FR" sz="2800" i="1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CBBDD3C-2A0E-B242-88B3-EF5A908B1973}"/>
              </a:ext>
            </a:extLst>
          </p:cNvPr>
          <p:cNvSpPr/>
          <p:nvPr/>
        </p:nvSpPr>
        <p:spPr>
          <a:xfrm>
            <a:off x="874762" y="1554659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E2622FF-2FBD-864E-B139-A9E95E71E034}"/>
              </a:ext>
            </a:extLst>
          </p:cNvPr>
          <p:cNvSpPr txBox="1"/>
          <p:nvPr/>
        </p:nvSpPr>
        <p:spPr>
          <a:xfrm>
            <a:off x="1330209" y="1413826"/>
            <a:ext cx="108396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Informaticien américain, il est celui qui invente le terme “</a:t>
            </a:r>
            <a:r>
              <a:rPr lang="fr-FR" sz="24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Artificial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Intelligence” en 1956.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Il organise la conférence de Dartmouth (États-Unis), considérée comme l’acte de naissance officiel de l’IA.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McCarthy et ses collègues (Marvin </a:t>
            </a:r>
            <a:r>
              <a:rPr lang="fr-FR" sz="24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Minsky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Claude Shannon, etc.) croyaient qu’il suffirait de quelques années pour créer une machine aussi intelligente qu’un humain.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11A6CC6-FE4E-C345-9831-9564846A81E7}"/>
              </a:ext>
            </a:extLst>
          </p:cNvPr>
          <p:cNvSpPr/>
          <p:nvPr/>
        </p:nvSpPr>
        <p:spPr>
          <a:xfrm>
            <a:off x="851798" y="3034815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DE89BD9-6693-A840-B0A6-B16A36458420}"/>
              </a:ext>
            </a:extLst>
          </p:cNvPr>
          <p:cNvSpPr/>
          <p:nvPr/>
        </p:nvSpPr>
        <p:spPr>
          <a:xfrm>
            <a:off x="816308" y="4477393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F843D0D-8156-6341-BFFB-9AA30F4C5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11" name="ZoneTexte 5">
            <a:extLst>
              <a:ext uri="{FF2B5EF4-FFF2-40B4-BE49-F238E27FC236}">
                <a16:creationId xmlns:a16="http://schemas.microsoft.com/office/drawing/2014/main" id="{85917282-681D-A148-A96B-EB90C05F35F5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9496545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78525" y="695461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 fontScale="85000" lnSpcReduction="10000"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John McCarthy (1927–2011) Celui qui a donné le nom à l’IA</a:t>
            </a:r>
            <a:endParaRPr lang="fr-FR" sz="2800" i="1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CBBDD3C-2A0E-B242-88B3-EF5A908B1973}"/>
              </a:ext>
            </a:extLst>
          </p:cNvPr>
          <p:cNvSpPr/>
          <p:nvPr/>
        </p:nvSpPr>
        <p:spPr>
          <a:xfrm>
            <a:off x="874762" y="1279087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E2622FF-2FBD-864E-B139-A9E95E71E034}"/>
              </a:ext>
            </a:extLst>
          </p:cNvPr>
          <p:cNvSpPr txBox="1"/>
          <p:nvPr/>
        </p:nvSpPr>
        <p:spPr>
          <a:xfrm>
            <a:off x="1330209" y="1138254"/>
            <a:ext cx="108396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Il invente le langage LISP (List </a:t>
            </a:r>
            <a:r>
              <a:rPr lang="fr-FR" sz="24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Processing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), utilisé longtemps pour la recherche en IA.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Sa vision : faire de la machine un outil capable d’apprendre de l’expérience.</a:t>
            </a: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Leur enthousiasme sera vite freiné par </a:t>
            </a:r>
            <a:r>
              <a:rPr lang="fr-FR" sz="2400" b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les limites techniques et le manque de puissance de calcul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L’histoire de l’IA connaîtra ensuite des cycles d’euphorie et de désillusion, appelés les </a:t>
            </a:r>
            <a:r>
              <a:rPr lang="fr-FR" sz="2400" b="1" dirty="0">
                <a:solidFill>
                  <a:srgbClr val="FF0000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“hivers de l’IA”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.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11A6CC6-FE4E-C345-9831-9564846A81E7}"/>
              </a:ext>
            </a:extLst>
          </p:cNvPr>
          <p:cNvSpPr/>
          <p:nvPr/>
        </p:nvSpPr>
        <p:spPr>
          <a:xfrm>
            <a:off x="851798" y="2771769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25E5CE8-FF62-D74C-8673-ED81E3F44D31}"/>
              </a:ext>
            </a:extLst>
          </p:cNvPr>
          <p:cNvSpPr/>
          <p:nvPr/>
        </p:nvSpPr>
        <p:spPr>
          <a:xfrm>
            <a:off x="816308" y="4903277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85CE57D-1904-6044-8F24-96B7A9DF6E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11" name="ZoneTexte 5">
            <a:extLst>
              <a:ext uri="{FF2B5EF4-FFF2-40B4-BE49-F238E27FC236}">
                <a16:creationId xmlns:a16="http://schemas.microsoft.com/office/drawing/2014/main" id="{79EDD540-6662-EC4A-A68F-D137357E8813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36497764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78525" y="695461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Les hivers de l’IA</a:t>
            </a:r>
            <a:endParaRPr lang="fr-FR" sz="2800" i="1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CBBDD3C-2A0E-B242-88B3-EF5A908B1973}"/>
              </a:ext>
            </a:extLst>
          </p:cNvPr>
          <p:cNvSpPr/>
          <p:nvPr/>
        </p:nvSpPr>
        <p:spPr>
          <a:xfrm>
            <a:off x="874762" y="1279087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E2622FF-2FBD-864E-B139-A9E95E71E034}"/>
              </a:ext>
            </a:extLst>
          </p:cNvPr>
          <p:cNvSpPr txBox="1"/>
          <p:nvPr/>
        </p:nvSpPr>
        <p:spPr>
          <a:xfrm>
            <a:off x="1330209" y="1138254"/>
            <a:ext cx="108396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Périodes de désillusion où l’intérêt et les financements pour l’IA chutent fortement.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Premier hiver (1974–1980) :</a:t>
            </a: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- Rapport </a:t>
            </a:r>
            <a:r>
              <a:rPr lang="fr-FR" sz="24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Lighthill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: peu de résultats concrets.</a:t>
            </a: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- Financement des laboratoires réduit.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Deuxième hiver (1988–1993) :</a:t>
            </a: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- Limites des systèmes experts.</a:t>
            </a: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- Coûts élevés et perte d’intérêt industriel.</a:t>
            </a:r>
            <a:b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</a:br>
            <a:b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</a:b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Renaissance :</a:t>
            </a: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- Montée du calcul, </a:t>
            </a:r>
            <a:r>
              <a:rPr lang="fr-FR" sz="24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big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data et </a:t>
            </a:r>
            <a:r>
              <a:rPr lang="fr-FR" sz="24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deep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fr-FR" sz="24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learning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(années 2010).</a:t>
            </a: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- Nouvel âge d’or de l’IA.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11A6CC6-FE4E-C345-9831-9564846A81E7}"/>
              </a:ext>
            </a:extLst>
          </p:cNvPr>
          <p:cNvSpPr/>
          <p:nvPr/>
        </p:nvSpPr>
        <p:spPr>
          <a:xfrm>
            <a:off x="851798" y="2333359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25E5CE8-FF62-D74C-8673-ED81E3F44D31}"/>
              </a:ext>
            </a:extLst>
          </p:cNvPr>
          <p:cNvSpPr/>
          <p:nvPr/>
        </p:nvSpPr>
        <p:spPr>
          <a:xfrm>
            <a:off x="816308" y="3838567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5380777-9DC3-D448-AA3C-3473A087F5CC}"/>
              </a:ext>
            </a:extLst>
          </p:cNvPr>
          <p:cNvSpPr/>
          <p:nvPr/>
        </p:nvSpPr>
        <p:spPr>
          <a:xfrm>
            <a:off x="843448" y="5218515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31B3D3B-1B4D-7841-ADD1-B447604E2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12" name="ZoneTexte 5">
            <a:extLst>
              <a:ext uri="{FF2B5EF4-FFF2-40B4-BE49-F238E27FC236}">
                <a16:creationId xmlns:a16="http://schemas.microsoft.com/office/drawing/2014/main" id="{8758E072-75BE-874E-8104-B9D020B620D9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1383595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78525" y="695461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De la recherche scientifique à la vie quotidienne</a:t>
            </a:r>
            <a:endParaRPr lang="fr-FR" sz="2800" i="1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CBBDD3C-2A0E-B242-88B3-EF5A908B1973}"/>
              </a:ext>
            </a:extLst>
          </p:cNvPr>
          <p:cNvSpPr/>
          <p:nvPr/>
        </p:nvSpPr>
        <p:spPr>
          <a:xfrm>
            <a:off x="874762" y="1279087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E2622FF-2FBD-864E-B139-A9E95E71E034}"/>
              </a:ext>
            </a:extLst>
          </p:cNvPr>
          <p:cNvSpPr txBox="1"/>
          <p:nvPr/>
        </p:nvSpPr>
        <p:spPr>
          <a:xfrm>
            <a:off x="1330209" y="1138254"/>
            <a:ext cx="1083964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Années 1980–2000 : IA symbolique, systèmes experts (médecine, finance).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Années 2010 : Renaissance grâce au </a:t>
            </a:r>
            <a:r>
              <a:rPr lang="fr-FR" sz="24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deep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fr-FR" sz="24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learning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(apprentissage profond) et à la puissance des données (“</a:t>
            </a:r>
            <a:r>
              <a:rPr lang="fr-FR" sz="2400" b="1" dirty="0" err="1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big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data”).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Aujourd’hui : IA générative (</a:t>
            </a:r>
            <a:r>
              <a:rPr lang="fr-FR" sz="2400" b="1" dirty="0" err="1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ChatGPT</a:t>
            </a:r>
            <a:r>
              <a:rPr lang="fr-FR" sz="2400" b="1" dirty="0">
                <a:solidFill>
                  <a:srgbClr val="3333B3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DALL·E, Gemini</a:t>
            </a:r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) : les machines produisent du texte, des images, des musiques.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En moins d’un siècle, l’idée d’un rêve de laboratoire est devenue une réalité quotidienne.</a:t>
            </a:r>
          </a:p>
          <a:p>
            <a:endParaRPr lang="fr-FR" sz="2400" b="1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fr-FR" sz="2400" b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 question n’est plus « Les machines peuvent-elles penser ? », mais « Que feront-elles de notre pensée ? »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11A6CC6-FE4E-C345-9831-9564846A81E7}"/>
              </a:ext>
            </a:extLst>
          </p:cNvPr>
          <p:cNvSpPr/>
          <p:nvPr/>
        </p:nvSpPr>
        <p:spPr>
          <a:xfrm>
            <a:off x="851798" y="2383463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B8577A0-EDF4-444C-AF4F-D215A7237B03}"/>
              </a:ext>
            </a:extLst>
          </p:cNvPr>
          <p:cNvSpPr/>
          <p:nvPr/>
        </p:nvSpPr>
        <p:spPr>
          <a:xfrm>
            <a:off x="851798" y="3459576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CDD84F69-DA35-2F47-BAAB-10CD7371786F}"/>
              </a:ext>
            </a:extLst>
          </p:cNvPr>
          <p:cNvSpPr/>
          <p:nvPr/>
        </p:nvSpPr>
        <p:spPr>
          <a:xfrm>
            <a:off x="851798" y="4560741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8066CA1-9575-3F44-9C79-B885F239D0F4}"/>
              </a:ext>
            </a:extLst>
          </p:cNvPr>
          <p:cNvSpPr/>
          <p:nvPr/>
        </p:nvSpPr>
        <p:spPr>
          <a:xfrm>
            <a:off x="851798" y="5620496"/>
            <a:ext cx="219600" cy="22037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11B012C-0E46-E344-8E88-445BDD7B8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3633" y="5897506"/>
            <a:ext cx="755736" cy="611710"/>
          </a:xfrm>
          <a:prstGeom prst="rect">
            <a:avLst/>
          </a:prstGeom>
        </p:spPr>
      </p:pic>
      <p:sp>
        <p:nvSpPr>
          <p:cNvPr id="13" name="ZoneTexte 5">
            <a:extLst>
              <a:ext uri="{FF2B5EF4-FFF2-40B4-BE49-F238E27FC236}">
                <a16:creationId xmlns:a16="http://schemas.microsoft.com/office/drawing/2014/main" id="{4B8410D1-8A89-3C4C-A3AC-D2AECAA12753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19868968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78525" y="695461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Qu’est ce que l’Intelligence Artificielle</a:t>
            </a:r>
            <a:endParaRPr lang="fr-FR" sz="28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5" name="Rectangle : coins arrondis 45">
            <a:extLst>
              <a:ext uri="{FF2B5EF4-FFF2-40B4-BE49-F238E27FC236}">
                <a16:creationId xmlns:a16="http://schemas.microsoft.com/office/drawing/2014/main" id="{19517559-5F5E-484E-B1A3-F8FE06959D67}"/>
              </a:ext>
            </a:extLst>
          </p:cNvPr>
          <p:cNvSpPr/>
          <p:nvPr/>
        </p:nvSpPr>
        <p:spPr>
          <a:xfrm>
            <a:off x="278525" y="3095133"/>
            <a:ext cx="11631058" cy="2341164"/>
          </a:xfrm>
          <a:prstGeom prst="roundRect">
            <a:avLst/>
          </a:prstGeom>
          <a:solidFill>
            <a:srgbClr val="E5EFE5"/>
          </a:solidFill>
          <a:ln>
            <a:solidFill>
              <a:srgbClr val="E9E9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fr-FR" sz="24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L’intelligence artificielle est la construction de programmes informatiques qui s’adonnent à des tâches qui sont, pour le moment, accomplies de façon plus satisfaisante par des êtres humains car elles demandent des processus mentaux de haut niveau tels que : l’apprentissage perceptuel, l’organisation de la mémoire et le raisonnement critique. (</a:t>
            </a:r>
            <a:r>
              <a:rPr lang="fr-FR" sz="2400" b="1" dirty="0" err="1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Minsky</a:t>
            </a:r>
            <a:r>
              <a:rPr lang="fr-FR" sz="24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1956)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DABAA1-8C32-1740-A5CE-4E614ED0E8D7}"/>
              </a:ext>
            </a:extLst>
          </p:cNvPr>
          <p:cNvSpPr/>
          <p:nvPr/>
        </p:nvSpPr>
        <p:spPr>
          <a:xfrm>
            <a:off x="485525" y="1790231"/>
            <a:ext cx="1075032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Le terme </a:t>
            </a:r>
            <a:r>
              <a:rPr lang="fr-FR" sz="2000" b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intelligence artificielle</a:t>
            </a:r>
            <a:r>
              <a:rPr lang="fr-FR" sz="20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a été proposée pour la </a:t>
            </a:r>
            <a:r>
              <a:rPr lang="fr-FR" sz="2000" b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première fois en 1956</a:t>
            </a:r>
            <a:r>
              <a:rPr lang="fr-FR" sz="20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par </a:t>
            </a:r>
            <a:r>
              <a:rPr lang="fr-FR" sz="20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John McCarthy </a:t>
            </a:r>
            <a:r>
              <a:rPr lang="fr-FR" sz="20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lors de la conférence Dartmouth </a:t>
            </a:r>
            <a:r>
              <a:rPr lang="fr-FR" sz="20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Summer</a:t>
            </a:r>
            <a:r>
              <a:rPr lang="fr-FR" sz="20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</a:t>
            </a:r>
            <a:r>
              <a:rPr lang="fr-FR" sz="20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Research</a:t>
            </a:r>
            <a:r>
              <a:rPr lang="fr-FR" sz="20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Project on </a:t>
            </a:r>
            <a:r>
              <a:rPr lang="fr-FR" sz="20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Artificial</a:t>
            </a:r>
            <a:r>
              <a:rPr lang="fr-FR" sz="20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Intelligence. Il la décrit comme </a:t>
            </a:r>
            <a:r>
              <a:rPr lang="fr-FR" sz="2000" b="1" i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la science et l’ingénierie de la fabrication de machines intelligentes.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870F9D4-FECF-A44F-BBF4-C0CC330CD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9" name="ZoneTexte 5">
            <a:extLst>
              <a:ext uri="{FF2B5EF4-FFF2-40B4-BE49-F238E27FC236}">
                <a16:creationId xmlns:a16="http://schemas.microsoft.com/office/drawing/2014/main" id="{FEB76678-4774-9C4F-9396-BCB65E86C842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7902871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78525" y="695461"/>
            <a:ext cx="414000" cy="414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Qu’est ce que l’Intelligence Artificielle</a:t>
            </a:r>
            <a:endParaRPr lang="fr-FR" sz="28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5" name="Rectangle : coins arrondis 45">
            <a:extLst>
              <a:ext uri="{FF2B5EF4-FFF2-40B4-BE49-F238E27FC236}">
                <a16:creationId xmlns:a16="http://schemas.microsoft.com/office/drawing/2014/main" id="{19517559-5F5E-484E-B1A3-F8FE06959D67}"/>
              </a:ext>
            </a:extLst>
          </p:cNvPr>
          <p:cNvSpPr/>
          <p:nvPr/>
        </p:nvSpPr>
        <p:spPr>
          <a:xfrm>
            <a:off x="270754" y="2756930"/>
            <a:ext cx="11631058" cy="2341164"/>
          </a:xfrm>
          <a:prstGeom prst="roundRect">
            <a:avLst/>
          </a:prstGeom>
          <a:solidFill>
            <a:srgbClr val="E5EFE5"/>
          </a:solidFill>
          <a:ln>
            <a:solidFill>
              <a:srgbClr val="E9E9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Une définition pratique serait : </a:t>
            </a:r>
            <a:br>
              <a:rPr lang="fr-FR" sz="2400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</a:br>
            <a:r>
              <a:rPr lang="fr-FR" sz="2400" b="1" dirty="0">
                <a:solidFill>
                  <a:schemeClr val="tx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L’intelligence artificielle, c’est la capacité donnée à des machines de réaliser des tâches qui, normalement, nécessitent de l’intelligence humaine (raisonner, apprendre, comprendre le langage, percevoir, créer, etc.).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DABAA1-8C32-1740-A5CE-4E614ED0E8D7}"/>
              </a:ext>
            </a:extLst>
          </p:cNvPr>
          <p:cNvSpPr/>
          <p:nvPr/>
        </p:nvSpPr>
        <p:spPr>
          <a:xfrm>
            <a:off x="485525" y="1790231"/>
            <a:ext cx="107503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Le parlement de l'U.E définit l'IA comme  Outil utilisé par une machine capable de "reproduire des comportements liés aux humains, tels que le raisonnement, la planification et la créativité".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A294F01-B843-4941-8ADF-402584CAC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8" name="ZoneTexte 5">
            <a:extLst>
              <a:ext uri="{FF2B5EF4-FFF2-40B4-BE49-F238E27FC236}">
                <a16:creationId xmlns:a16="http://schemas.microsoft.com/office/drawing/2014/main" id="{8E95AEA1-38C9-CE43-B9E4-92E7ABBC6718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42580529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Quatre approches de définitions de l’IA</a:t>
            </a:r>
            <a:endParaRPr lang="fr-FR" sz="28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DABAA1-8C32-1740-A5CE-4E614ED0E8D7}"/>
              </a:ext>
            </a:extLst>
          </p:cNvPr>
          <p:cNvSpPr/>
          <p:nvPr/>
        </p:nvSpPr>
        <p:spPr>
          <a:xfrm>
            <a:off x="1740046" y="1637298"/>
            <a:ext cx="44372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Approche “</a:t>
            </a:r>
            <a:r>
              <a:rPr lang="fr-FR" sz="20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Human-like</a:t>
            </a:r>
            <a:r>
              <a:rPr lang="fr-FR" sz="20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</a:t>
            </a:r>
            <a:r>
              <a:rPr lang="fr-FR" sz="20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thinking</a:t>
            </a:r>
            <a:r>
              <a:rPr lang="fr-FR" sz="20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”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AAE4EA0-7C0E-684E-9D08-A536C5F0461A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" name="État de l’art">
            <a:extLst>
              <a:ext uri="{FF2B5EF4-FFF2-40B4-BE49-F238E27FC236}">
                <a16:creationId xmlns:a16="http://schemas.microsoft.com/office/drawing/2014/main" id="{78AB2E43-524D-924E-849E-7BE205DFC875}"/>
              </a:ext>
            </a:extLst>
          </p:cNvPr>
          <p:cNvSpPr txBox="1"/>
          <p:nvPr/>
        </p:nvSpPr>
        <p:spPr>
          <a:xfrm>
            <a:off x="1539540" y="1263633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 fontScale="85000" lnSpcReduction="10000"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1</a:t>
            </a:r>
            <a:r>
              <a:rPr lang="fr-FR" sz="2800" baseline="300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ère</a:t>
            </a:r>
            <a:r>
              <a:rPr lang="fr-FR" sz="28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approche : L’IA comme imitation de la pensée humaine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0E1ABE-4D44-A34C-B0B6-128EDBB4B137}"/>
              </a:ext>
            </a:extLst>
          </p:cNvPr>
          <p:cNvSpPr/>
          <p:nvPr/>
        </p:nvSpPr>
        <p:spPr>
          <a:xfrm>
            <a:off x="2233808" y="2608602"/>
            <a:ext cx="9958192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Principe :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L’IA cherche à imiter la manière dont l’être humain pense, raisonne, apprend et prend des décisions.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Objectif :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Créer une </a:t>
            </a:r>
            <a:r>
              <a:rPr lang="fr-FR" sz="2200" b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“machine pensante”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, un modèle de cognition artificielle.</a:t>
            </a:r>
            <a:b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</a:br>
            <a:b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</a:br>
            <a:r>
              <a:rPr lang="fr-FR" sz="22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Limites :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Difficile à mesurer : penser comme un humain est encore mal défini scientifiquement.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C73E3E2-E9EE-2641-87D9-2542D249D315}"/>
              </a:ext>
            </a:extLst>
          </p:cNvPr>
          <p:cNvSpPr/>
          <p:nvPr/>
        </p:nvSpPr>
        <p:spPr>
          <a:xfrm>
            <a:off x="1952172" y="2691850"/>
            <a:ext cx="180000" cy="18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605D268-F364-6D46-82C0-9F15A1654C8C}"/>
              </a:ext>
            </a:extLst>
          </p:cNvPr>
          <p:cNvSpPr/>
          <p:nvPr/>
        </p:nvSpPr>
        <p:spPr>
          <a:xfrm>
            <a:off x="1954260" y="3696018"/>
            <a:ext cx="180000" cy="18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2484B7A-1D75-194B-8037-A4F731014EA3}"/>
              </a:ext>
            </a:extLst>
          </p:cNvPr>
          <p:cNvSpPr/>
          <p:nvPr/>
        </p:nvSpPr>
        <p:spPr>
          <a:xfrm>
            <a:off x="1968874" y="4387036"/>
            <a:ext cx="180000" cy="18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E4CA21F2-8D97-9A4E-9297-260A21BAA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14" name="ZoneTexte 5">
            <a:extLst>
              <a:ext uri="{FF2B5EF4-FFF2-40B4-BE49-F238E27FC236}">
                <a16:creationId xmlns:a16="http://schemas.microsoft.com/office/drawing/2014/main" id="{4A5316E6-51B2-2944-8707-4730713EAF09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2068226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Quatre approches de définitions de l’IA</a:t>
            </a:r>
            <a:endParaRPr lang="fr-FR" sz="28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DABAA1-8C32-1740-A5CE-4E614ED0E8D7}"/>
              </a:ext>
            </a:extLst>
          </p:cNvPr>
          <p:cNvSpPr/>
          <p:nvPr/>
        </p:nvSpPr>
        <p:spPr>
          <a:xfrm>
            <a:off x="1740046" y="1637298"/>
            <a:ext cx="44372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Approche “</a:t>
            </a:r>
            <a:r>
              <a:rPr lang="fr-FR" sz="20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Human-like</a:t>
            </a:r>
            <a:r>
              <a:rPr lang="fr-FR" sz="20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</a:t>
            </a:r>
            <a:r>
              <a:rPr lang="fr-FR" sz="20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reasoning</a:t>
            </a:r>
            <a:r>
              <a:rPr lang="fr-FR" sz="20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”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AAE4EA0-7C0E-684E-9D08-A536C5F0461A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" name="État de l’art">
            <a:extLst>
              <a:ext uri="{FF2B5EF4-FFF2-40B4-BE49-F238E27FC236}">
                <a16:creationId xmlns:a16="http://schemas.microsoft.com/office/drawing/2014/main" id="{78AB2E43-524D-924E-849E-7BE205DFC875}"/>
              </a:ext>
            </a:extLst>
          </p:cNvPr>
          <p:cNvSpPr txBox="1"/>
          <p:nvPr/>
        </p:nvSpPr>
        <p:spPr>
          <a:xfrm>
            <a:off x="1539540" y="1263633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2</a:t>
            </a:r>
            <a:r>
              <a:rPr lang="fr-FR" sz="2800" baseline="300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ème</a:t>
            </a:r>
            <a:r>
              <a:rPr lang="fr-FR" sz="28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approche : L’IA comme raisonnement logique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0E1ABE-4D44-A34C-B0B6-128EDBB4B137}"/>
              </a:ext>
            </a:extLst>
          </p:cNvPr>
          <p:cNvSpPr/>
          <p:nvPr/>
        </p:nvSpPr>
        <p:spPr>
          <a:xfrm>
            <a:off x="2233808" y="2608602"/>
            <a:ext cx="995819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Principe :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L’intelligence est la capacité à raisonner à partir de règles, de faits et de connaissances (symboliques).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Exemples :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Systèmes experts des années 1970–1980 (comme MYCIN pour la médecine). Raisonnement automatique, logique formelle, arbres de décision.</a:t>
            </a:r>
          </a:p>
          <a:p>
            <a:b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</a:br>
            <a:r>
              <a:rPr lang="fr-FR" sz="22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Limites :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Ces IA sont puissantes mais rigides : elles ne s’adaptent pas aux contextes nouveaux ni aux données incertaines.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C73E3E2-E9EE-2641-87D9-2542D249D315}"/>
              </a:ext>
            </a:extLst>
          </p:cNvPr>
          <p:cNvSpPr/>
          <p:nvPr/>
        </p:nvSpPr>
        <p:spPr>
          <a:xfrm>
            <a:off x="1952172" y="2691850"/>
            <a:ext cx="180000" cy="18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605D268-F364-6D46-82C0-9F15A1654C8C}"/>
              </a:ext>
            </a:extLst>
          </p:cNvPr>
          <p:cNvSpPr/>
          <p:nvPr/>
        </p:nvSpPr>
        <p:spPr>
          <a:xfrm>
            <a:off x="1954260" y="4034220"/>
            <a:ext cx="180000" cy="18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2484B7A-1D75-194B-8037-A4F731014EA3}"/>
              </a:ext>
            </a:extLst>
          </p:cNvPr>
          <p:cNvSpPr/>
          <p:nvPr/>
        </p:nvSpPr>
        <p:spPr>
          <a:xfrm>
            <a:off x="1968874" y="5050914"/>
            <a:ext cx="180000" cy="18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49983D88-0E63-434B-955F-0733D617E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14" name="ZoneTexte 5">
            <a:extLst>
              <a:ext uri="{FF2B5EF4-FFF2-40B4-BE49-F238E27FC236}">
                <a16:creationId xmlns:a16="http://schemas.microsoft.com/office/drawing/2014/main" id="{029CBA30-A7C8-C048-B30F-B3FE1956C1A3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24376750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Quatre approches de définitions de l’IA</a:t>
            </a:r>
            <a:endParaRPr lang="fr-FR" sz="28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DABAA1-8C32-1740-A5CE-4E614ED0E8D7}"/>
              </a:ext>
            </a:extLst>
          </p:cNvPr>
          <p:cNvSpPr/>
          <p:nvPr/>
        </p:nvSpPr>
        <p:spPr>
          <a:xfrm>
            <a:off x="1740046" y="1637298"/>
            <a:ext cx="44372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Approche “Rational agent"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AAE4EA0-7C0E-684E-9D08-A536C5F0461A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" name="État de l’art">
            <a:extLst>
              <a:ext uri="{FF2B5EF4-FFF2-40B4-BE49-F238E27FC236}">
                <a16:creationId xmlns:a16="http://schemas.microsoft.com/office/drawing/2014/main" id="{78AB2E43-524D-924E-849E-7BE205DFC875}"/>
              </a:ext>
            </a:extLst>
          </p:cNvPr>
          <p:cNvSpPr txBox="1"/>
          <p:nvPr/>
        </p:nvSpPr>
        <p:spPr>
          <a:xfrm>
            <a:off x="1539540" y="1263633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3</a:t>
            </a:r>
            <a:r>
              <a:rPr lang="fr-FR" sz="2800" baseline="300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ème</a:t>
            </a:r>
            <a:r>
              <a:rPr lang="fr-FR" sz="28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approche : L’IA comme comportement rationnel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0E1ABE-4D44-A34C-B0B6-128EDBB4B137}"/>
              </a:ext>
            </a:extLst>
          </p:cNvPr>
          <p:cNvSpPr/>
          <p:nvPr/>
        </p:nvSpPr>
        <p:spPr>
          <a:xfrm>
            <a:off x="2233808" y="2608602"/>
            <a:ext cx="995819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Principe :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L’intelligence, c’est agir de façon rationnelle pour atteindre un but.</a:t>
            </a: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Une IA est “intelligente” si elle choisit la meilleure action selon ce qu’elle perçoit.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Exemples :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Robots autonomes, voitures intelligentes, algorithmes de planification, jeux d’échecs.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Systèmes d’aide à la décision.</a:t>
            </a:r>
          </a:p>
          <a:p>
            <a:b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</a:br>
            <a:r>
              <a:rPr lang="fr-FR" sz="22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Avantage :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C’est mesurable (performance, efficacité, optimisation).</a:t>
            </a: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n’a pas besoin d’imiter l’humain, mais d’être efficace.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C73E3E2-E9EE-2641-87D9-2542D249D315}"/>
              </a:ext>
            </a:extLst>
          </p:cNvPr>
          <p:cNvSpPr/>
          <p:nvPr/>
        </p:nvSpPr>
        <p:spPr>
          <a:xfrm>
            <a:off x="1952172" y="2691850"/>
            <a:ext cx="180000" cy="18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605D268-F364-6D46-82C0-9F15A1654C8C}"/>
              </a:ext>
            </a:extLst>
          </p:cNvPr>
          <p:cNvSpPr/>
          <p:nvPr/>
        </p:nvSpPr>
        <p:spPr>
          <a:xfrm>
            <a:off x="1919453" y="3743907"/>
            <a:ext cx="180000" cy="18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2484B7A-1D75-194B-8037-A4F731014EA3}"/>
              </a:ext>
            </a:extLst>
          </p:cNvPr>
          <p:cNvSpPr/>
          <p:nvPr/>
        </p:nvSpPr>
        <p:spPr>
          <a:xfrm>
            <a:off x="1986631" y="5453331"/>
            <a:ext cx="180000" cy="18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6748739-398F-9B4F-88CB-EA0ADACA2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424" y="5816394"/>
            <a:ext cx="855945" cy="692822"/>
          </a:xfrm>
          <a:prstGeom prst="rect">
            <a:avLst/>
          </a:prstGeom>
        </p:spPr>
      </p:pic>
      <p:sp>
        <p:nvSpPr>
          <p:cNvPr id="14" name="ZoneTexte 5">
            <a:extLst>
              <a:ext uri="{FF2B5EF4-FFF2-40B4-BE49-F238E27FC236}">
                <a16:creationId xmlns:a16="http://schemas.microsoft.com/office/drawing/2014/main" id="{A6FB284C-E528-FC4E-BE8D-73B35816D210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12317145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Quatre approches de définitions de l’IA</a:t>
            </a:r>
            <a:endParaRPr lang="fr-FR" sz="28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DABAA1-8C32-1740-A5CE-4E614ED0E8D7}"/>
              </a:ext>
            </a:extLst>
          </p:cNvPr>
          <p:cNvSpPr/>
          <p:nvPr/>
        </p:nvSpPr>
        <p:spPr>
          <a:xfrm>
            <a:off x="1740046" y="1637298"/>
            <a:ext cx="44372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0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Approche “Data-</a:t>
            </a:r>
            <a:r>
              <a:rPr lang="fr-FR" sz="20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driven</a:t>
            </a:r>
            <a:r>
              <a:rPr lang="fr-FR" sz="20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</a:t>
            </a:r>
            <a:r>
              <a:rPr lang="fr-FR" sz="20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learning</a:t>
            </a:r>
            <a:r>
              <a:rPr lang="fr-FR" sz="20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”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AAE4EA0-7C0E-684E-9D08-A536C5F0461A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" name="État de l’art">
            <a:extLst>
              <a:ext uri="{FF2B5EF4-FFF2-40B4-BE49-F238E27FC236}">
                <a16:creationId xmlns:a16="http://schemas.microsoft.com/office/drawing/2014/main" id="{78AB2E43-524D-924E-849E-7BE205DFC875}"/>
              </a:ext>
            </a:extLst>
          </p:cNvPr>
          <p:cNvSpPr txBox="1"/>
          <p:nvPr/>
        </p:nvSpPr>
        <p:spPr>
          <a:xfrm>
            <a:off x="1539540" y="1263633"/>
            <a:ext cx="9783989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 fontScale="92500"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4</a:t>
            </a:r>
            <a:r>
              <a:rPr lang="fr-FR" sz="2800" baseline="300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ème</a:t>
            </a:r>
            <a:r>
              <a:rPr lang="fr-FR" sz="2800" dirty="0">
                <a:solidFill>
                  <a:srgbClr val="3333B2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approche : L’IA comme apprentissage à partir des données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0E1ABE-4D44-A34C-B0B6-128EDBB4B137}"/>
              </a:ext>
            </a:extLst>
          </p:cNvPr>
          <p:cNvSpPr/>
          <p:nvPr/>
        </p:nvSpPr>
        <p:spPr>
          <a:xfrm>
            <a:off x="2166631" y="2155456"/>
            <a:ext cx="9958192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Principe :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L’IA n’est pas programmée pour tout faire : elle apprend automatiquement à partir d’exemples. C’est le paradigme dominant aujourd’hui.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Exemples :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Machine 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learning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: apprentissage supervisé, non supervisé, par renforcement.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Deep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learning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: réseaux neuronaux profonds (vision, parole, texte, etc.).</a:t>
            </a:r>
          </a:p>
          <a:p>
            <a:b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</a:br>
            <a:r>
              <a:rPr lang="fr-FR" sz="22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Avantage :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Permet des applications très puissantes (reconnaissance d’images, 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chatbots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, IA génératives).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Limite :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L’IA ne comprend pas ce qu’elle fait, elle apprend des corrélations, pas du sens.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C73E3E2-E9EE-2641-87D9-2542D249D315}"/>
              </a:ext>
            </a:extLst>
          </p:cNvPr>
          <p:cNvSpPr/>
          <p:nvPr/>
        </p:nvSpPr>
        <p:spPr>
          <a:xfrm>
            <a:off x="1863042" y="2275239"/>
            <a:ext cx="180000" cy="18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605D268-F364-6D46-82C0-9F15A1654C8C}"/>
              </a:ext>
            </a:extLst>
          </p:cNvPr>
          <p:cNvSpPr/>
          <p:nvPr/>
        </p:nvSpPr>
        <p:spPr>
          <a:xfrm>
            <a:off x="1863042" y="3299329"/>
            <a:ext cx="180000" cy="18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2484B7A-1D75-194B-8037-A4F731014EA3}"/>
              </a:ext>
            </a:extLst>
          </p:cNvPr>
          <p:cNvSpPr/>
          <p:nvPr/>
        </p:nvSpPr>
        <p:spPr>
          <a:xfrm>
            <a:off x="1863042" y="4977342"/>
            <a:ext cx="180000" cy="18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FE43C22-91D5-754F-B6C5-99FB94BC47E7}"/>
              </a:ext>
            </a:extLst>
          </p:cNvPr>
          <p:cNvSpPr/>
          <p:nvPr/>
        </p:nvSpPr>
        <p:spPr>
          <a:xfrm>
            <a:off x="1863042" y="5918882"/>
            <a:ext cx="180000" cy="18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3D2E801C-B6D4-E342-B186-3ECA57E5A4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8" y="5752471"/>
            <a:ext cx="855945" cy="692822"/>
          </a:xfrm>
          <a:prstGeom prst="rect">
            <a:avLst/>
          </a:prstGeom>
        </p:spPr>
      </p:pic>
      <p:sp>
        <p:nvSpPr>
          <p:cNvPr id="15" name="ZoneTexte 5">
            <a:extLst>
              <a:ext uri="{FF2B5EF4-FFF2-40B4-BE49-F238E27FC236}">
                <a16:creationId xmlns:a16="http://schemas.microsoft.com/office/drawing/2014/main" id="{03D63924-C695-7B48-9FF1-47B0EBE66656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37002589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Quatre approches de définitions de l’IA</a:t>
            </a:r>
            <a:endParaRPr lang="fr-FR" sz="28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CA74D834-7256-3649-85D1-1BBCB7381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744372"/>
              </p:ext>
            </p:extLst>
          </p:nvPr>
        </p:nvGraphicFramePr>
        <p:xfrm>
          <a:off x="375780" y="1435389"/>
          <a:ext cx="11473840" cy="4639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8460">
                  <a:extLst>
                    <a:ext uri="{9D8B030D-6E8A-4147-A177-3AD203B41FA5}">
                      <a16:colId xmlns:a16="http://schemas.microsoft.com/office/drawing/2014/main" val="2269443793"/>
                    </a:ext>
                  </a:extLst>
                </a:gridCol>
                <a:gridCol w="2868460">
                  <a:extLst>
                    <a:ext uri="{9D8B030D-6E8A-4147-A177-3AD203B41FA5}">
                      <a16:colId xmlns:a16="http://schemas.microsoft.com/office/drawing/2014/main" val="1509651043"/>
                    </a:ext>
                  </a:extLst>
                </a:gridCol>
                <a:gridCol w="2868460">
                  <a:extLst>
                    <a:ext uri="{9D8B030D-6E8A-4147-A177-3AD203B41FA5}">
                      <a16:colId xmlns:a16="http://schemas.microsoft.com/office/drawing/2014/main" val="407840158"/>
                    </a:ext>
                  </a:extLst>
                </a:gridCol>
                <a:gridCol w="2868460">
                  <a:extLst>
                    <a:ext uri="{9D8B030D-6E8A-4147-A177-3AD203B41FA5}">
                      <a16:colId xmlns:a16="http://schemas.microsoft.com/office/drawing/2014/main" val="2031338092"/>
                    </a:ext>
                  </a:extLst>
                </a:gridCol>
              </a:tblGrid>
              <a:tr h="852326"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Approche</a:t>
                      </a:r>
                      <a:endParaRPr lang="fr-F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 d’intelligence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Exemple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 principale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016583"/>
                  </a:ext>
                </a:extLst>
              </a:tr>
              <a:tr h="905310">
                <a:tc>
                  <a:txBody>
                    <a:bodyPr/>
                    <a:lstStyle/>
                    <a:p>
                      <a:r>
                        <a:rPr lang="fr-FR" sz="2000" b="1" dirty="0"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Penser comme un humain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Cognition simulée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Test de Turing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Notion d’intelligence floue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21083120"/>
                  </a:ext>
                </a:extLst>
              </a:tr>
              <a:tr h="852326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Raisonner comme un humain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Logique symbolique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Systèmes experts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Peu flexible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65630920"/>
                  </a:ext>
                </a:extLst>
              </a:tr>
              <a:tr h="852326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Agir rationnellement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Agent intelligent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Robots, planification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Ne raisonne pas forcément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40988276"/>
                  </a:ext>
                </a:extLst>
              </a:tr>
              <a:tr h="117744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Apprendre des données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Statistique / probabiliste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 err="1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Deep</a:t>
                      </a:r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 </a:t>
                      </a:r>
                      <a:r>
                        <a:rPr lang="fr-FR" sz="2000" b="1" kern="1200" dirty="0" err="1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learning</a:t>
                      </a:r>
                      <a:endParaRPr lang="fr-FR" sz="2000" b="1" kern="1200" dirty="0">
                        <a:solidFill>
                          <a:schemeClr val="dk1"/>
                        </a:solidFill>
                        <a:latin typeface="CMU Sans Serif Medium" panose="02000603000000000000" pitchFamily="2" charset="0"/>
                        <a:ea typeface="CMU Sans Serif Medium" panose="02000603000000000000" pitchFamily="2" charset="0"/>
                        <a:cs typeface="CMU Sans Serif Medium" panose="02000603000000000000" pitchFamily="2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Aucune compréhension réelle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70849206"/>
                  </a:ext>
                </a:extLst>
              </a:tr>
            </a:tbl>
          </a:graphicData>
        </a:graphic>
      </p:graphicFrame>
      <p:pic>
        <p:nvPicPr>
          <p:cNvPr id="15" name="Image 14">
            <a:extLst>
              <a:ext uri="{FF2B5EF4-FFF2-40B4-BE49-F238E27FC236}">
                <a16:creationId xmlns:a16="http://schemas.microsoft.com/office/drawing/2014/main" id="{FCED301A-863A-E14D-AFF1-125B1323E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3216" y="577062"/>
            <a:ext cx="855945" cy="692822"/>
          </a:xfrm>
          <a:prstGeom prst="rect">
            <a:avLst/>
          </a:prstGeom>
        </p:spPr>
      </p:pic>
      <p:sp>
        <p:nvSpPr>
          <p:cNvPr id="7" name="ZoneTexte 5">
            <a:extLst>
              <a:ext uri="{FF2B5EF4-FFF2-40B4-BE49-F238E27FC236}">
                <a16:creationId xmlns:a16="http://schemas.microsoft.com/office/drawing/2014/main" id="{D43BFCDC-89E7-F448-AE5B-BC73109D67B1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22633669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Apprentissage à partir des données (Machine Learning)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3D7987-A349-6447-8619-6290095C5F5B}"/>
              </a:ext>
            </a:extLst>
          </p:cNvPr>
          <p:cNvSpPr/>
          <p:nvPr/>
        </p:nvSpPr>
        <p:spPr>
          <a:xfrm>
            <a:off x="1565381" y="1294930"/>
            <a:ext cx="9958192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apprend par l’expérience, comme un élève qui s’entraîne à partir d’exemples.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solidFill>
                  <a:srgbClr val="3333B2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Elle analyse des milliers de cas pour reconnaître des régularités.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Plus elle </a:t>
            </a:r>
            <a:r>
              <a:rPr lang="fr-FR" sz="2200" b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reçoit de données, plus elle s’améliore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657ED1-BA69-844E-95B2-2318671C15E1}"/>
              </a:ext>
            </a:extLst>
          </p:cNvPr>
          <p:cNvSpPr/>
          <p:nvPr/>
        </p:nvSpPr>
        <p:spPr>
          <a:xfrm>
            <a:off x="1565381" y="3802223"/>
            <a:ext cx="995819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Exemple : </a:t>
            </a:r>
          </a:p>
          <a:p>
            <a:pPr marL="342900" indent="-342900">
              <a:buFontTx/>
              <a:buChar char="-"/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Reconnaissance de visages sur Facebook ; </a:t>
            </a:r>
          </a:p>
          <a:p>
            <a:pPr marL="342900" indent="-342900">
              <a:buFontTx/>
              <a:buChar char="-"/>
            </a:pPr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342900" indent="-342900">
              <a:buFontTx/>
              <a:buChar char="-"/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Diagnostic médical automatisé à partir d’IRM;</a:t>
            </a:r>
          </a:p>
          <a:p>
            <a:pPr marL="342900" indent="-342900">
              <a:buFontTx/>
              <a:buChar char="-"/>
            </a:pPr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342900" indent="-342900">
              <a:buFontTx/>
              <a:buChar char="-"/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Prédiction de trafic sur Google 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Maps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92FFA3D-B4D4-8C4E-A82B-3AC7CB225E4E}"/>
              </a:ext>
            </a:extLst>
          </p:cNvPr>
          <p:cNvSpPr/>
          <p:nvPr/>
        </p:nvSpPr>
        <p:spPr>
          <a:xfrm>
            <a:off x="1005449" y="385056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F5AE9B17-6AFF-414D-842C-7A50D1966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5579" y="5812942"/>
            <a:ext cx="855945" cy="692822"/>
          </a:xfrm>
          <a:prstGeom prst="rect">
            <a:avLst/>
          </a:prstGeom>
        </p:spPr>
      </p:pic>
      <p:sp>
        <p:nvSpPr>
          <p:cNvPr id="10" name="ZoneTexte 5">
            <a:extLst>
              <a:ext uri="{FF2B5EF4-FFF2-40B4-BE49-F238E27FC236}">
                <a16:creationId xmlns:a16="http://schemas.microsoft.com/office/drawing/2014/main" id="{F18141A0-A896-0B42-9A89-203BD9D5D717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2539356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Raisonnement et prise de décisions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3D7987-A349-6447-8619-6290095C5F5B}"/>
              </a:ext>
            </a:extLst>
          </p:cNvPr>
          <p:cNvSpPr/>
          <p:nvPr/>
        </p:nvSpPr>
        <p:spPr>
          <a:xfrm>
            <a:off x="1565381" y="1294930"/>
            <a:ext cx="995819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peut planifier, comparer et choisir la meilleure option selon un objectif.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Elle applique des règles logiques ou des modèles probabilistes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Utilisée dans :</a:t>
            </a:r>
          </a:p>
          <a:p>
            <a:pPr marL="342900" indent="-342900">
              <a:buFontTx/>
              <a:buChar char="-"/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La finance (détection de fraude) ; </a:t>
            </a:r>
          </a:p>
          <a:p>
            <a:pPr marL="342900" indent="-342900">
              <a:buFontTx/>
              <a:buChar char="-"/>
            </a:pPr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342900" indent="-342900">
              <a:buFontTx/>
              <a:buChar char="-"/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Les jeux (échecs, Go) ;</a:t>
            </a:r>
          </a:p>
          <a:p>
            <a:pPr marL="342900" indent="-342900">
              <a:buFontTx/>
              <a:buChar char="-"/>
            </a:pPr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342900" indent="-342900">
              <a:buFontTx/>
              <a:buChar char="-"/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La gestion logistique (itinéraires optimaux).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657ED1-BA69-844E-95B2-2318671C15E1}"/>
              </a:ext>
            </a:extLst>
          </p:cNvPr>
          <p:cNvSpPr/>
          <p:nvPr/>
        </p:nvSpPr>
        <p:spPr>
          <a:xfrm>
            <a:off x="1565381" y="5431122"/>
            <a:ext cx="99581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Exemple : un GPS choisit la route la plus rapide selon le trafic en temps réel.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92FFA3D-B4D4-8C4E-A82B-3AC7CB225E4E}"/>
              </a:ext>
            </a:extLst>
          </p:cNvPr>
          <p:cNvSpPr/>
          <p:nvPr/>
        </p:nvSpPr>
        <p:spPr>
          <a:xfrm>
            <a:off x="1140449" y="5511566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B25D5C4-7C35-5846-B881-79F97401E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532" y="5862009"/>
            <a:ext cx="855945" cy="692822"/>
          </a:xfrm>
          <a:prstGeom prst="rect">
            <a:avLst/>
          </a:prstGeom>
        </p:spPr>
      </p:pic>
      <p:sp>
        <p:nvSpPr>
          <p:cNvPr id="13" name="ZoneTexte 5">
            <a:extLst>
              <a:ext uri="{FF2B5EF4-FFF2-40B4-BE49-F238E27FC236}">
                <a16:creationId xmlns:a16="http://schemas.microsoft.com/office/drawing/2014/main" id="{872C539B-7B59-1245-95AA-4F49B024DF20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36241818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Résolution de problèmes complexes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3D7987-A349-6447-8619-6290095C5F5B}"/>
              </a:ext>
            </a:extLst>
          </p:cNvPr>
          <p:cNvSpPr/>
          <p:nvPr/>
        </p:nvSpPr>
        <p:spPr>
          <a:xfrm>
            <a:off x="1565381" y="1294930"/>
            <a:ext cx="99581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excelle dans les situations où l’humain ne peut traiter toutes les possibilités. 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Elle explore d’énormes espaces de solutions. Capable d’optimiser ou de simuler des systèmes complexes.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657ED1-BA69-844E-95B2-2318671C15E1}"/>
              </a:ext>
            </a:extLst>
          </p:cNvPr>
          <p:cNvSpPr/>
          <p:nvPr/>
        </p:nvSpPr>
        <p:spPr>
          <a:xfrm>
            <a:off x="1565381" y="3564748"/>
            <a:ext cx="995819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Exemples</a:t>
            </a:r>
            <a:r>
              <a:rPr lang="fr-FR" sz="22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:</a:t>
            </a:r>
          </a:p>
          <a:p>
            <a:pPr marL="342900" indent="-342900">
              <a:buFontTx/>
              <a:buChar char="-"/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Conception de nouveaux médicaments.</a:t>
            </a:r>
          </a:p>
          <a:p>
            <a:pPr marL="342900" indent="-342900">
              <a:buFontTx/>
              <a:buChar char="-"/>
            </a:pPr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342900" indent="-342900">
              <a:buFontTx/>
              <a:buChar char="-"/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Simulation climatique.</a:t>
            </a:r>
          </a:p>
          <a:p>
            <a:pPr marL="342900" indent="-342900">
              <a:buFontTx/>
              <a:buChar char="-"/>
            </a:pPr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342900" indent="-342900">
              <a:buFontTx/>
              <a:buChar char="-"/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Gestion intelligente de l’énergie.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92FFA3D-B4D4-8C4E-A82B-3AC7CB225E4E}"/>
              </a:ext>
            </a:extLst>
          </p:cNvPr>
          <p:cNvSpPr/>
          <p:nvPr/>
        </p:nvSpPr>
        <p:spPr>
          <a:xfrm>
            <a:off x="1140449" y="3607614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B704FDA-99D5-2D4C-90F6-2483B0376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8250" y="5818852"/>
            <a:ext cx="855945" cy="692822"/>
          </a:xfrm>
          <a:prstGeom prst="rect">
            <a:avLst/>
          </a:prstGeom>
        </p:spPr>
      </p:pic>
      <p:sp>
        <p:nvSpPr>
          <p:cNvPr id="13" name="ZoneTexte 5">
            <a:extLst>
              <a:ext uri="{FF2B5EF4-FFF2-40B4-BE49-F238E27FC236}">
                <a16:creationId xmlns:a16="http://schemas.microsoft.com/office/drawing/2014/main" id="{E437FC16-563B-9840-BA6F-F286E75E77D2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37732745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Perception et interaction avec l’environnement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3D7987-A349-6447-8619-6290095C5F5B}"/>
              </a:ext>
            </a:extLst>
          </p:cNvPr>
          <p:cNvSpPr/>
          <p:nvPr/>
        </p:nvSpPr>
        <p:spPr>
          <a:xfrm>
            <a:off x="1565381" y="1294930"/>
            <a:ext cx="995819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“perçoit” le monde grâce à des capteurs, caméras ou microphones.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Elle reconnaît des objets, des sons, des visages, des gestes.</a:t>
            </a:r>
            <a:b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</a:br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Utilisée dans : les voitures autonomes, les robots de service, la sécurité et la surveillance.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657ED1-BA69-844E-95B2-2318671C15E1}"/>
              </a:ext>
            </a:extLst>
          </p:cNvPr>
          <p:cNvSpPr/>
          <p:nvPr/>
        </p:nvSpPr>
        <p:spPr>
          <a:xfrm>
            <a:off x="1565381" y="3623664"/>
            <a:ext cx="99581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Exemple : un robot peut détecter un obstacle et modifier sa trajectoire.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92FFA3D-B4D4-8C4E-A82B-3AC7CB225E4E}"/>
              </a:ext>
            </a:extLst>
          </p:cNvPr>
          <p:cNvSpPr/>
          <p:nvPr/>
        </p:nvSpPr>
        <p:spPr>
          <a:xfrm>
            <a:off x="1140449" y="36665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74FD552-1204-0143-8423-2EA067BDD1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9873" y="4081419"/>
            <a:ext cx="3000884" cy="234975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E1B45927-4D21-4E4B-A7C5-BF3645D59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671" y="4392520"/>
            <a:ext cx="2874508" cy="2038083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E206E79-8394-BD49-9F02-37AA353806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93" y="4525413"/>
            <a:ext cx="3669489" cy="185802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4C40EE1-0A6D-2147-BB29-E03982689F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2784" y="602108"/>
            <a:ext cx="855945" cy="692822"/>
          </a:xfrm>
          <a:prstGeom prst="rect">
            <a:avLst/>
          </a:prstGeom>
        </p:spPr>
      </p:pic>
      <p:sp>
        <p:nvSpPr>
          <p:cNvPr id="16" name="ZoneTexte 5">
            <a:extLst>
              <a:ext uri="{FF2B5EF4-FFF2-40B4-BE49-F238E27FC236}">
                <a16:creationId xmlns:a16="http://schemas.microsoft.com/office/drawing/2014/main" id="{94619F80-AF6A-E64D-9E0D-E153E4EED753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7033390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Compréhension et génération du langage naturel (NLP)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3D7987-A349-6447-8619-6290095C5F5B}"/>
              </a:ext>
            </a:extLst>
          </p:cNvPr>
          <p:cNvSpPr/>
          <p:nvPr/>
        </p:nvSpPr>
        <p:spPr>
          <a:xfrm>
            <a:off x="1565381" y="1294930"/>
            <a:ext cx="9958192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peut comprendre, traduire, résumer ou produire du texte comme un humain.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Basée sur le Traitement Automatique du Langage Naturel (TALN / NLP).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Applications :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Assistants vocaux (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Siri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, Alexa, Google).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Chatbots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(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ChatGPT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, copilotes IA).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Traduction, résumé, rédaction de documents.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657ED1-BA69-844E-95B2-2318671C15E1}"/>
              </a:ext>
            </a:extLst>
          </p:cNvPr>
          <p:cNvSpPr/>
          <p:nvPr/>
        </p:nvSpPr>
        <p:spPr>
          <a:xfrm>
            <a:off x="1565381" y="5456174"/>
            <a:ext cx="99581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Exemple : 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ChatGPT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comprend vos questions et génère des réponses cohérentes.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92FFA3D-B4D4-8C4E-A82B-3AC7CB225E4E}"/>
              </a:ext>
            </a:extLst>
          </p:cNvPr>
          <p:cNvSpPr/>
          <p:nvPr/>
        </p:nvSpPr>
        <p:spPr>
          <a:xfrm>
            <a:off x="1140449" y="549904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4205DCD3-6C22-4843-9167-6AC3F1BF2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559" y="2789793"/>
            <a:ext cx="2909509" cy="215811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D8DFC29C-FCAA-FA44-AD81-A357C9FE12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8250" y="5818852"/>
            <a:ext cx="855945" cy="692822"/>
          </a:xfrm>
          <a:prstGeom prst="rect">
            <a:avLst/>
          </a:prstGeom>
        </p:spPr>
      </p:pic>
      <p:sp>
        <p:nvSpPr>
          <p:cNvPr id="13" name="ZoneTexte 5">
            <a:extLst>
              <a:ext uri="{FF2B5EF4-FFF2-40B4-BE49-F238E27FC236}">
                <a16:creationId xmlns:a16="http://schemas.microsoft.com/office/drawing/2014/main" id="{F20DAC02-3694-CC45-8DA6-EB5E4430DC3E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38117050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Quatre approches de définitions de l’IA</a:t>
            </a:r>
            <a:endParaRPr lang="fr-FR" sz="2800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CA74D834-7256-3649-85D1-1BBCB7381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268375"/>
              </p:ext>
            </p:extLst>
          </p:nvPr>
        </p:nvGraphicFramePr>
        <p:xfrm>
          <a:off x="575892" y="1467991"/>
          <a:ext cx="10752357" cy="4494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119">
                  <a:extLst>
                    <a:ext uri="{9D8B030D-6E8A-4147-A177-3AD203B41FA5}">
                      <a16:colId xmlns:a16="http://schemas.microsoft.com/office/drawing/2014/main" val="2269443793"/>
                    </a:ext>
                  </a:extLst>
                </a:gridCol>
                <a:gridCol w="3584119">
                  <a:extLst>
                    <a:ext uri="{9D8B030D-6E8A-4147-A177-3AD203B41FA5}">
                      <a16:colId xmlns:a16="http://schemas.microsoft.com/office/drawing/2014/main" val="1509651043"/>
                    </a:ext>
                  </a:extLst>
                </a:gridCol>
                <a:gridCol w="3584119">
                  <a:extLst>
                    <a:ext uri="{9D8B030D-6E8A-4147-A177-3AD203B41FA5}">
                      <a16:colId xmlns:a16="http://schemas.microsoft.com/office/drawing/2014/main" val="407840158"/>
                    </a:ext>
                  </a:extLst>
                </a:gridCol>
              </a:tblGrid>
              <a:tr h="658514"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Capacité</a:t>
                      </a:r>
                      <a:endParaRPr lang="fr-F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Exemple concret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016583"/>
                  </a:ext>
                </a:extLst>
              </a:tr>
              <a:tr h="699449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Apprentissage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Tirer des leçons des données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Reconnaissance d’images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1083120"/>
                  </a:ext>
                </a:extLst>
              </a:tr>
              <a:tr h="658514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Raisonnement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Prendre des décisions logiques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Jeux d’échecs, GPS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65630920"/>
                  </a:ext>
                </a:extLst>
              </a:tr>
              <a:tr h="658514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Résolution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Trouver des solutions complexes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Recherche médicale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40988276"/>
                  </a:ext>
                </a:extLst>
              </a:tr>
              <a:tr h="90970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Perception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Comprendre l’environnement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Voitures autonomes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55740628"/>
                  </a:ext>
                </a:extLst>
              </a:tr>
              <a:tr h="909703">
                <a:tc>
                  <a:txBody>
                    <a:bodyPr/>
                    <a:lstStyle/>
                    <a:p>
                      <a:pPr algn="l" fontAlgn="b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Langage (NLP)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Comprendre / produire du texte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 err="1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ChatGPT</a:t>
                      </a:r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, traduction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0849206"/>
                  </a:ext>
                </a:extLst>
              </a:tr>
            </a:tbl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B4211228-3F2D-EA4F-BDB7-6C69E2BD2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8250" y="5818852"/>
            <a:ext cx="855945" cy="692822"/>
          </a:xfrm>
          <a:prstGeom prst="rect">
            <a:avLst/>
          </a:prstGeom>
        </p:spPr>
      </p:pic>
      <p:sp>
        <p:nvSpPr>
          <p:cNvPr id="8" name="ZoneTexte 5">
            <a:extLst>
              <a:ext uri="{FF2B5EF4-FFF2-40B4-BE49-F238E27FC236}">
                <a16:creationId xmlns:a16="http://schemas.microsoft.com/office/drawing/2014/main" id="{012C44C8-E3AB-EF48-9F8A-AD028C09619C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25471352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Algorithme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657ED1-BA69-844E-95B2-2318671C15E1}"/>
              </a:ext>
            </a:extLst>
          </p:cNvPr>
          <p:cNvSpPr/>
          <p:nvPr/>
        </p:nvSpPr>
        <p:spPr>
          <a:xfrm>
            <a:off x="1410449" y="4698736"/>
            <a:ext cx="995819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Un algorithme est une suite finie d'instructions ou d'opérations qui, appliquées à des données de départ, permettent d'accomplir une tâche ou de résoudre un problème en un temps fini. 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492FFA3D-B4D4-8C4E-A82B-3AC7CB225E4E}"/>
              </a:ext>
            </a:extLst>
          </p:cNvPr>
          <p:cNvSpPr/>
          <p:nvPr/>
        </p:nvSpPr>
        <p:spPr>
          <a:xfrm>
            <a:off x="771158" y="4698736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323C066-0B46-7E42-B517-EADD144D6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22" y="1476097"/>
            <a:ext cx="11395953" cy="2728995"/>
          </a:xfrm>
          <a:prstGeom prst="rect">
            <a:avLst/>
          </a:prstGeom>
        </p:spPr>
      </p:pic>
      <p:sp>
        <p:nvSpPr>
          <p:cNvPr id="8" name="ZoneTexte 5">
            <a:extLst>
              <a:ext uri="{FF2B5EF4-FFF2-40B4-BE49-F238E27FC236}">
                <a16:creationId xmlns:a16="http://schemas.microsoft.com/office/drawing/2014/main" id="{604D02C1-7079-654D-8DBC-A5A2677895B0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42941088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Programme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3D7987-A349-6447-8619-6290095C5F5B}"/>
              </a:ext>
            </a:extLst>
          </p:cNvPr>
          <p:cNvSpPr/>
          <p:nvPr/>
        </p:nvSpPr>
        <p:spPr>
          <a:xfrm>
            <a:off x="1565381" y="1294930"/>
            <a:ext cx="995819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Un programme informatique est un ensemble d'instructions écrites dans un langage de programmation que les ordinateurs suivent pour effectuer des tâches spécifiques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67B17FE0-0676-7F45-BD3B-F0B0411DEAF2}"/>
              </a:ext>
            </a:extLst>
          </p:cNvPr>
          <p:cNvSpPr/>
          <p:nvPr/>
        </p:nvSpPr>
        <p:spPr>
          <a:xfrm>
            <a:off x="215893" y="2797785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3" name="État de l’art">
            <a:extLst>
              <a:ext uri="{FF2B5EF4-FFF2-40B4-BE49-F238E27FC236}">
                <a16:creationId xmlns:a16="http://schemas.microsoft.com/office/drawing/2014/main" id="{49CDC0FB-4B5D-7C4E-9FDE-664FC0AD450F}"/>
              </a:ext>
            </a:extLst>
          </p:cNvPr>
          <p:cNvSpPr txBox="1"/>
          <p:nvPr/>
        </p:nvSpPr>
        <p:spPr>
          <a:xfrm>
            <a:off x="748312" y="2765183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Apprentissage automatique (machine </a:t>
            </a:r>
            <a:r>
              <a:rPr lang="fr-FR" sz="2800" dirty="0" err="1"/>
              <a:t>learning</a:t>
            </a:r>
            <a:r>
              <a:rPr lang="fr-FR" sz="2800" dirty="0"/>
              <a:t>)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F62809B3-D505-6046-9431-6AA2EBC3AADE}"/>
              </a:ext>
            </a:extLst>
          </p:cNvPr>
          <p:cNvSpPr/>
          <p:nvPr/>
        </p:nvSpPr>
        <p:spPr>
          <a:xfrm>
            <a:off x="1140449" y="3755786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8AE2FD-C7A9-2847-BBF6-7C783EAFBE01}"/>
              </a:ext>
            </a:extLst>
          </p:cNvPr>
          <p:cNvSpPr/>
          <p:nvPr/>
        </p:nvSpPr>
        <p:spPr>
          <a:xfrm>
            <a:off x="1565381" y="3755786"/>
            <a:ext cx="99581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L'apprentissage automatique (ou machine 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learning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) est un sous-domaine de l'intelligence artificielle où les ordinateurs apprennent à partir de données à l'aide d'algorithmes pour identifier des schémas et faire des prédictions sans être explicitement programmés.</a:t>
            </a:r>
          </a:p>
        </p:txBody>
      </p:sp>
      <p:sp>
        <p:nvSpPr>
          <p:cNvPr id="11" name="ZoneTexte 5">
            <a:extLst>
              <a:ext uri="{FF2B5EF4-FFF2-40B4-BE49-F238E27FC236}">
                <a16:creationId xmlns:a16="http://schemas.microsoft.com/office/drawing/2014/main" id="{16B3FFA6-DC05-A747-A467-67CDB8F1FD29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20186819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Apprentissage profond (</a:t>
            </a:r>
            <a:r>
              <a:rPr lang="fr-FR" sz="2800" dirty="0" err="1"/>
              <a:t>deep</a:t>
            </a:r>
            <a:r>
              <a:rPr lang="fr-FR" sz="2800" dirty="0"/>
              <a:t> </a:t>
            </a:r>
            <a:r>
              <a:rPr lang="fr-FR" sz="2800" dirty="0" err="1"/>
              <a:t>learning</a:t>
            </a:r>
            <a:r>
              <a:rPr lang="fr-FR" sz="2800" dirty="0"/>
              <a:t>)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3D7987-A349-6447-8619-6290095C5F5B}"/>
              </a:ext>
            </a:extLst>
          </p:cNvPr>
          <p:cNvSpPr/>
          <p:nvPr/>
        </p:nvSpPr>
        <p:spPr>
          <a:xfrm>
            <a:off x="1565381" y="1294930"/>
            <a:ext cx="995819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L'apprentissage profond (</a:t>
            </a:r>
            <a:r>
              <a:rPr lang="fr-FR" sz="24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deep</a:t>
            </a:r>
            <a:r>
              <a:rPr lang="fr-FR" sz="24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</a:t>
            </a:r>
            <a:r>
              <a:rPr lang="fr-FR" sz="24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learning</a:t>
            </a:r>
            <a:r>
              <a:rPr lang="fr-FR" sz="24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) est une technique d'intelligence artificielle qui utilise des réseaux de neurones artificiels à plusieurs couches pour apprendre à partir de grandes quantités de données. </a:t>
            </a:r>
          </a:p>
          <a:p>
            <a:pPr algn="just"/>
            <a:endParaRPr lang="fr-FR" sz="24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algn="just"/>
            <a:endParaRPr lang="fr-FR" sz="24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algn="just"/>
            <a:r>
              <a:rPr lang="fr-FR" sz="24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Inspiré par le cerveau humain, il permet aux ordinateurs de traiter des données complexes pour des tâches comme la reconnaissance d'images, la traduction automatique et l'analyse vocale. </a:t>
            </a:r>
          </a:p>
        </p:txBody>
      </p:sp>
      <p:sp>
        <p:nvSpPr>
          <p:cNvPr id="8" name="ZoneTexte 5">
            <a:extLst>
              <a:ext uri="{FF2B5EF4-FFF2-40B4-BE49-F238E27FC236}">
                <a16:creationId xmlns:a16="http://schemas.microsoft.com/office/drawing/2014/main" id="{DAA366FA-0859-984C-A619-5FD6F8365581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12883009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Selon le niveau d’intelligence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BF400B-EDBA-4846-B6D7-E5D9702D39CA}"/>
              </a:ext>
            </a:extLst>
          </p:cNvPr>
          <p:cNvSpPr/>
          <p:nvPr/>
        </p:nvSpPr>
        <p:spPr>
          <a:xfrm>
            <a:off x="1565381" y="1294930"/>
            <a:ext cx="99581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solidFill>
                  <a:srgbClr val="3333B2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IA faible (ou étroite), Narrow AI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3535B8-6001-094E-A5B6-A02B78D3B128}"/>
              </a:ext>
            </a:extLst>
          </p:cNvPr>
          <p:cNvSpPr/>
          <p:nvPr/>
        </p:nvSpPr>
        <p:spPr>
          <a:xfrm>
            <a:off x="1928635" y="1725817"/>
            <a:ext cx="99581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faible (ou Narrow AI en anglais) désigne </a:t>
            </a:r>
            <a:r>
              <a:rPr lang="fr-FR" sz="2200" b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une intelligence artificielle spécialisée dans une seule tâche précise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.</a:t>
            </a: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Elle n’imite qu’une partie limitée de l’intelligence humaine, sans conscience, sans émotions, ni compréhension globale du monde.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7173CB-D9AE-4A4F-8679-B0AACEDEF06E}"/>
              </a:ext>
            </a:extLst>
          </p:cNvPr>
          <p:cNvSpPr/>
          <p:nvPr/>
        </p:nvSpPr>
        <p:spPr>
          <a:xfrm>
            <a:off x="1565381" y="3394921"/>
            <a:ext cx="9958192" cy="3266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Caractéristiques principales : 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Spécifique : conçue pour une tâche unique (jouer aux échecs, traduire un texte, reconnaître un visage…).</a:t>
            </a:r>
          </a:p>
          <a:p>
            <a:pPr>
              <a:lnSpc>
                <a:spcPct val="150000"/>
              </a:lnSpc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- Apprend par les données, mais sans savoir pourquoi elle prend une décision.</a:t>
            </a:r>
          </a:p>
          <a:p>
            <a:pPr>
              <a:lnSpc>
                <a:spcPct val="150000"/>
              </a:lnSpc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-  Aucune conscience ni autonomie générale.</a:t>
            </a:r>
          </a:p>
          <a:p>
            <a:pPr>
              <a:lnSpc>
                <a:spcPct val="150000"/>
              </a:lnSpc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- Dépendante de l’humain pour être configurée, entraînée et utilisée.</a:t>
            </a:r>
          </a:p>
        </p:txBody>
      </p:sp>
      <p:sp>
        <p:nvSpPr>
          <p:cNvPr id="9" name="ZoneTexte 5">
            <a:extLst>
              <a:ext uri="{FF2B5EF4-FFF2-40B4-BE49-F238E27FC236}">
                <a16:creationId xmlns:a16="http://schemas.microsoft.com/office/drawing/2014/main" id="{C8B89E36-D0D2-624F-BC14-2C7F682E61CD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6696620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Selon le niveau d’intelligence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BF400B-EDBA-4846-B6D7-E5D9702D39CA}"/>
              </a:ext>
            </a:extLst>
          </p:cNvPr>
          <p:cNvSpPr/>
          <p:nvPr/>
        </p:nvSpPr>
        <p:spPr>
          <a:xfrm>
            <a:off x="1565381" y="1294930"/>
            <a:ext cx="99581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solidFill>
                  <a:srgbClr val="3333B2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IA faible (ou étroite), Narrow AI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3535B8-6001-094E-A5B6-A02B78D3B128}"/>
              </a:ext>
            </a:extLst>
          </p:cNvPr>
          <p:cNvSpPr/>
          <p:nvPr/>
        </p:nvSpPr>
        <p:spPr>
          <a:xfrm>
            <a:off x="1928635" y="1725817"/>
            <a:ext cx="995819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faible, c’est comme un excellent artisan robot :</a:t>
            </a: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il sait faire un travail précis mieux que n’importe qui, mais il ne comprend pas le sens global de ce qu’il fait.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7173CB-D9AE-4A4F-8679-B0AACEDEF06E}"/>
              </a:ext>
            </a:extLst>
          </p:cNvPr>
          <p:cNvSpPr/>
          <p:nvPr/>
        </p:nvSpPr>
        <p:spPr>
          <a:xfrm>
            <a:off x="1565381" y="3394921"/>
            <a:ext cx="9958192" cy="3266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Caractéristiques principales : 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Spécifique : conçue pour une tâche unique (jouer aux échecs, traduire un texte, reconnaître un visage…).</a:t>
            </a:r>
          </a:p>
          <a:p>
            <a:pPr>
              <a:lnSpc>
                <a:spcPct val="150000"/>
              </a:lnSpc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- Apprend par les données, mais sans savoir pourquoi elle prend une décision.</a:t>
            </a:r>
          </a:p>
          <a:p>
            <a:pPr>
              <a:lnSpc>
                <a:spcPct val="150000"/>
              </a:lnSpc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-  Aucune conscience ni autonomie générale.</a:t>
            </a:r>
          </a:p>
          <a:p>
            <a:pPr>
              <a:lnSpc>
                <a:spcPct val="150000"/>
              </a:lnSpc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- Dépendante de l’humain pour être configurée, entraînée et utilisée.</a:t>
            </a:r>
          </a:p>
        </p:txBody>
      </p:sp>
      <p:sp>
        <p:nvSpPr>
          <p:cNvPr id="11" name="ZoneTexte 5">
            <a:extLst>
              <a:ext uri="{FF2B5EF4-FFF2-40B4-BE49-F238E27FC236}">
                <a16:creationId xmlns:a16="http://schemas.microsoft.com/office/drawing/2014/main" id="{84EEB64B-93C7-B04D-BD5F-05D1A0A7DE8E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6981245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Selon le niveau d’intelligence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BF400B-EDBA-4846-B6D7-E5D9702D39CA}"/>
              </a:ext>
            </a:extLst>
          </p:cNvPr>
          <p:cNvSpPr/>
          <p:nvPr/>
        </p:nvSpPr>
        <p:spPr>
          <a:xfrm>
            <a:off x="1565381" y="1294930"/>
            <a:ext cx="9958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3333B3"/>
                </a:solidFill>
              </a:rPr>
              <a:t>L’Intelligence Artificielle Forte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3535B8-6001-094E-A5B6-A02B78D3B128}"/>
              </a:ext>
            </a:extLst>
          </p:cNvPr>
          <p:cNvSpPr/>
          <p:nvPr/>
        </p:nvSpPr>
        <p:spPr>
          <a:xfrm>
            <a:off x="1928635" y="1725817"/>
            <a:ext cx="995819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forte (ou General AI / AGI – 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Artificial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General Intelligence) désigne une intelligence artificielle capable de raisonner, comprendre, apprendre et s’adapter à n’importe quel domaine, comme un être humain.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Elle aurait une conscience d’elle-même, une compréhension du monde et la capacité de prendre des décisions autonomes dans des contextes nouveaux.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7173CB-D9AE-4A4F-8679-B0AACEDEF06E}"/>
              </a:ext>
            </a:extLst>
          </p:cNvPr>
          <p:cNvSpPr/>
          <p:nvPr/>
        </p:nvSpPr>
        <p:spPr>
          <a:xfrm>
            <a:off x="1928635" y="4121431"/>
            <a:ext cx="9958192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Caractéristiques :</a:t>
            </a: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- Polyvalente : peut apprendre et s’adapter à toute situation, sans être limitée à une tâche unique.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- Raisonnement global : comprend les relations, le sens, le contexte.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- Autonomie cognitive : serait capable de formuler ses propres objectifs.</a:t>
            </a:r>
          </a:p>
        </p:txBody>
      </p:sp>
      <p:sp>
        <p:nvSpPr>
          <p:cNvPr id="9" name="ZoneTexte 5">
            <a:extLst>
              <a:ext uri="{FF2B5EF4-FFF2-40B4-BE49-F238E27FC236}">
                <a16:creationId xmlns:a16="http://schemas.microsoft.com/office/drawing/2014/main" id="{C868810A-2236-0E43-A87E-1531F4305187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28247678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Selon le niveau d’intelligence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BF400B-EDBA-4846-B6D7-E5D9702D39CA}"/>
              </a:ext>
            </a:extLst>
          </p:cNvPr>
          <p:cNvSpPr/>
          <p:nvPr/>
        </p:nvSpPr>
        <p:spPr>
          <a:xfrm>
            <a:off x="1565381" y="1294930"/>
            <a:ext cx="9958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3333B3"/>
                </a:solidFill>
              </a:rPr>
              <a:t>L’Intelligence Artificielle Forte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3535B8-6001-094E-A5B6-A02B78D3B128}"/>
              </a:ext>
            </a:extLst>
          </p:cNvPr>
          <p:cNvSpPr/>
          <p:nvPr/>
        </p:nvSpPr>
        <p:spPr>
          <a:xfrm>
            <a:off x="1928635" y="1725817"/>
            <a:ext cx="9958192" cy="19120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Exemple (films de science fiction) : </a:t>
            </a:r>
          </a:p>
          <a:p>
            <a:pPr>
              <a:lnSpc>
                <a:spcPct val="150000"/>
              </a:lnSpc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- HAL 9000 (2001, l’Odyssée de l’espace),</a:t>
            </a:r>
          </a:p>
          <a:p>
            <a:pPr>
              <a:lnSpc>
                <a:spcPct val="150000"/>
              </a:lnSpc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- Samantha (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Her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),</a:t>
            </a:r>
          </a:p>
          <a:p>
            <a:pPr>
              <a:lnSpc>
                <a:spcPct val="150000"/>
              </a:lnSpc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- Ava (Ex Machina).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7173CB-D9AE-4A4F-8679-B0AACEDEF06E}"/>
              </a:ext>
            </a:extLst>
          </p:cNvPr>
          <p:cNvSpPr/>
          <p:nvPr/>
        </p:nvSpPr>
        <p:spPr>
          <a:xfrm>
            <a:off x="1730306" y="3741768"/>
            <a:ext cx="995819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Aucun système réel n’a atteint ce niveau aujourd’hui. </a:t>
            </a:r>
          </a:p>
          <a:p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ChatGPT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, Gemini, Claude… : restent des IA faibles, car elles n’ont pas de conscience ni de compréhension du sens profond.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19548D-4641-724F-B62E-E043B18ECC9B}"/>
              </a:ext>
            </a:extLst>
          </p:cNvPr>
          <p:cNvSpPr/>
          <p:nvPr/>
        </p:nvSpPr>
        <p:spPr>
          <a:xfrm>
            <a:off x="1565381" y="5105313"/>
            <a:ext cx="99581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forte serait comme un humain numérique : </a:t>
            </a:r>
          </a:p>
          <a:p>
            <a:r>
              <a:rPr lang="fr-FR" sz="2200" b="1" dirty="0">
                <a:solidFill>
                  <a:srgbClr val="3333B2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elle comprend, ressent, apprend, planifie, et agit sans supervision humaine.</a:t>
            </a: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Mais pour l’instant, elle n’existe pas elle reste un objectif de recherche et un débat philosophique.</a:t>
            </a:r>
          </a:p>
        </p:txBody>
      </p:sp>
      <p:sp>
        <p:nvSpPr>
          <p:cNvPr id="11" name="ZoneTexte 5">
            <a:extLst>
              <a:ext uri="{FF2B5EF4-FFF2-40B4-BE49-F238E27FC236}">
                <a16:creationId xmlns:a16="http://schemas.microsoft.com/office/drawing/2014/main" id="{444B1C4E-ACF8-D244-B796-2ACE92FEFC4A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12144331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Selon le niveau d’intelligence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BF400B-EDBA-4846-B6D7-E5D9702D39CA}"/>
              </a:ext>
            </a:extLst>
          </p:cNvPr>
          <p:cNvSpPr/>
          <p:nvPr/>
        </p:nvSpPr>
        <p:spPr>
          <a:xfrm>
            <a:off x="1565381" y="1294930"/>
            <a:ext cx="99581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3333B3"/>
                </a:solidFill>
              </a:rPr>
              <a:t>L’Intelligence Artificielle </a:t>
            </a:r>
            <a:r>
              <a:rPr lang="fr-FR" sz="2400" b="1" dirty="0" err="1">
                <a:solidFill>
                  <a:srgbClr val="3333B3"/>
                </a:solidFill>
              </a:rPr>
              <a:t>SuperIntelligente</a:t>
            </a:r>
            <a:r>
              <a:rPr lang="fr-FR" sz="2400" b="1" dirty="0">
                <a:solidFill>
                  <a:srgbClr val="3333B3"/>
                </a:solidFill>
              </a:rPr>
              <a:t> (ASI)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3535B8-6001-094E-A5B6-A02B78D3B128}"/>
              </a:ext>
            </a:extLst>
          </p:cNvPr>
          <p:cNvSpPr/>
          <p:nvPr/>
        </p:nvSpPr>
        <p:spPr>
          <a:xfrm>
            <a:off x="1928635" y="1725817"/>
            <a:ext cx="995819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superintelligente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(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Artificial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Superintelligence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– ASI) désigne une intelligence bien supérieure à celle des meilleurs esprits humains dans tous les domaines :</a:t>
            </a: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raisonnement scientifique, créativité, empathie, stratégie, intuition…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C’est une IA qui dépasserait largement l’humain, non seulement en rapidité et en mémoire, mais aussi en capacité de jugement et d’invention.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7173CB-D9AE-4A4F-8679-B0AACEDEF06E}"/>
              </a:ext>
            </a:extLst>
          </p:cNvPr>
          <p:cNvSpPr/>
          <p:nvPr/>
        </p:nvSpPr>
        <p:spPr>
          <a:xfrm>
            <a:off x="1730306" y="3741768"/>
            <a:ext cx="995819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Aucun système réel n’a atteint ce niveau aujourd’hui. </a:t>
            </a:r>
          </a:p>
          <a:p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ChatGPT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, Gemini, Claude… : restent des IA faibles, car elles n’ont pas de conscience ni de compréhension du sens profond.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19548D-4641-724F-B62E-E043B18ECC9B}"/>
              </a:ext>
            </a:extLst>
          </p:cNvPr>
          <p:cNvSpPr/>
          <p:nvPr/>
        </p:nvSpPr>
        <p:spPr>
          <a:xfrm>
            <a:off x="1565381" y="5105313"/>
            <a:ext cx="99581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forte serait comme un humain numérique : </a:t>
            </a:r>
          </a:p>
          <a:p>
            <a:r>
              <a:rPr lang="fr-FR" sz="2200" b="1" dirty="0">
                <a:solidFill>
                  <a:srgbClr val="3333B2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elle comprend, ressent, apprend, planifie, et agit sans supervision humaine.</a:t>
            </a: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Mais pour l’instant, elle n’existe pas elle reste un objectif de recherche et un débat philosophique.</a:t>
            </a:r>
          </a:p>
        </p:txBody>
      </p:sp>
      <p:sp>
        <p:nvSpPr>
          <p:cNvPr id="11" name="ZoneTexte 5">
            <a:extLst>
              <a:ext uri="{FF2B5EF4-FFF2-40B4-BE49-F238E27FC236}">
                <a16:creationId xmlns:a16="http://schemas.microsoft.com/office/drawing/2014/main" id="{6768BB4A-E3FB-2546-B5EF-947649A38BE3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14564629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Selon le niveau d’intelligence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CA74D834-7256-3649-85D1-1BBCB7381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332156"/>
              </p:ext>
            </p:extLst>
          </p:nvPr>
        </p:nvGraphicFramePr>
        <p:xfrm>
          <a:off x="575892" y="1467991"/>
          <a:ext cx="11336360" cy="3347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2152">
                  <a:extLst>
                    <a:ext uri="{9D8B030D-6E8A-4147-A177-3AD203B41FA5}">
                      <a16:colId xmlns:a16="http://schemas.microsoft.com/office/drawing/2014/main" val="2269443793"/>
                    </a:ext>
                  </a:extLst>
                </a:gridCol>
                <a:gridCol w="4221271">
                  <a:extLst>
                    <a:ext uri="{9D8B030D-6E8A-4147-A177-3AD203B41FA5}">
                      <a16:colId xmlns:a16="http://schemas.microsoft.com/office/drawing/2014/main" val="1509651043"/>
                    </a:ext>
                  </a:extLst>
                </a:gridCol>
                <a:gridCol w="2818356">
                  <a:extLst>
                    <a:ext uri="{9D8B030D-6E8A-4147-A177-3AD203B41FA5}">
                      <a16:colId xmlns:a16="http://schemas.microsoft.com/office/drawing/2014/main" val="407840158"/>
                    </a:ext>
                  </a:extLst>
                </a:gridCol>
                <a:gridCol w="2204581">
                  <a:extLst>
                    <a:ext uri="{9D8B030D-6E8A-4147-A177-3AD203B41FA5}">
                      <a16:colId xmlns:a16="http://schemas.microsoft.com/office/drawing/2014/main" val="947585482"/>
                    </a:ext>
                  </a:extLst>
                </a:gridCol>
              </a:tblGrid>
              <a:tr h="727124"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Niveau d’IA</a:t>
                      </a:r>
                      <a:endParaRPr lang="fr-F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Exemples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24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Statut actuel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4016583"/>
                  </a:ext>
                </a:extLst>
              </a:tr>
              <a:tr h="77232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IA faible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Spécialisée dans une tâche précise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Siri, ChatGPT, GPS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Réelle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1083120"/>
                  </a:ext>
                </a:extLst>
              </a:tr>
              <a:tr h="72712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IA forte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Intelligence générale, consciente et adaptable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Films de science fiction : Ava (Ex Machina), HAL 9000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Hypothétique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65630920"/>
                  </a:ext>
                </a:extLst>
              </a:tr>
              <a:tr h="72712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IA </a:t>
                      </a:r>
                      <a:r>
                        <a:rPr lang="fr-FR" sz="2000" b="1" kern="1200" dirty="0" err="1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superintelligente</a:t>
                      </a:r>
                      <a:endParaRPr lang="fr-FR" sz="2000" b="1" kern="1200" dirty="0">
                        <a:solidFill>
                          <a:schemeClr val="dk1"/>
                        </a:solidFill>
                        <a:latin typeface="CMU Sans Serif Medium" panose="02000603000000000000" pitchFamily="2" charset="0"/>
                        <a:ea typeface="CMU Sans Serif Medium" panose="02000603000000000000" pitchFamily="2" charset="0"/>
                        <a:cs typeface="CMU Sans Serif Medium" panose="02000603000000000000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Dépasse l’humain dans tous les domaines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Films de science fiction : Skynet, </a:t>
                      </a:r>
                      <a:r>
                        <a:rPr lang="fr-FR" sz="2000" b="1" kern="1200" dirty="0" err="1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Ultron</a:t>
                      </a:r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, </a:t>
                      </a:r>
                      <a:r>
                        <a:rPr lang="fr-FR" sz="2000" b="1" kern="1200" dirty="0" err="1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Transcendence</a:t>
                      </a:r>
                      <a:endParaRPr lang="fr-FR" sz="2000" b="1" kern="1200" dirty="0">
                        <a:solidFill>
                          <a:schemeClr val="dk1"/>
                        </a:solidFill>
                        <a:latin typeface="CMU Sans Serif Medium" panose="02000603000000000000" pitchFamily="2" charset="0"/>
                        <a:ea typeface="CMU Sans Serif Medium" panose="02000603000000000000" pitchFamily="2" charset="0"/>
                        <a:cs typeface="CMU Sans Serif Medium" panose="02000603000000000000" pitchFamily="2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fr-FR" sz="2000" b="1" kern="1200" dirty="0">
                          <a:solidFill>
                            <a:schemeClr val="dk1"/>
                          </a:solidFill>
                          <a:latin typeface="CMU Sans Serif Medium" panose="02000603000000000000" pitchFamily="2" charset="0"/>
                          <a:ea typeface="CMU Sans Serif Medium" panose="02000603000000000000" pitchFamily="2" charset="0"/>
                          <a:cs typeface="CMU Sans Serif Medium" panose="02000603000000000000" pitchFamily="2" charset="0"/>
                        </a:rPr>
                        <a:t>Futur possible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40988276"/>
                  </a:ext>
                </a:extLst>
              </a:tr>
            </a:tbl>
          </a:graphicData>
        </a:graphic>
      </p:graphicFrame>
      <p:pic>
        <p:nvPicPr>
          <p:cNvPr id="7" name="Image 6">
            <a:extLst>
              <a:ext uri="{FF2B5EF4-FFF2-40B4-BE49-F238E27FC236}">
                <a16:creationId xmlns:a16="http://schemas.microsoft.com/office/drawing/2014/main" id="{B4211228-3F2D-EA4F-BDB7-6C69E2BD2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8250" y="5818852"/>
            <a:ext cx="855945" cy="692822"/>
          </a:xfrm>
          <a:prstGeom prst="rect">
            <a:avLst/>
          </a:prstGeom>
        </p:spPr>
      </p:pic>
      <p:sp>
        <p:nvSpPr>
          <p:cNvPr id="8" name="ZoneTexte 5">
            <a:extLst>
              <a:ext uri="{FF2B5EF4-FFF2-40B4-BE49-F238E27FC236}">
                <a16:creationId xmlns:a16="http://schemas.microsoft.com/office/drawing/2014/main" id="{5D1B4298-5B94-D045-AFF7-876DA063BD58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17095472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Selon le niveau d’intelligence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4211228-3F2D-EA4F-BDB7-6C69E2BD2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8250" y="5818852"/>
            <a:ext cx="855945" cy="69282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0CC0357-9332-7B42-9B3F-E0CB2CF90798}"/>
              </a:ext>
            </a:extLst>
          </p:cNvPr>
          <p:cNvSpPr/>
          <p:nvPr/>
        </p:nvSpPr>
        <p:spPr>
          <a:xfrm>
            <a:off x="1469720" y="1639576"/>
            <a:ext cx="8563627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IA faible : nous y sommes déjà (outils, automatisation).</a:t>
            </a:r>
          </a:p>
          <a:p>
            <a:pPr>
              <a:lnSpc>
                <a:spcPct val="150000"/>
              </a:lnSpc>
            </a:pPr>
            <a:r>
              <a:rPr lang="fr-FR" sz="24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IA forte : horizon de recherche (machines conscientes).</a:t>
            </a:r>
          </a:p>
          <a:p>
            <a:pPr>
              <a:lnSpc>
                <a:spcPct val="150000"/>
              </a:lnSpc>
            </a:pPr>
            <a:r>
              <a:rPr lang="fr-FR" sz="24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IA </a:t>
            </a:r>
            <a:r>
              <a:rPr lang="fr-FR" sz="24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superintelligente</a:t>
            </a:r>
            <a:r>
              <a:rPr lang="fr-FR" sz="24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: défi éthique et existentiel (singularité).</a:t>
            </a:r>
          </a:p>
        </p:txBody>
      </p:sp>
      <p:sp>
        <p:nvSpPr>
          <p:cNvPr id="8" name="ZoneTexte 5">
            <a:extLst>
              <a:ext uri="{FF2B5EF4-FFF2-40B4-BE49-F238E27FC236}">
                <a16:creationId xmlns:a16="http://schemas.microsoft.com/office/drawing/2014/main" id="{2B5298BE-67D5-6249-8038-6B3332E60520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10499566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Selon la fonction ou le mode d’apprentissage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8EB798-D71C-3D47-B36E-1B9E5E33DE07}"/>
              </a:ext>
            </a:extLst>
          </p:cNvPr>
          <p:cNvSpPr/>
          <p:nvPr/>
        </p:nvSpPr>
        <p:spPr>
          <a:xfrm>
            <a:off x="1275449" y="1941396"/>
            <a:ext cx="995819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Aussi appelée </a:t>
            </a:r>
            <a:r>
              <a:rPr lang="fr-FR" sz="2200" b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IA classique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ou </a:t>
            </a:r>
            <a:r>
              <a:rPr lang="fr-FR" sz="2200" b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IA fondée sur les connaissances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.</a:t>
            </a:r>
          </a:p>
          <a:p>
            <a:endParaRPr lang="fr-FR" sz="2200" b="1" dirty="0">
              <a:solidFill>
                <a:srgbClr val="3333B3"/>
              </a:solidFill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Principe :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Cette approche repose sur la </a:t>
            </a:r>
            <a:r>
              <a:rPr lang="fr-FR" sz="2200" b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logique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, les </a:t>
            </a:r>
            <a:r>
              <a:rPr lang="fr-FR" sz="2200" b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règles explicites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et les </a:t>
            </a:r>
            <a:r>
              <a:rPr lang="fr-FR" sz="2200" b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symboles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.</a:t>
            </a: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symbolique “raisonne” comme un logicien : elle applique des règles définies à l’avance pour tirer des conclusions.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Les systèmes d’IA construit selon l’IA symbolique dispose : </a:t>
            </a: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- de règles logiques (“si… alors…”),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- d’une base de connaissances (faits, définitions, relations),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- d’un moteur d’inférence (qui tire des déductions).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4E473E-7197-174F-AAAB-E7A164ED2377}"/>
              </a:ext>
            </a:extLst>
          </p:cNvPr>
          <p:cNvSpPr/>
          <p:nvPr/>
        </p:nvSpPr>
        <p:spPr>
          <a:xfrm>
            <a:off x="1679800" y="1258818"/>
            <a:ext cx="446795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solidFill>
                  <a:srgbClr val="3333B2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symbolique (ou logique)</a:t>
            </a:r>
          </a:p>
        </p:txBody>
      </p:sp>
      <p:sp>
        <p:nvSpPr>
          <p:cNvPr id="9" name="ZoneTexte 5">
            <a:extLst>
              <a:ext uri="{FF2B5EF4-FFF2-40B4-BE49-F238E27FC236}">
                <a16:creationId xmlns:a16="http://schemas.microsoft.com/office/drawing/2014/main" id="{16DC8EFE-E491-6843-A098-4118F37D412E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20996874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Selon la fonction ou le mode d’apprentissage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4E473E-7197-174F-AAAB-E7A164ED2377}"/>
              </a:ext>
            </a:extLst>
          </p:cNvPr>
          <p:cNvSpPr/>
          <p:nvPr/>
        </p:nvSpPr>
        <p:spPr>
          <a:xfrm>
            <a:off x="1679800" y="1258818"/>
            <a:ext cx="446795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solidFill>
                  <a:srgbClr val="3333B2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symbolique (ou logique)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38A3C17-C801-F24C-B98D-7373ECDD91D5}"/>
              </a:ext>
            </a:extLst>
          </p:cNvPr>
          <p:cNvSpPr txBox="1"/>
          <p:nvPr/>
        </p:nvSpPr>
        <p:spPr>
          <a:xfrm>
            <a:off x="4584526" y="14154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913FD0B-70DF-084A-9548-F8561F183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181" y="1295883"/>
            <a:ext cx="6187858" cy="437265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B8324D3-5DEB-6040-9140-4B15497B4136}"/>
              </a:ext>
            </a:extLst>
          </p:cNvPr>
          <p:cNvSpPr/>
          <p:nvPr/>
        </p:nvSpPr>
        <p:spPr>
          <a:xfrm>
            <a:off x="215893" y="2806216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Exemples</a:t>
            </a:r>
          </a:p>
          <a:p>
            <a:endParaRPr lang="fr-FR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285750" indent="-285750">
              <a:buFontTx/>
              <a:buChar char="-"/>
            </a:pPr>
            <a:r>
              <a:rPr lang="fr-FR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Les systèmes experts (médecine, ingénierie) des années 1980 :</a:t>
            </a:r>
          </a:p>
          <a:p>
            <a:pPr marL="742950" lvl="1" indent="-285750">
              <a:buFontTx/>
              <a:buChar char="-"/>
            </a:pPr>
            <a:r>
              <a:rPr lang="fr-FR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MYCIN : diagnostic médical basé sur des règles.</a:t>
            </a:r>
          </a:p>
          <a:p>
            <a:pPr marL="742950" lvl="1" indent="-285750">
              <a:buFontTx/>
              <a:buChar char="-"/>
            </a:pPr>
            <a:endParaRPr lang="fr-FR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742950" lvl="1" indent="-285750">
              <a:buFontTx/>
              <a:buChar char="-"/>
            </a:pPr>
            <a:r>
              <a:rPr lang="fr-FR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DENDRAL : identification de molécules chimiques.</a:t>
            </a:r>
          </a:p>
          <a:p>
            <a:pPr marL="285750" indent="-285750">
              <a:buFontTx/>
              <a:buChar char="-"/>
            </a:pPr>
            <a:endParaRPr lang="fr-FR" b="1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285750" indent="-285750">
              <a:buFontTx/>
              <a:buChar char="-"/>
            </a:pPr>
            <a:r>
              <a:rPr lang="fr-FR" b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Les </a:t>
            </a:r>
            <a:r>
              <a:rPr lang="fr-FR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chatbots</a:t>
            </a:r>
            <a:r>
              <a:rPr lang="fr-FR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des années 2000 (avant le machine </a:t>
            </a:r>
            <a:r>
              <a:rPr lang="fr-FR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learning</a:t>
            </a:r>
            <a:r>
              <a:rPr lang="fr-FR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) : réponses basées sur des scénarios préprogrammés.</a:t>
            </a:r>
          </a:p>
        </p:txBody>
      </p:sp>
      <p:sp>
        <p:nvSpPr>
          <p:cNvPr id="10" name="ZoneTexte 5">
            <a:extLst>
              <a:ext uri="{FF2B5EF4-FFF2-40B4-BE49-F238E27FC236}">
                <a16:creationId xmlns:a16="http://schemas.microsoft.com/office/drawing/2014/main" id="{2734D9A0-661B-924B-BDE6-2C3AF112D3C3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10982301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Selon la fonction ou le mode d’apprentissage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4E473E-7197-174F-AAAB-E7A164ED2377}"/>
              </a:ext>
            </a:extLst>
          </p:cNvPr>
          <p:cNvSpPr/>
          <p:nvPr/>
        </p:nvSpPr>
        <p:spPr>
          <a:xfrm>
            <a:off x="1679800" y="1258818"/>
            <a:ext cx="446795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solidFill>
                  <a:srgbClr val="3333B2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connexionniste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38A3C17-C801-F24C-B98D-7373ECDD91D5}"/>
              </a:ext>
            </a:extLst>
          </p:cNvPr>
          <p:cNvSpPr txBox="1"/>
          <p:nvPr/>
        </p:nvSpPr>
        <p:spPr>
          <a:xfrm>
            <a:off x="4584526" y="14154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F80EF0-4DCD-6544-892B-F3AFD80F12B0}"/>
              </a:ext>
            </a:extLst>
          </p:cNvPr>
          <p:cNvSpPr/>
          <p:nvPr/>
        </p:nvSpPr>
        <p:spPr>
          <a:xfrm>
            <a:off x="1275449" y="1941396"/>
            <a:ext cx="995819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Basée sur les réseaux de neurones artificiels.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solidFill>
                  <a:srgbClr val="3333B2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Principe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Inspirée du fonctionnement du cerveau humain, cette approche fait apprendre la machine par l’expérience et les données, sans lui donner de règles explicites.</a:t>
            </a:r>
          </a:p>
        </p:txBody>
      </p:sp>
      <p:sp>
        <p:nvSpPr>
          <p:cNvPr id="9" name="ZoneTexte 5">
            <a:extLst>
              <a:ext uri="{FF2B5EF4-FFF2-40B4-BE49-F238E27FC236}">
                <a16:creationId xmlns:a16="http://schemas.microsoft.com/office/drawing/2014/main" id="{E8A23A6C-857C-4145-9B92-E411E97A5123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27326054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Selon la fonction ou le mode d’apprentissage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4E473E-7197-174F-AAAB-E7A164ED2377}"/>
              </a:ext>
            </a:extLst>
          </p:cNvPr>
          <p:cNvSpPr/>
          <p:nvPr/>
        </p:nvSpPr>
        <p:spPr>
          <a:xfrm>
            <a:off x="1679800" y="1258818"/>
            <a:ext cx="446795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solidFill>
                  <a:srgbClr val="3333B2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connexionniste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38A3C17-C801-F24C-B98D-7373ECDD91D5}"/>
              </a:ext>
            </a:extLst>
          </p:cNvPr>
          <p:cNvSpPr txBox="1"/>
          <p:nvPr/>
        </p:nvSpPr>
        <p:spPr>
          <a:xfrm>
            <a:off x="4584526" y="14154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F80EF0-4DCD-6544-892B-F3AFD80F12B0}"/>
              </a:ext>
            </a:extLst>
          </p:cNvPr>
          <p:cNvSpPr/>
          <p:nvPr/>
        </p:nvSpPr>
        <p:spPr>
          <a:xfrm>
            <a:off x="1410449" y="1689705"/>
            <a:ext cx="995819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Basée sur les réseaux de neurones artificiels.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solidFill>
                  <a:srgbClr val="3333B2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Principe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Inspirée du fonctionnement du cerveau humain, cette approche fait apprendre la machine par l’expérience et les données, sans lui donner de règles explicites.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559823B-10F8-FC49-9420-FCCBC344D5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93" y="3813363"/>
            <a:ext cx="4220539" cy="277717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A90B29B7-1D75-3D44-87C4-B9E6E2AAE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793" y="3776047"/>
            <a:ext cx="6686230" cy="2796442"/>
          </a:xfrm>
          <a:prstGeom prst="rect">
            <a:avLst/>
          </a:prstGeom>
        </p:spPr>
      </p:pic>
      <p:sp>
        <p:nvSpPr>
          <p:cNvPr id="12" name="ZoneTexte 5">
            <a:extLst>
              <a:ext uri="{FF2B5EF4-FFF2-40B4-BE49-F238E27FC236}">
                <a16:creationId xmlns:a16="http://schemas.microsoft.com/office/drawing/2014/main" id="{4834E5AC-6750-494C-82F9-41F631B8282D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37963120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Selon la fonction ou le mode d’apprentissage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29493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4E473E-7197-174F-AAAB-E7A164ED2377}"/>
              </a:ext>
            </a:extLst>
          </p:cNvPr>
          <p:cNvSpPr/>
          <p:nvPr/>
        </p:nvSpPr>
        <p:spPr>
          <a:xfrm>
            <a:off x="1679800" y="1258818"/>
            <a:ext cx="446795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solidFill>
                  <a:srgbClr val="3333B2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hybride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38A3C17-C801-F24C-B98D-7373ECDD91D5}"/>
              </a:ext>
            </a:extLst>
          </p:cNvPr>
          <p:cNvSpPr txBox="1"/>
          <p:nvPr/>
        </p:nvSpPr>
        <p:spPr>
          <a:xfrm>
            <a:off x="4584526" y="14154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F80EF0-4DCD-6544-892B-F3AFD80F12B0}"/>
              </a:ext>
            </a:extLst>
          </p:cNvPr>
          <p:cNvSpPr/>
          <p:nvPr/>
        </p:nvSpPr>
        <p:spPr>
          <a:xfrm>
            <a:off x="1726971" y="1689705"/>
            <a:ext cx="995819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Combinaison de l’IA symbolique et de l’IA connexionniste.</a:t>
            </a:r>
          </a:p>
          <a:p>
            <a:r>
              <a:rPr lang="fr-FR" sz="2200" b="1" dirty="0">
                <a:solidFill>
                  <a:srgbClr val="3333B2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Principe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Elle cherche à réunir la rigueur logique de l’IA symbolique et la souplesse adaptative de l’IA neuronale.</a:t>
            </a:r>
            <a:b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</a:br>
            <a:b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</a:br>
            <a:r>
              <a:rPr lang="fr-FR" sz="2200" b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C’est une IA “raisonnante et apprenante”.</a:t>
            </a:r>
            <a:br>
              <a:rPr lang="fr-FR" sz="2200" b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</a:br>
            <a:b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</a:b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Exemples : </a:t>
            </a:r>
          </a:p>
          <a:p>
            <a:pPr marL="342900" indent="-342900">
              <a:buFontTx/>
              <a:buChar char="-"/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Systèmes médicaux récents : diagnostic par 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deep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learning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+ justification par règles médicales.</a:t>
            </a:r>
          </a:p>
          <a:p>
            <a:pPr marL="342900" indent="-342900">
              <a:buFontTx/>
              <a:buChar char="-"/>
            </a:pPr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342900" indent="-342900">
              <a:buFontTx/>
              <a:buChar char="-"/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Agents conversationnels avancés (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ChatGPT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+ modules de raisonnement logique).</a:t>
            </a:r>
          </a:p>
        </p:txBody>
      </p:sp>
      <p:sp>
        <p:nvSpPr>
          <p:cNvPr id="9" name="ZoneTexte 5">
            <a:extLst>
              <a:ext uri="{FF2B5EF4-FFF2-40B4-BE49-F238E27FC236}">
                <a16:creationId xmlns:a16="http://schemas.microsoft.com/office/drawing/2014/main" id="{A9C2EF03-864F-A347-9E42-0ED0FB5FD21E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10639641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Selon la fonction ou le mode d’apprentissage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11908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4E473E-7197-174F-AAAB-E7A164ED2377}"/>
              </a:ext>
            </a:extLst>
          </p:cNvPr>
          <p:cNvSpPr/>
          <p:nvPr/>
        </p:nvSpPr>
        <p:spPr>
          <a:xfrm>
            <a:off x="1679800" y="1082968"/>
            <a:ext cx="446795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solidFill>
                  <a:srgbClr val="3333B2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générative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38A3C17-C801-F24C-B98D-7373ECDD91D5}"/>
              </a:ext>
            </a:extLst>
          </p:cNvPr>
          <p:cNvSpPr txBox="1"/>
          <p:nvPr/>
        </p:nvSpPr>
        <p:spPr>
          <a:xfrm>
            <a:off x="4584526" y="14154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F80EF0-4DCD-6544-892B-F3AFD80F12B0}"/>
              </a:ext>
            </a:extLst>
          </p:cNvPr>
          <p:cNvSpPr/>
          <p:nvPr/>
        </p:nvSpPr>
        <p:spPr>
          <a:xfrm>
            <a:off x="1726971" y="1513855"/>
            <a:ext cx="995819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Dernière évolution de l’IA : capable de créer du contenu nouveau.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solidFill>
                  <a:srgbClr val="3333B2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Principe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Basée sur des modèles d’apprentissage profond (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transformers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, 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GANs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), elle apprend à imiter les structures du langage, des images, ou des sons pour produire de nouvelles créations.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Exemples</a:t>
            </a:r>
          </a:p>
          <a:p>
            <a:pPr>
              <a:lnSpc>
                <a:spcPct val="150000"/>
              </a:lnSpc>
            </a:pP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ChatGPT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→ génération de texte, rédaction, dialogue.</a:t>
            </a:r>
          </a:p>
          <a:p>
            <a:pPr>
              <a:lnSpc>
                <a:spcPct val="150000"/>
              </a:lnSpc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DALL·E, 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Midjourney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→ génération d’images.</a:t>
            </a:r>
          </a:p>
          <a:p>
            <a:pPr>
              <a:lnSpc>
                <a:spcPct val="150000"/>
              </a:lnSpc>
            </a:pP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Suno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, </a:t>
            </a: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Udio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 → génération de musique.</a:t>
            </a:r>
          </a:p>
          <a:p>
            <a:pPr>
              <a:lnSpc>
                <a:spcPct val="150000"/>
              </a:lnSpc>
            </a:pPr>
            <a:r>
              <a:rPr lang="fr-FR" sz="2200" b="1" dirty="0" err="1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Runway</a:t>
            </a: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, Pika → création de vidéos.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9" name="ZoneTexte 5">
            <a:extLst>
              <a:ext uri="{FF2B5EF4-FFF2-40B4-BE49-F238E27FC236}">
                <a16:creationId xmlns:a16="http://schemas.microsoft.com/office/drawing/2014/main" id="{2394CDAB-165E-0C4C-8AEE-3568A75E84A7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15512460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215893" y="709629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48312" y="677027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Selon la fonction ou le mode d’apprentissage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114E63B-7F75-6A4D-969C-3FE992A0EFC4}"/>
              </a:ext>
            </a:extLst>
          </p:cNvPr>
          <p:cNvSpPr/>
          <p:nvPr/>
        </p:nvSpPr>
        <p:spPr>
          <a:xfrm>
            <a:off x="1140449" y="1119080"/>
            <a:ext cx="270000" cy="27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4E473E-7197-174F-AAAB-E7A164ED2377}"/>
              </a:ext>
            </a:extLst>
          </p:cNvPr>
          <p:cNvSpPr/>
          <p:nvPr/>
        </p:nvSpPr>
        <p:spPr>
          <a:xfrm>
            <a:off x="1679800" y="1082968"/>
            <a:ext cx="446795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solidFill>
                  <a:srgbClr val="3333B2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générative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38A3C17-C801-F24C-B98D-7373ECDD91D5}"/>
              </a:ext>
            </a:extLst>
          </p:cNvPr>
          <p:cNvSpPr txBox="1"/>
          <p:nvPr/>
        </p:nvSpPr>
        <p:spPr>
          <a:xfrm>
            <a:off x="4584526" y="14154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F80EF0-4DCD-6544-892B-F3AFD80F12B0}"/>
              </a:ext>
            </a:extLst>
          </p:cNvPr>
          <p:cNvSpPr/>
          <p:nvPr/>
        </p:nvSpPr>
        <p:spPr>
          <a:xfrm>
            <a:off x="1726971" y="1689705"/>
            <a:ext cx="9958192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2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Analogie :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L’IA générative, c’est comme un artiste inspiré de toute la bibliothèque du monde,</a:t>
            </a:r>
          </a:p>
          <a:p>
            <a:pPr>
              <a:lnSpc>
                <a:spcPct val="150000"/>
              </a:lnSpc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capable de créer une œuvre nouvelle à partir de ce qu’il a lu, vu ou entendu.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r>
              <a:rPr lang="fr-FR" sz="2200" b="1" dirty="0">
                <a:solidFill>
                  <a:srgbClr val="3333B3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Limites :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342900" indent="-342900">
              <a:buFontTx/>
              <a:buChar char="-"/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Risques d’erreurs, de biais, de désinformation.</a:t>
            </a:r>
          </a:p>
          <a:p>
            <a:pPr marL="342900" indent="-342900">
              <a:buFontTx/>
              <a:buChar char="-"/>
            </a:pPr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  <a:p>
            <a:pPr marL="342900" indent="-342900">
              <a:buFontTx/>
              <a:buChar char="-"/>
            </a:pPr>
            <a:r>
              <a:rPr lang="fr-FR" sz="2200" b="1" dirty="0"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Questions éthiques : authenticité, droit d’auteur, vérité, responsabilité.</a:t>
            </a:r>
          </a:p>
          <a:p>
            <a:endParaRPr lang="fr-FR" sz="2200" b="1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9" name="ZoneTexte 5">
            <a:extLst>
              <a:ext uri="{FF2B5EF4-FFF2-40B4-BE49-F238E27FC236}">
                <a16:creationId xmlns:a16="http://schemas.microsoft.com/office/drawing/2014/main" id="{40366575-B407-A445-B58C-4FDEAC366D1B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24885365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lipse 16">
            <a:extLst>
              <a:ext uri="{FF2B5EF4-FFF2-40B4-BE49-F238E27FC236}">
                <a16:creationId xmlns:a16="http://schemas.microsoft.com/office/drawing/2014/main" id="{B9CF2B8A-3D6E-B84D-ABE8-4F6BE1F9524E}"/>
              </a:ext>
            </a:extLst>
          </p:cNvPr>
          <p:cNvSpPr/>
          <p:nvPr/>
        </p:nvSpPr>
        <p:spPr>
          <a:xfrm>
            <a:off x="198308" y="602258"/>
            <a:ext cx="360000" cy="360000"/>
          </a:xfrm>
          <a:prstGeom prst="ellipse">
            <a:avLst/>
          </a:prstGeom>
          <a:solidFill>
            <a:srgbClr val="3333B2"/>
          </a:solidFill>
          <a:ln>
            <a:solidFill>
              <a:srgbClr val="3333B2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8" name="État de l’art">
            <a:extLst>
              <a:ext uri="{FF2B5EF4-FFF2-40B4-BE49-F238E27FC236}">
                <a16:creationId xmlns:a16="http://schemas.microsoft.com/office/drawing/2014/main" id="{E4500153-1234-6846-A6EA-E639AA4EEFEA}"/>
              </a:ext>
            </a:extLst>
          </p:cNvPr>
          <p:cNvSpPr txBox="1"/>
          <p:nvPr/>
        </p:nvSpPr>
        <p:spPr>
          <a:xfrm>
            <a:off x="730727" y="569656"/>
            <a:ext cx="8907751" cy="5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algn="l">
              <a:lnSpc>
                <a:spcPct val="80000"/>
              </a:lnSpc>
              <a:spcBef>
                <a:spcPts val="4200"/>
              </a:spcBef>
              <a:defRPr sz="3500" b="1">
                <a:solidFill>
                  <a:srgbClr val="FF260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fr-FR" sz="2800" dirty="0"/>
              <a:t>Typologie selon l’approche technique</a:t>
            </a:r>
            <a:endParaRPr lang="fr-FR" sz="2800" dirty="0">
              <a:latin typeface="CMU Sans Serif Medium" panose="02000603000000000000" pitchFamily="2" charset="0"/>
              <a:ea typeface="CMU Sans Serif Medium" panose="02000603000000000000" pitchFamily="2" charset="0"/>
              <a:cs typeface="CMU Sans Serif Medium" panose="02000603000000000000" pitchFamily="2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38A3C17-C801-F24C-B98D-7373ECDD91D5}"/>
              </a:ext>
            </a:extLst>
          </p:cNvPr>
          <p:cNvSpPr txBox="1"/>
          <p:nvPr/>
        </p:nvSpPr>
        <p:spPr>
          <a:xfrm>
            <a:off x="4584526" y="14154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E4EFCB9-7C2E-E741-A595-2B6768983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539" y="1032598"/>
            <a:ext cx="8712200" cy="5511800"/>
          </a:xfrm>
          <a:prstGeom prst="rect">
            <a:avLst/>
          </a:prstGeom>
        </p:spPr>
      </p:pic>
      <p:sp>
        <p:nvSpPr>
          <p:cNvPr id="7" name="ZoneTexte 5">
            <a:extLst>
              <a:ext uri="{FF2B5EF4-FFF2-40B4-BE49-F238E27FC236}">
                <a16:creationId xmlns:a16="http://schemas.microsoft.com/office/drawing/2014/main" id="{DA6A0ABF-7BEC-B94B-B142-F0944A62FE79}"/>
              </a:ext>
            </a:extLst>
          </p:cNvPr>
          <p:cNvSpPr txBox="1"/>
          <p:nvPr/>
        </p:nvSpPr>
        <p:spPr>
          <a:xfrm>
            <a:off x="48008" y="0"/>
            <a:ext cx="769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Chapitre 1 ▷</a:t>
            </a:r>
            <a:r>
              <a:rPr lang="fr-FR" sz="24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Introduction et historique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▷</a:t>
            </a:r>
            <a:r>
              <a:rPr lang="fr-FR" sz="2300" b="1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 </a:t>
            </a:r>
            <a:r>
              <a:rPr lang="fr-FR" sz="2300" b="1" dirty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Origine de l’IA</a:t>
            </a:r>
          </a:p>
        </p:txBody>
      </p:sp>
    </p:spTree>
    <p:extLst>
      <p:ext uri="{BB962C8B-B14F-4D97-AF65-F5344CB8AC3E}">
        <p14:creationId xmlns:p14="http://schemas.microsoft.com/office/powerpoint/2010/main" val="20299812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38A3C17-C801-F24C-B98D-7373ECDD91D5}"/>
              </a:ext>
            </a:extLst>
          </p:cNvPr>
          <p:cNvSpPr txBox="1"/>
          <p:nvPr/>
        </p:nvSpPr>
        <p:spPr>
          <a:xfrm>
            <a:off x="4584526" y="141544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37B004B-6DF1-DE44-91CB-5B408931167B}"/>
              </a:ext>
            </a:extLst>
          </p:cNvPr>
          <p:cNvSpPr txBox="1"/>
          <p:nvPr/>
        </p:nvSpPr>
        <p:spPr>
          <a:xfrm>
            <a:off x="1931237" y="2927781"/>
            <a:ext cx="83295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5400" b="1" dirty="0">
                <a:solidFill>
                  <a:srgbClr val="FF0000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rPr>
              <a:t>Merci pour votre attention! </a:t>
            </a:r>
          </a:p>
        </p:txBody>
      </p:sp>
    </p:spTree>
    <p:extLst>
      <p:ext uri="{BB962C8B-B14F-4D97-AF65-F5344CB8AC3E}">
        <p14:creationId xmlns:p14="http://schemas.microsoft.com/office/powerpoint/2010/main" val="6533703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28629</TotalTime>
  <Words>4696</Words>
  <Application>Microsoft Macintosh PowerPoint</Application>
  <PresentationFormat>Widescreen</PresentationFormat>
  <Paragraphs>674</Paragraphs>
  <Slides>65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4" baseType="lpstr">
      <vt:lpstr>Arial</vt:lpstr>
      <vt:lpstr>Calibri</vt:lpstr>
      <vt:lpstr>CMU Sans Serif</vt:lpstr>
      <vt:lpstr>CMU Sans Serif Medium</vt:lpstr>
      <vt:lpstr>CMU Serif</vt:lpstr>
      <vt:lpstr>CMU Serif Roman</vt:lpstr>
      <vt:lpstr>Helvetica</vt:lpstr>
      <vt:lpstr>Times New Roman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Cédric BERE</dc:creator>
  <cp:lastModifiedBy>Microsoft Office User</cp:lastModifiedBy>
  <cp:revision>1019</cp:revision>
  <cp:lastPrinted>2025-06-17T12:10:32Z</cp:lastPrinted>
  <dcterms:created xsi:type="dcterms:W3CDTF">2024-12-26T06:27:52Z</dcterms:created>
  <dcterms:modified xsi:type="dcterms:W3CDTF">2026-05-12T17:01:22Z</dcterms:modified>
</cp:coreProperties>
</file>