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4"/>
  </p:notesMasterIdLst>
  <p:handoutMasterIdLst>
    <p:handoutMasterId r:id="rId25"/>
  </p:handoutMasterIdLst>
  <p:sldIdLst>
    <p:sldId id="256" r:id="rId2"/>
    <p:sldId id="327" r:id="rId3"/>
    <p:sldId id="259" r:id="rId4"/>
    <p:sldId id="313" r:id="rId5"/>
    <p:sldId id="261" r:id="rId6"/>
    <p:sldId id="262" r:id="rId7"/>
    <p:sldId id="329" r:id="rId8"/>
    <p:sldId id="314" r:id="rId9"/>
    <p:sldId id="355" r:id="rId10"/>
    <p:sldId id="322" r:id="rId11"/>
    <p:sldId id="353" r:id="rId12"/>
    <p:sldId id="356" r:id="rId13"/>
    <p:sldId id="345" r:id="rId14"/>
    <p:sldId id="354" r:id="rId15"/>
    <p:sldId id="309" r:id="rId16"/>
    <p:sldId id="358" r:id="rId17"/>
    <p:sldId id="359" r:id="rId18"/>
    <p:sldId id="330" r:id="rId19"/>
    <p:sldId id="266" r:id="rId20"/>
    <p:sldId id="360" r:id="rId21"/>
    <p:sldId id="361" r:id="rId22"/>
    <p:sldId id="30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71EC91D-D66E-4C9A-A978-8B6A89BF7B21}">
          <p14:sldIdLst>
            <p14:sldId id="256"/>
            <p14:sldId id="327"/>
            <p14:sldId id="259"/>
          </p14:sldIdLst>
        </p14:section>
        <p14:section name="Section sans titre" id="{E8D61181-EE41-4C46-8407-FA1FD1BC0609}">
          <p14:sldIdLst>
            <p14:sldId id="313"/>
            <p14:sldId id="261"/>
            <p14:sldId id="262"/>
            <p14:sldId id="329"/>
            <p14:sldId id="314"/>
            <p14:sldId id="355"/>
            <p14:sldId id="322"/>
            <p14:sldId id="353"/>
            <p14:sldId id="356"/>
            <p14:sldId id="345"/>
            <p14:sldId id="354"/>
            <p14:sldId id="309"/>
            <p14:sldId id="358"/>
            <p14:sldId id="359"/>
            <p14:sldId id="330"/>
            <p14:sldId id="266"/>
            <p14:sldId id="360"/>
            <p14:sldId id="361"/>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9406" autoAdjust="0"/>
  </p:normalViewPr>
  <p:slideViewPr>
    <p:cSldViewPr snapToGrid="0">
      <p:cViewPr varScale="1">
        <p:scale>
          <a:sx n="59" d="100"/>
          <a:sy n="59" d="100"/>
        </p:scale>
        <p:origin x="1618" y="58"/>
      </p:cViewPr>
      <p:guideLst/>
    </p:cSldViewPr>
  </p:slideViewPr>
  <p:notesTextViewPr>
    <p:cViewPr>
      <p:scale>
        <a:sx n="1" d="1"/>
        <a:sy n="1" d="1"/>
      </p:scale>
      <p:origin x="0" y="0"/>
    </p:cViewPr>
  </p:notesTextViewPr>
  <p:notesViewPr>
    <p:cSldViewPr snapToGrid="0">
      <p:cViewPr varScale="1">
        <p:scale>
          <a:sx n="56" d="100"/>
          <a:sy n="56" d="100"/>
        </p:scale>
        <p:origin x="285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0648CBE-4BA2-4B22-90CF-886B3CF732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0E1838BF-AA82-41AD-9AAB-6973EB326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9636EA-8A2C-4361-8703-C687B970DDF8}" type="datetimeFigureOut">
              <a:rPr lang="fr-FR" smtClean="0"/>
              <a:t>22/04/2024</a:t>
            </a:fld>
            <a:endParaRPr lang="fr-FR"/>
          </a:p>
        </p:txBody>
      </p:sp>
      <p:sp>
        <p:nvSpPr>
          <p:cNvPr id="4" name="Espace réservé du pied de page 3">
            <a:extLst>
              <a:ext uri="{FF2B5EF4-FFF2-40B4-BE49-F238E27FC236}">
                <a16:creationId xmlns:a16="http://schemas.microsoft.com/office/drawing/2014/main" id="{9CE6ED29-B2BE-4E82-9B98-2B244D568C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A0189CD0-71F6-4A88-8081-B1DABEEA89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F6962D-F1A8-4229-9D0D-D0FD33773CB5}" type="slidenum">
              <a:rPr lang="fr-FR" smtClean="0"/>
              <a:t>‹N°›</a:t>
            </a:fld>
            <a:endParaRPr lang="fr-FR"/>
          </a:p>
        </p:txBody>
      </p:sp>
    </p:spTree>
    <p:extLst>
      <p:ext uri="{BB962C8B-B14F-4D97-AF65-F5344CB8AC3E}">
        <p14:creationId xmlns:p14="http://schemas.microsoft.com/office/powerpoint/2010/main" val="231298357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2AEE5-96F3-40A2-A620-1A7D9C7D6254}" type="datetimeFigureOut">
              <a:rPr lang="fr-FR" smtClean="0"/>
              <a:t>22/04/2024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73C04B-8240-4A6D-AA19-A5E7FFEC1CCB}" type="slidenum">
              <a:rPr lang="fr-FR" smtClean="0"/>
              <a:t>‹N°›</a:t>
            </a:fld>
            <a:endParaRPr lang="fr-FR"/>
          </a:p>
        </p:txBody>
      </p:sp>
    </p:spTree>
    <p:extLst>
      <p:ext uri="{BB962C8B-B14F-4D97-AF65-F5344CB8AC3E}">
        <p14:creationId xmlns:p14="http://schemas.microsoft.com/office/powerpoint/2010/main" val="27835850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525814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162662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993868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3281008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523DE-B5C3-3A83-5F3A-22DF634D24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909500-5C21-2D9E-5B38-2D615231276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A137E7-C719-7182-0DB1-85290BD63971}"/>
              </a:ext>
            </a:extLst>
          </p:cNvPr>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1825374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718488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639376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3B47D-4E70-EDB1-3742-E0861AED89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A2C68D-6004-6A26-9E28-457F5E15EE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B9D5ED9-6C1F-12A3-497C-A35B2119A74F}"/>
              </a:ext>
            </a:extLst>
          </p:cNvPr>
          <p:cNvSpPr>
            <a:spLocks noGrp="1"/>
          </p:cNvSpPr>
          <p:nvPr>
            <p:ph type="body" idx="1"/>
          </p:nvPr>
        </p:nvSpPr>
        <p:spPr/>
        <p:txBody>
          <a:bodyPr/>
          <a:lstStyle/>
          <a:p>
            <a:pPr marL="190500" indent="-6350" algn="just">
              <a:lnSpc>
                <a:spcPct val="110000"/>
              </a:lnSpc>
              <a:spcAft>
                <a:spcPts val="25"/>
              </a:spcAft>
            </a:pPr>
            <a:r>
              <a:rPr lang="fr-FR" sz="1200" u="sng" dirty="0">
                <a:solidFill>
                  <a:srgbClr val="404040"/>
                </a:solidFill>
                <a:effectLst/>
                <a:uFill>
                  <a:solidFill>
                    <a:srgbClr val="404040"/>
                  </a:solidFill>
                </a:uFill>
                <a:latin typeface="Comic Sans MS" panose="030F0702030302020204" pitchFamily="66" charset="0"/>
                <a:ea typeface="Comic Sans MS" panose="030F0702030302020204" pitchFamily="66" charset="0"/>
                <a:cs typeface="Comic Sans MS" panose="030F0702030302020204" pitchFamily="66" charset="0"/>
              </a:rPr>
              <a:t>expérimenté :</a:t>
            </a: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a:t>
            </a:r>
            <a:endParaRPr lang="fr-FR" sz="1200" dirty="0">
              <a:solidFill>
                <a:srgbClr val="000000"/>
              </a:solidFill>
              <a:effectLst/>
              <a:latin typeface="Calibri" panose="020F0502020204030204" pitchFamily="34" charset="0"/>
              <a:ea typeface="Calibri" panose="020F0502020204030204" pitchFamily="34" charset="0"/>
            </a:endParaRPr>
          </a:p>
          <a:p>
            <a:pPr marL="920750" indent="6350" algn="just">
              <a:lnSpc>
                <a:spcPct val="110000"/>
              </a:lnSpc>
              <a:spcAft>
                <a:spcPts val="25"/>
              </a:spcAft>
            </a:pP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1 faute / 10 lignes de code</a:t>
            </a:r>
            <a:endParaRPr lang="fr-FR" sz="1200" dirty="0">
              <a:solidFill>
                <a:srgbClr val="000000"/>
              </a:solidFill>
              <a:effectLst/>
              <a:latin typeface="Calibri" panose="020F0502020204030204" pitchFamily="34" charset="0"/>
              <a:ea typeface="Calibri" panose="020F0502020204030204" pitchFamily="34" charset="0"/>
            </a:endParaRPr>
          </a:p>
          <a:p>
            <a:pPr marL="920750" indent="6350" algn="just">
              <a:lnSpc>
                <a:spcPct val="110000"/>
              </a:lnSpc>
              <a:spcAft>
                <a:spcPts val="25"/>
              </a:spcAft>
            </a:pP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163 fautes / 1000 instructions</a:t>
            </a:r>
            <a:endParaRPr lang="fr-FR" sz="1200" dirty="0">
              <a:solidFill>
                <a:srgbClr val="000000"/>
              </a:solidFill>
              <a:effectLst/>
              <a:latin typeface="Calibri" panose="020F0502020204030204" pitchFamily="34" charset="0"/>
              <a:ea typeface="Comic Sans MS" panose="030F0702030302020204" pitchFamily="66" charset="0"/>
              <a:cs typeface="+mn-cs"/>
            </a:endParaRPr>
          </a:p>
          <a:p>
            <a:pPr marL="920750" indent="6350" algn="just">
              <a:lnSpc>
                <a:spcPct val="110000"/>
              </a:lnSpc>
              <a:spcAft>
                <a:spcPts val="25"/>
              </a:spcAft>
            </a:pP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[B. </a:t>
            </a:r>
            <a:r>
              <a:rPr lang="fr-FR" sz="1200" dirty="0" err="1">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Beizer</a:t>
            </a: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Software </a:t>
            </a:r>
            <a:r>
              <a:rPr lang="fr-FR" sz="1200" dirty="0" err="1">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TestingTechniques</a:t>
            </a: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1990]</a:t>
            </a:r>
            <a:endParaRPr lang="fr-FR" sz="1200" dirty="0">
              <a:solidFill>
                <a:srgbClr val="000000"/>
              </a:solidFill>
              <a:effectLst/>
              <a:latin typeface="Calibri" panose="020F0502020204030204" pitchFamily="34" charset="0"/>
              <a:ea typeface="Calibri" panose="020F0502020204030204" pitchFamily="34" charset="0"/>
            </a:endParaRPr>
          </a:p>
          <a:p>
            <a:endParaRPr lang="fr-FR" dirty="0"/>
          </a:p>
        </p:txBody>
      </p:sp>
    </p:spTree>
    <p:extLst>
      <p:ext uri="{BB962C8B-B14F-4D97-AF65-F5344CB8AC3E}">
        <p14:creationId xmlns:p14="http://schemas.microsoft.com/office/powerpoint/2010/main" val="1806434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6F7C5-C417-B6D5-6583-4941B604A10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8BD43F-3DF1-4C1E-8327-B32A3359F68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570397-7256-2168-2F7D-18BA9F0E443C}"/>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240276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F" dirty="0"/>
          </a:p>
        </p:txBody>
      </p:sp>
    </p:spTree>
    <p:extLst>
      <p:ext uri="{BB962C8B-B14F-4D97-AF65-F5344CB8AC3E}">
        <p14:creationId xmlns:p14="http://schemas.microsoft.com/office/powerpoint/2010/main" val="1652625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62AEE-6B67-BD19-EFD8-07B63259E61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601228-CCB9-AB03-999E-C981DABB1ED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AC9A7F-3715-4277-2746-3EB634E7A736}"/>
              </a:ext>
            </a:extLst>
          </p:cNvPr>
          <p:cNvSpPr>
            <a:spLocks noGrp="1"/>
          </p:cNvSpPr>
          <p:nvPr>
            <p:ph type="body" idx="1"/>
          </p:nvPr>
        </p:nvSpPr>
        <p:spPr/>
        <p:txBody>
          <a:bodyPr/>
          <a:lstStyle/>
          <a:p>
            <a:endParaRPr lang="fr-BF" dirty="0"/>
          </a:p>
        </p:txBody>
      </p:sp>
    </p:spTree>
    <p:extLst>
      <p:ext uri="{BB962C8B-B14F-4D97-AF65-F5344CB8AC3E}">
        <p14:creationId xmlns:p14="http://schemas.microsoft.com/office/powerpoint/2010/main" val="4179064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E6BABD0-F57F-4D75-BDCC-448D8CCB5F68}" type="datetime1">
              <a:rPr lang="fr-FR" smtClean="0"/>
              <a:t>22/04/2024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Introduction aux tests logiciel</a:t>
            </a:r>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D3B931-9129-4A7A-A0E5-2F157860785B}" type="datetime1">
              <a:rPr lang="fr-FR" smtClean="0"/>
              <a:t>22/04/2024</a:t>
            </a:fld>
            <a:endParaRPr lang="en-US" dirty="0"/>
          </a:p>
        </p:txBody>
      </p:sp>
      <p:sp>
        <p:nvSpPr>
          <p:cNvPr id="5" name="Footer Placeholder 4"/>
          <p:cNvSpPr>
            <a:spLocks noGrp="1"/>
          </p:cNvSpPr>
          <p:nvPr>
            <p:ph type="ftr" sz="quarter" idx="11"/>
          </p:nvPr>
        </p:nvSpPr>
        <p:spPr/>
        <p:txBody>
          <a:bodyPr/>
          <a:lstStyle/>
          <a:p>
            <a:r>
              <a:rPr lang="en-US"/>
              <a:t>Introduction aux tests logiciel</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93AEACA-C29A-4ECB-9B11-CE3350B76A74}" type="datetime1">
              <a:rPr lang="fr-FR" smtClean="0"/>
              <a:t>22/04/2024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Introduction aux tests logiciel</a:t>
            </a:r>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EC964CA-F58A-4274-BAE5-5A9E731DE34C}" type="datetime1">
              <a:rPr lang="fr-FR" smtClean="0"/>
              <a:t>22/04/2024</a:t>
            </a:fld>
            <a:endParaRPr lang="en-US" dirty="0"/>
          </a:p>
        </p:txBody>
      </p:sp>
      <p:sp>
        <p:nvSpPr>
          <p:cNvPr id="6" name="Footer Placeholder 5"/>
          <p:cNvSpPr>
            <a:spLocks noGrp="1"/>
          </p:cNvSpPr>
          <p:nvPr>
            <p:ph type="ftr" sz="quarter" idx="11"/>
          </p:nvPr>
        </p:nvSpPr>
        <p:spPr/>
        <p:txBody>
          <a:bodyPr/>
          <a:lstStyle/>
          <a:p>
            <a:r>
              <a:rPr lang="en-US"/>
              <a:t>Introduction aux tests logiciel</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0FB225D-EA7E-4091-848A-BA8E8139B2FF}" type="datetime1">
              <a:rPr lang="fr-FR" smtClean="0"/>
              <a:t>22/04/2024</a:t>
            </a:fld>
            <a:endParaRPr lang="en-US" dirty="0"/>
          </a:p>
        </p:txBody>
      </p:sp>
      <p:sp>
        <p:nvSpPr>
          <p:cNvPr id="8" name="Footer Placeholder 7"/>
          <p:cNvSpPr>
            <a:spLocks noGrp="1"/>
          </p:cNvSpPr>
          <p:nvPr>
            <p:ph type="ftr" sz="quarter" idx="11"/>
          </p:nvPr>
        </p:nvSpPr>
        <p:spPr/>
        <p:txBody>
          <a:bodyPr/>
          <a:lstStyle/>
          <a:p>
            <a:r>
              <a:rPr lang="en-US"/>
              <a:t>Introduction aux tests logiciel</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8297031-E994-45D8-997B-D4672254447E}" type="datetime1">
              <a:rPr lang="fr-FR" smtClean="0"/>
              <a:t>22/04/2024</a:t>
            </a:fld>
            <a:endParaRPr lang="en-US" dirty="0"/>
          </a:p>
        </p:txBody>
      </p:sp>
      <p:sp>
        <p:nvSpPr>
          <p:cNvPr id="4" name="Footer Placeholder 3"/>
          <p:cNvSpPr>
            <a:spLocks noGrp="1"/>
          </p:cNvSpPr>
          <p:nvPr>
            <p:ph type="ftr" sz="quarter" idx="11"/>
          </p:nvPr>
        </p:nvSpPr>
        <p:spPr/>
        <p:txBody>
          <a:bodyPr/>
          <a:lstStyle/>
          <a:p>
            <a:r>
              <a:rPr lang="en-US"/>
              <a:t>Introduction aux tests logiciel</a:t>
            </a: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93AD7-4E1B-47E2-914E-A5FF7C56CEBC}" type="datetime1">
              <a:rPr lang="fr-FR" smtClean="0"/>
              <a:t>22/04/2024</a:t>
            </a:fld>
            <a:endParaRPr lang="en-US" dirty="0"/>
          </a:p>
        </p:txBody>
      </p:sp>
      <p:sp>
        <p:nvSpPr>
          <p:cNvPr id="3" name="Footer Placeholder 2"/>
          <p:cNvSpPr>
            <a:spLocks noGrp="1"/>
          </p:cNvSpPr>
          <p:nvPr>
            <p:ph type="ftr" sz="quarter" idx="11"/>
          </p:nvPr>
        </p:nvSpPr>
        <p:spPr/>
        <p:txBody>
          <a:bodyPr/>
          <a:lstStyle/>
          <a:p>
            <a:r>
              <a:rPr lang="en-US"/>
              <a:t>Introduction aux tests logiciel</a:t>
            </a: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86B4172-5555-4BDD-9A62-D966A1E3B3A9}" type="datetime1">
              <a:rPr lang="fr-FR" smtClean="0"/>
              <a:t>22/04/2024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Introduction aux tests logiciel</a:t>
            </a:r>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E5560D4-AE9A-46EC-812F-3530B967EF72}" type="datetime1">
              <a:rPr lang="fr-FR" smtClean="0"/>
              <a:t>22/04/2024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Introduction aux tests logiciel</a:t>
            </a:r>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26B7FE2-28C0-43A5-B316-18EE18F218F6}" type="datetime1">
              <a:rPr lang="fr-FR" smtClean="0"/>
              <a:t>22/04/2024</a:t>
            </a:fld>
            <a:endParaRPr lang="en-US" dirty="0"/>
          </a:p>
        </p:txBody>
      </p:sp>
      <p:sp>
        <p:nvSpPr>
          <p:cNvPr id="5" name="Footer Placeholder 4"/>
          <p:cNvSpPr>
            <a:spLocks noGrp="1"/>
          </p:cNvSpPr>
          <p:nvPr>
            <p:ph type="ftr" sz="quarter" idx="11"/>
          </p:nvPr>
        </p:nvSpPr>
        <p:spPr/>
        <p:txBody>
          <a:bodyPr/>
          <a:lstStyle/>
          <a:p>
            <a:r>
              <a:rPr lang="en-US"/>
              <a:t>Introduction aux tests logiciel</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ABE0642-A7D4-443B-B00A-678F34BB41BF}" type="datetime1">
              <a:rPr lang="fr-FR" smtClean="0"/>
              <a:t>22/04/2024</a:t>
            </a:fld>
            <a:endParaRPr lang="en-US" dirty="0"/>
          </a:p>
        </p:txBody>
      </p:sp>
      <p:sp>
        <p:nvSpPr>
          <p:cNvPr id="5" name="Footer Placeholder 4"/>
          <p:cNvSpPr>
            <a:spLocks noGrp="1"/>
          </p:cNvSpPr>
          <p:nvPr>
            <p:ph type="ftr" sz="quarter" idx="11"/>
          </p:nvPr>
        </p:nvSpPr>
        <p:spPr/>
        <p:txBody>
          <a:bodyPr/>
          <a:lstStyle/>
          <a:p>
            <a:r>
              <a:rPr lang="en-US"/>
              <a:t>Introduction aux tests logiciel</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6B02D636-D894-4BA6-A68E-E8B9B8B14710}" type="datetime1">
              <a:rPr lang="fr-FR" smtClean="0"/>
              <a:t>22/04/2024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Introduction aux tests logiciel</a:t>
            </a:r>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298985A-370B-4DE8-84FA-F4C384D4EA37}"/>
              </a:ext>
            </a:extLst>
          </p:cNvPr>
          <p:cNvSpPr txBox="1"/>
          <p:nvPr/>
        </p:nvSpPr>
        <p:spPr>
          <a:xfrm>
            <a:off x="3074830" y="2589127"/>
            <a:ext cx="7493021" cy="933076"/>
          </a:xfrm>
          <a:prstGeom prst="rect">
            <a:avLst/>
          </a:prstGeom>
          <a:noFill/>
        </p:spPr>
        <p:txBody>
          <a:bodyPr wrap="square">
            <a:spAutoFit/>
          </a:bodyPr>
          <a:lstStyle/>
          <a:p>
            <a:pPr marL="1725295" indent="-1987550">
              <a:lnSpc>
                <a:spcPct val="107000"/>
              </a:lnSpc>
            </a:pPr>
            <a:r>
              <a:rPr lang="fr-FR" sz="5400" b="1" kern="0" dirty="0">
                <a:solidFill>
                  <a:srgbClr val="252525"/>
                </a:solidFill>
                <a:effectLst/>
                <a:latin typeface="Comic Sans MS" panose="030F0702030302020204" pitchFamily="66" charset="0"/>
                <a:ea typeface="Comic Sans MS" panose="030F0702030302020204" pitchFamily="66" charset="0"/>
                <a:cs typeface="Comic Sans MS" panose="030F0702030302020204" pitchFamily="66" charset="0"/>
              </a:rPr>
              <a:t>CAHIER DE CHARGE</a:t>
            </a:r>
          </a:p>
        </p:txBody>
      </p:sp>
      <p:sp>
        <p:nvSpPr>
          <p:cNvPr id="7" name="ZoneTexte 6">
            <a:extLst>
              <a:ext uri="{FF2B5EF4-FFF2-40B4-BE49-F238E27FC236}">
                <a16:creationId xmlns:a16="http://schemas.microsoft.com/office/drawing/2014/main" id="{50A313E5-611A-4708-8357-2FBAE958E69B}"/>
              </a:ext>
            </a:extLst>
          </p:cNvPr>
          <p:cNvSpPr txBox="1"/>
          <p:nvPr/>
        </p:nvSpPr>
        <p:spPr>
          <a:xfrm>
            <a:off x="2437755" y="5251078"/>
            <a:ext cx="4367994" cy="406330"/>
          </a:xfrm>
          <a:prstGeom prst="rect">
            <a:avLst/>
          </a:prstGeom>
          <a:noFill/>
        </p:spPr>
        <p:txBody>
          <a:bodyPr wrap="square">
            <a:spAutoFit/>
          </a:bodyPr>
          <a:lstStyle/>
          <a:p>
            <a:pPr algn="ctr">
              <a:lnSpc>
                <a:spcPct val="107000"/>
              </a:lnSpc>
              <a:spcAft>
                <a:spcPts val="800"/>
              </a:spcAft>
            </a:pPr>
            <a:r>
              <a:rPr lang="fr-FR" sz="2000" b="1" dirty="0">
                <a:solidFill>
                  <a:srgbClr val="696464"/>
                </a:solidFill>
                <a:effectLst/>
                <a:latin typeface="Comic Sans MS" panose="030F0702030302020204" pitchFamily="66" charset="0"/>
                <a:ea typeface="Comic Sans MS" panose="030F0702030302020204" pitchFamily="66" charset="0"/>
                <a:cs typeface="Comic Sans MS" panose="030F0702030302020204" pitchFamily="66" charset="0"/>
              </a:rPr>
              <a:t>Issoufou NIKIEMA/Dr SABANE</a:t>
            </a:r>
            <a:endParaRPr lang="fr-FR" sz="1200" b="1"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748699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1" name="ZoneTexte 10">
            <a:extLst>
              <a:ext uri="{FF2B5EF4-FFF2-40B4-BE49-F238E27FC236}">
                <a16:creationId xmlns:a16="http://schemas.microsoft.com/office/drawing/2014/main" id="{C699CDC9-9568-4137-8A38-2B25DC680F6F}"/>
              </a:ext>
            </a:extLst>
          </p:cNvPr>
          <p:cNvSpPr txBox="1"/>
          <p:nvPr/>
        </p:nvSpPr>
        <p:spPr>
          <a:xfrm>
            <a:off x="1485498" y="1816158"/>
            <a:ext cx="10706501"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
                <a:srgbClr val="F08F3E"/>
              </a:buClr>
              <a:buSzTx/>
              <a:buFontTx/>
              <a:buNone/>
              <a:tabLst/>
              <a:defRPr/>
            </a:pPr>
            <a:r>
              <a:rPr kumimoji="0" lang="fr-FR" sz="4400" b="1" i="0" u="none" strike="noStrike" kern="1200" cap="none" spc="0" normalizeH="0" baseline="0" noProof="0" dirty="0">
                <a:ln>
                  <a:noFill/>
                </a:ln>
                <a:solidFill>
                  <a:srgbClr val="841A14"/>
                </a:solidFill>
                <a:effectLst/>
                <a:uLnTx/>
                <a:uFillTx/>
                <a:latin typeface="Comic Sans MS" panose="030F0702030302020204" pitchFamily="66" charset="0"/>
                <a:ea typeface="+mn-ea"/>
                <a:cs typeface="+mn-cs"/>
              </a:rPr>
              <a:t>REDACTION DE CAHIER DE CHARGE</a:t>
            </a:r>
            <a:endParaRPr lang="fr-FR" sz="4400" b="1" dirty="0">
              <a:solidFill>
                <a:srgbClr val="841A14"/>
              </a:solidFill>
              <a:latin typeface="Comic Sans MS" panose="030F0702030302020204" pitchFamily="66" charset="0"/>
            </a:endParaRPr>
          </a:p>
        </p:txBody>
      </p:sp>
      <p:grpSp>
        <p:nvGrpSpPr>
          <p:cNvPr id="24" name="Group 10874">
            <a:extLst>
              <a:ext uri="{FF2B5EF4-FFF2-40B4-BE49-F238E27FC236}">
                <a16:creationId xmlns:a16="http://schemas.microsoft.com/office/drawing/2014/main" id="{28EB5E96-AB81-4F35-9561-F0C722E9B970}"/>
              </a:ext>
            </a:extLst>
          </p:cNvPr>
          <p:cNvGrpSpPr/>
          <p:nvPr/>
        </p:nvGrpSpPr>
        <p:grpSpPr>
          <a:xfrm>
            <a:off x="1823599" y="4414168"/>
            <a:ext cx="8035290" cy="0"/>
            <a:chOff x="0" y="0"/>
            <a:chExt cx="8035862" cy="1"/>
          </a:xfrm>
        </p:grpSpPr>
        <p:sp>
          <p:nvSpPr>
            <p:cNvPr id="25" name="Shape 38">
              <a:extLst>
                <a:ext uri="{FF2B5EF4-FFF2-40B4-BE49-F238E27FC236}">
                  <a16:creationId xmlns:a16="http://schemas.microsoft.com/office/drawing/2014/main" id="{7AE34342-C330-42AF-B509-871B69752D84}"/>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grpSp>
      <p:sp>
        <p:nvSpPr>
          <p:cNvPr id="5" name="Espace réservé du numéro de diapositive 4">
            <a:extLst>
              <a:ext uri="{FF2B5EF4-FFF2-40B4-BE49-F238E27FC236}">
                <a16:creationId xmlns:a16="http://schemas.microsoft.com/office/drawing/2014/main" id="{DC0508E6-54B0-45ED-9752-EA356587696A}"/>
              </a:ext>
            </a:extLst>
          </p:cNvPr>
          <p:cNvSpPr>
            <a:spLocks noGrp="1"/>
          </p:cNvSpPr>
          <p:nvPr>
            <p:ph type="sldNum" sz="quarter" idx="12"/>
          </p:nvPr>
        </p:nvSpPr>
        <p:spPr/>
        <p:txBody>
          <a:bodyPr/>
          <a:lstStyle/>
          <a:p>
            <a:fld id="{69E57DC2-970A-4B3E-BB1C-7A09969E49DF}" type="slidenum">
              <a:rPr lang="en-US" smtClean="0"/>
              <a:t>2</a:t>
            </a:fld>
            <a:endParaRPr lang="en-US" dirty="0"/>
          </a:p>
        </p:txBody>
      </p:sp>
      <p:sp>
        <p:nvSpPr>
          <p:cNvPr id="3" name="Espace réservé du pied de page 2">
            <a:extLst>
              <a:ext uri="{FF2B5EF4-FFF2-40B4-BE49-F238E27FC236}">
                <a16:creationId xmlns:a16="http://schemas.microsoft.com/office/drawing/2014/main" id="{8F247E97-478D-456B-B6B0-36A8511B603A}"/>
              </a:ext>
            </a:extLst>
          </p:cNvPr>
          <p:cNvSpPr>
            <a:spLocks noGrp="1"/>
          </p:cNvSpPr>
          <p:nvPr>
            <p:ph type="ftr" sz="quarter" idx="11"/>
          </p:nvPr>
        </p:nvSpPr>
        <p:spPr/>
        <p:txBody>
          <a:bodyPr/>
          <a:lstStyle/>
          <a:p>
            <a:r>
              <a:rPr lang="en-US" dirty="0" err="1"/>
              <a:t>Génie</a:t>
            </a:r>
            <a:r>
              <a:rPr lang="en-US" dirty="0"/>
              <a:t> </a:t>
            </a:r>
            <a:r>
              <a:rPr lang="en-US" dirty="0" err="1"/>
              <a:t>logiciel</a:t>
            </a:r>
            <a:endParaRPr lang="en-US" dirty="0"/>
          </a:p>
        </p:txBody>
      </p:sp>
    </p:spTree>
    <p:extLst>
      <p:ext uri="{BB962C8B-B14F-4D97-AF65-F5344CB8AC3E}">
        <p14:creationId xmlns:p14="http://schemas.microsoft.com/office/powerpoint/2010/main" val="2773467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12009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extLst>
              <p:ext uri="{D42A27DB-BD31-4B8C-83A1-F6EECF244321}">
                <p14:modId xmlns:p14="http://schemas.microsoft.com/office/powerpoint/2010/main" val="1501306345"/>
              </p:ext>
            </p:extLst>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4" name="ZoneTexte 13">
            <a:extLst>
              <a:ext uri="{FF2B5EF4-FFF2-40B4-BE49-F238E27FC236}">
                <a16:creationId xmlns:a16="http://schemas.microsoft.com/office/drawing/2014/main" id="{6086CC87-B770-4D8B-8C68-6BE3AA55C75F}"/>
              </a:ext>
            </a:extLst>
          </p:cNvPr>
          <p:cNvSpPr txBox="1"/>
          <p:nvPr/>
        </p:nvSpPr>
        <p:spPr>
          <a:xfrm>
            <a:off x="3048000" y="608858"/>
            <a:ext cx="6096000" cy="584775"/>
          </a:xfrm>
          <a:prstGeom prst="rect">
            <a:avLst/>
          </a:prstGeom>
          <a:noFill/>
        </p:spPr>
        <p:txBody>
          <a:bodyPr wrap="square">
            <a:spAutoFit/>
          </a:bodyPr>
          <a:lstStyle/>
          <a:p>
            <a:pPr algn="ctr"/>
            <a:r>
              <a:rPr lang="fr-FR" sz="32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Plan</a:t>
            </a:r>
            <a:endParaRPr lang="fr-FR" sz="3200" dirty="0"/>
          </a:p>
        </p:txBody>
      </p:sp>
      <p:sp>
        <p:nvSpPr>
          <p:cNvPr id="11" name="ZoneTexte 10">
            <a:extLst>
              <a:ext uri="{FF2B5EF4-FFF2-40B4-BE49-F238E27FC236}">
                <a16:creationId xmlns:a16="http://schemas.microsoft.com/office/drawing/2014/main" id="{831F3776-4083-4466-A698-30C897B4B269}"/>
              </a:ext>
            </a:extLst>
          </p:cNvPr>
          <p:cNvSpPr txBox="1"/>
          <p:nvPr/>
        </p:nvSpPr>
        <p:spPr>
          <a:xfrm>
            <a:off x="3179158" y="3617755"/>
            <a:ext cx="6096000" cy="461665"/>
          </a:xfrm>
          <a:prstGeom prst="rect">
            <a:avLst/>
          </a:prstGeom>
          <a:noFill/>
        </p:spPr>
        <p:txBody>
          <a:bodyPr wrap="square">
            <a:spAutoFit/>
          </a:bodyPr>
          <a:lstStyle/>
          <a:p>
            <a:pPr algn="l"/>
            <a:r>
              <a:rPr lang="fr-FR" sz="2400" dirty="0">
                <a:latin typeface="Comic Sans MS" panose="030F0702030302020204" pitchFamily="66" charset="0"/>
              </a:rPr>
              <a:t>Description fonctionnelle des besoin</a:t>
            </a:r>
          </a:p>
        </p:txBody>
      </p:sp>
      <p:sp>
        <p:nvSpPr>
          <p:cNvPr id="15" name="ZoneTexte 14">
            <a:extLst>
              <a:ext uri="{FF2B5EF4-FFF2-40B4-BE49-F238E27FC236}">
                <a16:creationId xmlns:a16="http://schemas.microsoft.com/office/drawing/2014/main" id="{C9E2AF56-4A0E-449F-8248-BBD3DF949E08}"/>
              </a:ext>
            </a:extLst>
          </p:cNvPr>
          <p:cNvSpPr txBox="1"/>
          <p:nvPr/>
        </p:nvSpPr>
        <p:spPr>
          <a:xfrm>
            <a:off x="3179158" y="1518345"/>
            <a:ext cx="7994373" cy="461665"/>
          </a:xfrm>
          <a:prstGeom prst="rect">
            <a:avLst/>
          </a:prstGeom>
          <a:noFill/>
        </p:spPr>
        <p:txBody>
          <a:bodyPr wrap="square">
            <a:spAutoFit/>
          </a:bodyPr>
          <a:lstStyle/>
          <a:p>
            <a:r>
              <a:rPr lang="fr-FR" sz="2400" dirty="0">
                <a:latin typeface="Comic Sans MS" panose="030F0702030302020204" pitchFamily="66" charset="0"/>
              </a:rPr>
              <a:t>Définitions du cahier de charge</a:t>
            </a:r>
          </a:p>
        </p:txBody>
      </p:sp>
      <p:sp>
        <p:nvSpPr>
          <p:cNvPr id="17" name="ZoneTexte 16">
            <a:extLst>
              <a:ext uri="{FF2B5EF4-FFF2-40B4-BE49-F238E27FC236}">
                <a16:creationId xmlns:a16="http://schemas.microsoft.com/office/drawing/2014/main" id="{BDF7072C-D03D-4E5D-BA18-C8AB4439D84C}"/>
              </a:ext>
            </a:extLst>
          </p:cNvPr>
          <p:cNvSpPr txBox="1"/>
          <p:nvPr/>
        </p:nvSpPr>
        <p:spPr>
          <a:xfrm>
            <a:off x="3179158" y="2131642"/>
            <a:ext cx="6096000" cy="461665"/>
          </a:xfrm>
          <a:prstGeom prst="rect">
            <a:avLst/>
          </a:prstGeom>
          <a:noFill/>
        </p:spPr>
        <p:txBody>
          <a:bodyPr wrap="square">
            <a:spAutoFit/>
          </a:bodyPr>
          <a:lstStyle/>
          <a:p>
            <a:pPr algn="l"/>
            <a:r>
              <a:rPr lang="fr-FR" sz="2400" dirty="0">
                <a:latin typeface="Comic Sans MS" panose="030F0702030302020204" pitchFamily="66" charset="0"/>
              </a:rPr>
              <a:t>Contexte et définition du projet</a:t>
            </a:r>
          </a:p>
        </p:txBody>
      </p:sp>
      <p:sp>
        <p:nvSpPr>
          <p:cNvPr id="5" name="Espace réservé du numéro de diapositive 4">
            <a:extLst>
              <a:ext uri="{FF2B5EF4-FFF2-40B4-BE49-F238E27FC236}">
                <a16:creationId xmlns:a16="http://schemas.microsoft.com/office/drawing/2014/main" id="{2003F47B-7CAE-436B-AD95-B3E4ACB18825}"/>
              </a:ext>
            </a:extLst>
          </p:cNvPr>
          <p:cNvSpPr>
            <a:spLocks noGrp="1"/>
          </p:cNvSpPr>
          <p:nvPr>
            <p:ph type="sldNum" sz="quarter" idx="12"/>
          </p:nvPr>
        </p:nvSpPr>
        <p:spPr/>
        <p:txBody>
          <a:bodyPr/>
          <a:lstStyle/>
          <a:p>
            <a:fld id="{69E57DC2-970A-4B3E-BB1C-7A09969E49DF}" type="slidenum">
              <a:rPr lang="en-US" smtClean="0"/>
              <a:t>3</a:t>
            </a:fld>
            <a:endParaRPr lang="en-US" dirty="0"/>
          </a:p>
        </p:txBody>
      </p:sp>
      <p:sp>
        <p:nvSpPr>
          <p:cNvPr id="3" name="Espace réservé du pied de page 2">
            <a:extLst>
              <a:ext uri="{FF2B5EF4-FFF2-40B4-BE49-F238E27FC236}">
                <a16:creationId xmlns:a16="http://schemas.microsoft.com/office/drawing/2014/main" id="{3C00D4A1-977A-433C-9180-E8E6AB0BB07A}"/>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
        <p:nvSpPr>
          <p:cNvPr id="16" name="ZoneTexte 15">
            <a:extLst>
              <a:ext uri="{FF2B5EF4-FFF2-40B4-BE49-F238E27FC236}">
                <a16:creationId xmlns:a16="http://schemas.microsoft.com/office/drawing/2014/main" id="{23628446-453D-4159-BEDA-1E229DC095BB}"/>
              </a:ext>
            </a:extLst>
          </p:cNvPr>
          <p:cNvSpPr txBox="1"/>
          <p:nvPr/>
        </p:nvSpPr>
        <p:spPr>
          <a:xfrm>
            <a:off x="3179158" y="2658266"/>
            <a:ext cx="6096000" cy="461665"/>
          </a:xfrm>
          <a:prstGeom prst="rect">
            <a:avLst/>
          </a:prstGeom>
          <a:noFill/>
        </p:spPr>
        <p:txBody>
          <a:bodyPr wrap="square">
            <a:spAutoFit/>
          </a:bodyPr>
          <a:lstStyle/>
          <a:p>
            <a:pPr algn="l"/>
            <a:r>
              <a:rPr lang="fr-FR" sz="2400" dirty="0">
                <a:latin typeface="Comic Sans MS" panose="030F0702030302020204" pitchFamily="66" charset="0"/>
              </a:rPr>
              <a:t>Objectif du projet</a:t>
            </a:r>
          </a:p>
        </p:txBody>
      </p:sp>
      <p:sp>
        <p:nvSpPr>
          <p:cNvPr id="20" name="ZoneTexte 19">
            <a:extLst>
              <a:ext uri="{FF2B5EF4-FFF2-40B4-BE49-F238E27FC236}">
                <a16:creationId xmlns:a16="http://schemas.microsoft.com/office/drawing/2014/main" id="{A9A404E2-1EBE-4007-A68B-DB4544E673E6}"/>
              </a:ext>
            </a:extLst>
          </p:cNvPr>
          <p:cNvSpPr txBox="1"/>
          <p:nvPr/>
        </p:nvSpPr>
        <p:spPr>
          <a:xfrm>
            <a:off x="3179158" y="3119168"/>
            <a:ext cx="6096000" cy="461665"/>
          </a:xfrm>
          <a:prstGeom prst="rect">
            <a:avLst/>
          </a:prstGeom>
          <a:noFill/>
        </p:spPr>
        <p:txBody>
          <a:bodyPr wrap="square">
            <a:spAutoFit/>
          </a:bodyPr>
          <a:lstStyle/>
          <a:p>
            <a:pPr algn="l"/>
            <a:r>
              <a:rPr lang="fr-FR" sz="2400" dirty="0">
                <a:latin typeface="Comic Sans MS" panose="030F0702030302020204" pitchFamily="66" charset="0"/>
              </a:rPr>
              <a:t>Périmètre du projet</a:t>
            </a:r>
          </a:p>
        </p:txBody>
      </p:sp>
      <p:sp>
        <p:nvSpPr>
          <p:cNvPr id="4" name="ZoneTexte 3">
            <a:extLst>
              <a:ext uri="{FF2B5EF4-FFF2-40B4-BE49-F238E27FC236}">
                <a16:creationId xmlns:a16="http://schemas.microsoft.com/office/drawing/2014/main" id="{982BDDFF-FB7D-D68C-77FE-54AFB2934EF3}"/>
              </a:ext>
            </a:extLst>
          </p:cNvPr>
          <p:cNvSpPr txBox="1"/>
          <p:nvPr/>
        </p:nvSpPr>
        <p:spPr>
          <a:xfrm>
            <a:off x="3179158" y="4279891"/>
            <a:ext cx="6096000" cy="461665"/>
          </a:xfrm>
          <a:prstGeom prst="rect">
            <a:avLst/>
          </a:prstGeom>
          <a:noFill/>
        </p:spPr>
        <p:txBody>
          <a:bodyPr wrap="square">
            <a:spAutoFit/>
          </a:bodyPr>
          <a:lstStyle/>
          <a:p>
            <a:pPr algn="l"/>
            <a:r>
              <a:rPr lang="fr-FR" sz="2400" dirty="0">
                <a:latin typeface="Comic Sans MS" panose="030F0702030302020204" pitchFamily="66" charset="0"/>
              </a:rPr>
              <a:t>Enveloppe budgétaire</a:t>
            </a:r>
          </a:p>
        </p:txBody>
      </p:sp>
      <p:sp>
        <p:nvSpPr>
          <p:cNvPr id="10" name="ZoneTexte 9">
            <a:extLst>
              <a:ext uri="{FF2B5EF4-FFF2-40B4-BE49-F238E27FC236}">
                <a16:creationId xmlns:a16="http://schemas.microsoft.com/office/drawing/2014/main" id="{0967666F-B2FF-50A3-AB23-B24300CB84B2}"/>
              </a:ext>
            </a:extLst>
          </p:cNvPr>
          <p:cNvSpPr txBox="1"/>
          <p:nvPr/>
        </p:nvSpPr>
        <p:spPr>
          <a:xfrm>
            <a:off x="3179158" y="4768867"/>
            <a:ext cx="6093822" cy="461665"/>
          </a:xfrm>
          <a:prstGeom prst="rect">
            <a:avLst/>
          </a:prstGeom>
          <a:noFill/>
        </p:spPr>
        <p:txBody>
          <a:bodyPr wrap="square">
            <a:spAutoFit/>
          </a:bodyPr>
          <a:lstStyle/>
          <a:p>
            <a:r>
              <a:rPr lang="fr-FR" sz="2400" dirty="0">
                <a:latin typeface="Comic Sans MS" panose="030F0702030302020204" pitchFamily="66" charset="0"/>
              </a:rPr>
              <a:t>Délais de réalisation</a:t>
            </a:r>
            <a:endParaRPr lang="fr-BF" sz="2400" dirty="0">
              <a:latin typeface="Comic Sans MS" panose="030F0702030302020204" pitchFamily="66" charset="0"/>
            </a:endParaRPr>
          </a:p>
        </p:txBody>
      </p:sp>
      <p:sp>
        <p:nvSpPr>
          <p:cNvPr id="13" name="ZoneTexte 12">
            <a:extLst>
              <a:ext uri="{FF2B5EF4-FFF2-40B4-BE49-F238E27FC236}">
                <a16:creationId xmlns:a16="http://schemas.microsoft.com/office/drawing/2014/main" id="{C6259434-2095-C7FB-0B3E-6FD1C43318DB}"/>
              </a:ext>
            </a:extLst>
          </p:cNvPr>
          <p:cNvSpPr txBox="1"/>
          <p:nvPr/>
        </p:nvSpPr>
        <p:spPr>
          <a:xfrm>
            <a:off x="3179158" y="5268790"/>
            <a:ext cx="6093822" cy="461665"/>
          </a:xfrm>
          <a:prstGeom prst="rect">
            <a:avLst/>
          </a:prstGeom>
          <a:noFill/>
        </p:spPr>
        <p:txBody>
          <a:bodyPr wrap="square">
            <a:spAutoFit/>
          </a:bodyPr>
          <a:lstStyle/>
          <a:p>
            <a:r>
              <a:rPr lang="fr-FR" sz="2400" dirty="0">
                <a:latin typeface="Comic Sans MS" panose="030F0702030302020204" pitchFamily="66" charset="0"/>
              </a:rPr>
              <a:t>Exemple du cahier des charges</a:t>
            </a:r>
            <a:endParaRPr lang="fr-BF" sz="2400" dirty="0">
              <a:latin typeface="Comic Sans MS" panose="030F0702030302020204" pitchFamily="66" charset="0"/>
            </a:endParaRPr>
          </a:p>
        </p:txBody>
      </p:sp>
    </p:spTree>
    <p:extLst>
      <p:ext uri="{BB962C8B-B14F-4D97-AF65-F5344CB8AC3E}">
        <p14:creationId xmlns:p14="http://schemas.microsoft.com/office/powerpoint/2010/main" val="525109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6" y="2249097"/>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5" name="Espace réservé du numéro de diapositive 4">
            <a:extLst>
              <a:ext uri="{FF2B5EF4-FFF2-40B4-BE49-F238E27FC236}">
                <a16:creationId xmlns:a16="http://schemas.microsoft.com/office/drawing/2014/main" id="{4B085908-77F4-4C88-833A-D75E74C7A0AE}"/>
              </a:ext>
            </a:extLst>
          </p:cNvPr>
          <p:cNvSpPr>
            <a:spLocks noGrp="1"/>
          </p:cNvSpPr>
          <p:nvPr>
            <p:ph type="sldNum" sz="quarter" idx="12"/>
          </p:nvPr>
        </p:nvSpPr>
        <p:spPr/>
        <p:txBody>
          <a:bodyPr/>
          <a:lstStyle/>
          <a:p>
            <a:fld id="{69E57DC2-970A-4B3E-BB1C-7A09969E49DF}" type="slidenum">
              <a:rPr lang="en-US" smtClean="0"/>
              <a:t>4</a:t>
            </a:fld>
            <a:endParaRPr lang="en-US" dirty="0"/>
          </a:p>
        </p:txBody>
      </p:sp>
      <p:sp>
        <p:nvSpPr>
          <p:cNvPr id="3" name="Espace réservé du pied de page 2">
            <a:extLst>
              <a:ext uri="{FF2B5EF4-FFF2-40B4-BE49-F238E27FC236}">
                <a16:creationId xmlns:a16="http://schemas.microsoft.com/office/drawing/2014/main" id="{FDE44050-74E3-4BD1-B1E0-B64B87EC0342}"/>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2980195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719943" y="151706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1395276" y="420297"/>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17" name="ZoneTexte 16">
            <a:extLst>
              <a:ext uri="{FF2B5EF4-FFF2-40B4-BE49-F238E27FC236}">
                <a16:creationId xmlns:a16="http://schemas.microsoft.com/office/drawing/2014/main" id="{9EF7B873-9FCC-48CE-8E17-AB614E4CD9D6}"/>
              </a:ext>
            </a:extLst>
          </p:cNvPr>
          <p:cNvSpPr txBox="1"/>
          <p:nvPr/>
        </p:nvSpPr>
        <p:spPr>
          <a:xfrm>
            <a:off x="1112520" y="1664369"/>
            <a:ext cx="10482943" cy="2505622"/>
          </a:xfrm>
          <a:prstGeom prst="rect">
            <a:avLst/>
          </a:prstGeom>
          <a:noFill/>
        </p:spPr>
        <p:txBody>
          <a:bodyPr wrap="square">
            <a:spAutoFit/>
          </a:bodyPr>
          <a:lstStyle/>
          <a:p>
            <a:pPr marL="441960" marR="382270" indent="-6350" algn="just">
              <a:lnSpc>
                <a:spcPct val="110000"/>
              </a:lnSpc>
              <a:spcAft>
                <a:spcPts val="3655"/>
              </a:spcAft>
            </a:pPr>
            <a:r>
              <a:rPr lang="fr-FR" sz="2400" dirty="0">
                <a:latin typeface="Comic Sans MS" panose="030F0702030302020204" pitchFamily="66" charset="0"/>
              </a:rPr>
              <a:t>Le cahier des charges (CDC) est un document contractuel à respecter lors d'un projet. Le cahier des charges permet au maître d'ouvrage de faire savoir au maître d'</a:t>
            </a:r>
            <a:r>
              <a:rPr lang="fr-FR" sz="2400" dirty="0" err="1">
                <a:latin typeface="Comic Sans MS" panose="030F0702030302020204" pitchFamily="66" charset="0"/>
              </a:rPr>
              <a:t>oeuvre</a:t>
            </a:r>
            <a:r>
              <a:rPr lang="fr-FR" sz="2400" dirty="0">
                <a:latin typeface="Comic Sans MS" panose="030F0702030302020204" pitchFamily="66" charset="0"/>
              </a:rPr>
              <a:t> ce qu'il attend de lui lors de la réalisation du projet, entraînant des pénalités en cas de non-respect. Il décrit précisément les besoins auxquels le prestataire</a:t>
            </a:r>
          </a:p>
        </p:txBody>
      </p:sp>
      <p:sp>
        <p:nvSpPr>
          <p:cNvPr id="5" name="Espace réservé du numéro de diapositive 4">
            <a:extLst>
              <a:ext uri="{FF2B5EF4-FFF2-40B4-BE49-F238E27FC236}">
                <a16:creationId xmlns:a16="http://schemas.microsoft.com/office/drawing/2014/main" id="{A6D72FD1-DC10-48CF-A0A7-7A9808883931}"/>
              </a:ext>
            </a:extLst>
          </p:cNvPr>
          <p:cNvSpPr>
            <a:spLocks noGrp="1"/>
          </p:cNvSpPr>
          <p:nvPr>
            <p:ph type="sldNum" sz="quarter" idx="12"/>
          </p:nvPr>
        </p:nvSpPr>
        <p:spPr/>
        <p:txBody>
          <a:bodyPr/>
          <a:lstStyle/>
          <a:p>
            <a:fld id="{69E57DC2-970A-4B3E-BB1C-7A09969E49DF}" type="slidenum">
              <a:rPr lang="en-US" smtClean="0"/>
              <a:t>5</a:t>
            </a:fld>
            <a:endParaRPr lang="en-US" dirty="0"/>
          </a:p>
        </p:txBody>
      </p:sp>
      <p:sp>
        <p:nvSpPr>
          <p:cNvPr id="3" name="Espace réservé du pied de page 2">
            <a:extLst>
              <a:ext uri="{FF2B5EF4-FFF2-40B4-BE49-F238E27FC236}">
                <a16:creationId xmlns:a16="http://schemas.microsoft.com/office/drawing/2014/main" id="{281AC370-4EA4-4169-B538-05673F2EB08C}"/>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2445143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61010" y="1831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877931" y="807971"/>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5" name="Espace réservé du numéro de diapositive 4">
            <a:extLst>
              <a:ext uri="{FF2B5EF4-FFF2-40B4-BE49-F238E27FC236}">
                <a16:creationId xmlns:a16="http://schemas.microsoft.com/office/drawing/2014/main" id="{CF435168-71FF-4518-B8A6-A7CD1059B298}"/>
              </a:ext>
            </a:extLst>
          </p:cNvPr>
          <p:cNvSpPr>
            <a:spLocks noGrp="1"/>
          </p:cNvSpPr>
          <p:nvPr>
            <p:ph type="sldNum" sz="quarter" idx="12"/>
          </p:nvPr>
        </p:nvSpPr>
        <p:spPr/>
        <p:txBody>
          <a:bodyPr/>
          <a:lstStyle/>
          <a:p>
            <a:fld id="{69E57DC2-970A-4B3E-BB1C-7A09969E49DF}" type="slidenum">
              <a:rPr lang="en-US" smtClean="0"/>
              <a:t>6</a:t>
            </a:fld>
            <a:endParaRPr lang="en-US" dirty="0"/>
          </a:p>
        </p:txBody>
      </p:sp>
      <p:sp>
        <p:nvSpPr>
          <p:cNvPr id="3" name="Espace réservé du pied de page 2">
            <a:extLst>
              <a:ext uri="{FF2B5EF4-FFF2-40B4-BE49-F238E27FC236}">
                <a16:creationId xmlns:a16="http://schemas.microsoft.com/office/drawing/2014/main" id="{F442FC51-75A2-4D3A-A6CE-11BC8CA67F7B}"/>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
        <p:nvSpPr>
          <p:cNvPr id="10" name="ZoneTexte 9">
            <a:extLst>
              <a:ext uri="{FF2B5EF4-FFF2-40B4-BE49-F238E27FC236}">
                <a16:creationId xmlns:a16="http://schemas.microsoft.com/office/drawing/2014/main" id="{95F28BD8-4D3A-A1EF-2AD1-258851B63C5D}"/>
              </a:ext>
            </a:extLst>
          </p:cNvPr>
          <p:cNvSpPr txBox="1"/>
          <p:nvPr/>
        </p:nvSpPr>
        <p:spPr>
          <a:xfrm>
            <a:off x="3046912" y="2274837"/>
            <a:ext cx="7834448" cy="2862322"/>
          </a:xfrm>
          <a:prstGeom prst="rect">
            <a:avLst/>
          </a:prstGeom>
          <a:noFill/>
        </p:spPr>
        <p:txBody>
          <a:bodyPr wrap="square">
            <a:spAutoFit/>
          </a:bodyPr>
          <a:lstStyle/>
          <a:p>
            <a:r>
              <a:rPr lang="fr-FR" dirty="0"/>
              <a:t>Le cahier des charges (CDC) est un document contractuel à respecter lors d'un projet. </a:t>
            </a:r>
          </a:p>
          <a:p>
            <a:r>
              <a:rPr lang="fr-FR" dirty="0"/>
              <a:t> Il décrit précisément les besoins auxquels le prestataire ou le soumissionnaire doit répondre, </a:t>
            </a:r>
          </a:p>
          <a:p>
            <a:r>
              <a:rPr lang="fr-FR" dirty="0"/>
              <a:t> Il décrit également la relation entre les différents acteurs du projet. </a:t>
            </a:r>
          </a:p>
          <a:p>
            <a:r>
              <a:rPr lang="fr-FR" dirty="0"/>
              <a:t> =&gt; C’est un document qui permet de lister l'ensemble des fonctionnalités attendues pour son produit et de fixer les différentes contraintes </a:t>
            </a:r>
          </a:p>
          <a:p>
            <a:pPr lvl="1"/>
            <a:r>
              <a:rPr lang="fr-FR" dirty="0"/>
              <a:t> opérationnelles, </a:t>
            </a:r>
          </a:p>
          <a:p>
            <a:pPr lvl="1"/>
            <a:r>
              <a:rPr lang="fr-FR" dirty="0"/>
              <a:t> techniques, </a:t>
            </a:r>
          </a:p>
          <a:p>
            <a:pPr lvl="1"/>
            <a:r>
              <a:rPr lang="fr-FR" dirty="0"/>
              <a:t> financières... du projet.</a:t>
            </a:r>
            <a:endParaRPr lang="fr-BF" dirty="0"/>
          </a:p>
        </p:txBody>
      </p:sp>
    </p:spTree>
    <p:extLst>
      <p:ext uri="{BB962C8B-B14F-4D97-AF65-F5344CB8AC3E}">
        <p14:creationId xmlns:p14="http://schemas.microsoft.com/office/powerpoint/2010/main" val="532416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6" y="2249097"/>
            <a:ext cx="9401447" cy="769441"/>
          </a:xfrm>
          <a:prstGeom prst="rect">
            <a:avLst/>
          </a:prstGeom>
          <a:noFill/>
        </p:spPr>
        <p:txBody>
          <a:bodyPr wrap="square">
            <a:spAutoFit/>
          </a:bodyPr>
          <a:lstStyle/>
          <a:p>
            <a:pPr algn="ctr" defTabSz="914400" eaLnBrk="0" fontAlgn="base" hangingPunct="0">
              <a:spcBef>
                <a:spcPct val="0"/>
              </a:spcBef>
              <a:spcAft>
                <a:spcPct val="0"/>
              </a:spcAft>
            </a:pPr>
            <a:r>
              <a:rPr lang="fr-FR" sz="4400" b="1" dirty="0">
                <a:solidFill>
                  <a:srgbClr val="841A14"/>
                </a:solidFill>
                <a:latin typeface="Comic Sans MS" panose="030F0702030302020204" pitchFamily="66" charset="0"/>
              </a:rPr>
              <a:t>Contexte et définition du projet</a:t>
            </a:r>
          </a:p>
        </p:txBody>
      </p:sp>
      <p:sp>
        <p:nvSpPr>
          <p:cNvPr id="5" name="Espace réservé du numéro de diapositive 4">
            <a:extLst>
              <a:ext uri="{FF2B5EF4-FFF2-40B4-BE49-F238E27FC236}">
                <a16:creationId xmlns:a16="http://schemas.microsoft.com/office/drawing/2014/main" id="{4B085908-77F4-4C88-833A-D75E74C7A0AE}"/>
              </a:ext>
            </a:extLst>
          </p:cNvPr>
          <p:cNvSpPr>
            <a:spLocks noGrp="1"/>
          </p:cNvSpPr>
          <p:nvPr>
            <p:ph type="sldNum" sz="quarter" idx="12"/>
          </p:nvPr>
        </p:nvSpPr>
        <p:spPr/>
        <p:txBody>
          <a:bodyPr/>
          <a:lstStyle/>
          <a:p>
            <a:fld id="{69E57DC2-970A-4B3E-BB1C-7A09969E49DF}" type="slidenum">
              <a:rPr lang="en-US" smtClean="0"/>
              <a:t>7</a:t>
            </a:fld>
            <a:endParaRPr lang="en-US" dirty="0"/>
          </a:p>
        </p:txBody>
      </p:sp>
      <p:sp>
        <p:nvSpPr>
          <p:cNvPr id="3" name="Espace réservé du pied de page 2">
            <a:extLst>
              <a:ext uri="{FF2B5EF4-FFF2-40B4-BE49-F238E27FC236}">
                <a16:creationId xmlns:a16="http://schemas.microsoft.com/office/drawing/2014/main" id="{FDE44050-74E3-4BD1-B1E0-B64B87EC0342}"/>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3087750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Contexte et définition du projet</a:t>
            </a:r>
          </a:p>
        </p:txBody>
      </p:sp>
      <p:sp>
        <p:nvSpPr>
          <p:cNvPr id="10" name="ZoneTexte 9">
            <a:extLst>
              <a:ext uri="{FF2B5EF4-FFF2-40B4-BE49-F238E27FC236}">
                <a16:creationId xmlns:a16="http://schemas.microsoft.com/office/drawing/2014/main" id="{91EEDCD9-B50F-45C7-A55C-6D7B75E948DE}"/>
              </a:ext>
            </a:extLst>
          </p:cNvPr>
          <p:cNvSpPr txBox="1"/>
          <p:nvPr/>
        </p:nvSpPr>
        <p:spPr>
          <a:xfrm>
            <a:off x="904739" y="1527909"/>
            <a:ext cx="10996477" cy="4545155"/>
          </a:xfrm>
          <a:prstGeom prst="rect">
            <a:avLst/>
          </a:prstGeom>
          <a:noFill/>
        </p:spPr>
        <p:txBody>
          <a:bodyPr wrap="square">
            <a:spAutoFit/>
          </a:bodyPr>
          <a:lstStyle/>
          <a:p>
            <a:pPr>
              <a:lnSpc>
                <a:spcPct val="150000"/>
              </a:lnSpc>
            </a:pPr>
            <a:r>
              <a:rPr lang="fr-FR" sz="2800" dirty="0">
                <a:solidFill>
                  <a:srgbClr val="404040"/>
                </a:solidFill>
                <a:latin typeface="Comic Sans MS" panose="030F0702030302020204" pitchFamily="66" charset="0"/>
              </a:rPr>
              <a:t>Le contexte d'un projet correspond à l'ensemble des informations qui caractérisent un projet et lui donnent de la profondeur. </a:t>
            </a:r>
          </a:p>
          <a:p>
            <a:pPr>
              <a:lnSpc>
                <a:spcPct val="150000"/>
              </a:lnSpc>
            </a:pPr>
            <a:r>
              <a:rPr lang="fr-FR" sz="2800" dirty="0">
                <a:solidFill>
                  <a:srgbClr val="404040"/>
                </a:solidFill>
                <a:latin typeface="Comic Sans MS" panose="030F0702030302020204" pitchFamily="66" charset="0"/>
              </a:rPr>
              <a:t>Il peut s'agir de l'histoire et de l'origine du projet, d'informations sur le contexte réglementaire, culturel, économique, concurrentiel et social dans lequel évolue la société, ou encore de son environnement de travail</a:t>
            </a:r>
          </a:p>
        </p:txBody>
      </p:sp>
      <p:sp>
        <p:nvSpPr>
          <p:cNvPr id="5" name="Espace réservé du numéro de diapositive 4">
            <a:extLst>
              <a:ext uri="{FF2B5EF4-FFF2-40B4-BE49-F238E27FC236}">
                <a16:creationId xmlns:a16="http://schemas.microsoft.com/office/drawing/2014/main" id="{0DFD04A0-0F69-4E63-A3AD-D145D9AB6AD0}"/>
              </a:ext>
            </a:extLst>
          </p:cNvPr>
          <p:cNvSpPr>
            <a:spLocks noGrp="1"/>
          </p:cNvSpPr>
          <p:nvPr>
            <p:ph type="sldNum" sz="quarter" idx="12"/>
          </p:nvPr>
        </p:nvSpPr>
        <p:spPr>
          <a:xfrm>
            <a:off x="10800372" y="6410750"/>
            <a:ext cx="596971" cy="404614"/>
          </a:xfrm>
        </p:spPr>
        <p:txBody>
          <a:bodyPr/>
          <a:lstStyle/>
          <a:p>
            <a:fld id="{69E57DC2-970A-4B3E-BB1C-7A09969E49DF}" type="slidenum">
              <a:rPr lang="en-US" sz="1800" smtClean="0">
                <a:solidFill>
                  <a:srgbClr val="FF0000"/>
                </a:solidFill>
              </a:rPr>
              <a:t>8</a:t>
            </a:fld>
            <a:endParaRPr lang="en-US" sz="1800" dirty="0">
              <a:solidFill>
                <a:srgbClr val="FF0000"/>
              </a:solidFill>
            </a:endParaRPr>
          </a:p>
        </p:txBody>
      </p:sp>
      <p:sp>
        <p:nvSpPr>
          <p:cNvPr id="3" name="Espace réservé du pied de page 2">
            <a:extLst>
              <a:ext uri="{FF2B5EF4-FFF2-40B4-BE49-F238E27FC236}">
                <a16:creationId xmlns:a16="http://schemas.microsoft.com/office/drawing/2014/main" id="{83B6614F-7B8A-488A-8F28-C77DB34497E3}"/>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101577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01164-9319-D849-2C67-4D095845D1E6}"/>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293B3A95-FE3C-7709-7224-D9A51CF9B1C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8B1E05EC-6DDE-D021-BF7C-AB999971F456}"/>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87EF7FE6-84E2-7340-9B7C-FB6D0B12067A}"/>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B867F51F-9EBF-61FD-2F09-14DCB0C2EC12}"/>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E43809C9-ABD9-0E99-27DB-6C322EE3DEDC}"/>
              </a:ext>
            </a:extLst>
          </p:cNvPr>
          <p:cNvSpPr txBox="1"/>
          <p:nvPr/>
        </p:nvSpPr>
        <p:spPr>
          <a:xfrm>
            <a:off x="2035356" y="2249097"/>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Les objectifs du projet</a:t>
            </a:r>
          </a:p>
        </p:txBody>
      </p:sp>
      <p:sp>
        <p:nvSpPr>
          <p:cNvPr id="5" name="Espace réservé du numéro de diapositive 4">
            <a:extLst>
              <a:ext uri="{FF2B5EF4-FFF2-40B4-BE49-F238E27FC236}">
                <a16:creationId xmlns:a16="http://schemas.microsoft.com/office/drawing/2014/main" id="{76470867-A946-9FB7-5244-CAC88E2670E1}"/>
              </a:ext>
            </a:extLst>
          </p:cNvPr>
          <p:cNvSpPr>
            <a:spLocks noGrp="1"/>
          </p:cNvSpPr>
          <p:nvPr>
            <p:ph type="sldNum" sz="quarter" idx="12"/>
          </p:nvPr>
        </p:nvSpPr>
        <p:spPr/>
        <p:txBody>
          <a:bodyPr/>
          <a:lstStyle/>
          <a:p>
            <a:fld id="{69E57DC2-970A-4B3E-BB1C-7A09969E49DF}" type="slidenum">
              <a:rPr lang="en-US" smtClean="0"/>
              <a:t>9</a:t>
            </a:fld>
            <a:endParaRPr lang="en-US" dirty="0"/>
          </a:p>
        </p:txBody>
      </p:sp>
      <p:sp>
        <p:nvSpPr>
          <p:cNvPr id="3" name="Espace réservé du pied de page 2">
            <a:extLst>
              <a:ext uri="{FF2B5EF4-FFF2-40B4-BE49-F238E27FC236}">
                <a16:creationId xmlns:a16="http://schemas.microsoft.com/office/drawing/2014/main" id="{234231D9-81E3-307F-7740-F7F1999682AA}"/>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2471061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Les objectifs du projet</a:t>
            </a:r>
          </a:p>
        </p:txBody>
      </p:sp>
      <p:sp>
        <p:nvSpPr>
          <p:cNvPr id="11" name="ZoneTexte 10">
            <a:extLst>
              <a:ext uri="{FF2B5EF4-FFF2-40B4-BE49-F238E27FC236}">
                <a16:creationId xmlns:a16="http://schemas.microsoft.com/office/drawing/2014/main" id="{68EC1A19-BD35-4589-8F2A-AAF75B935BFA}"/>
              </a:ext>
            </a:extLst>
          </p:cNvPr>
          <p:cNvSpPr txBox="1"/>
          <p:nvPr/>
        </p:nvSpPr>
        <p:spPr>
          <a:xfrm>
            <a:off x="1195524" y="2172658"/>
            <a:ext cx="10996476" cy="2606163"/>
          </a:xfrm>
          <a:prstGeom prst="rect">
            <a:avLst/>
          </a:prstGeom>
          <a:noFill/>
        </p:spPr>
        <p:txBody>
          <a:bodyPr wrap="square">
            <a:spAutoFit/>
          </a:bodyPr>
          <a:lstStyle/>
          <a:p>
            <a:pPr>
              <a:lnSpc>
                <a:spcPct val="150000"/>
              </a:lnSpc>
            </a:pPr>
            <a:r>
              <a:rPr lang="fr-FR" sz="2800" dirty="0">
                <a:solidFill>
                  <a:srgbClr val="404040"/>
                </a:solidFill>
                <a:latin typeface="Comic Sans MS" panose="030F0702030302020204" pitchFamily="66" charset="0"/>
              </a:rPr>
              <a:t>Il est essentiel de définir de manière précise les objectifs afin</a:t>
            </a:r>
          </a:p>
          <a:p>
            <a:pPr>
              <a:lnSpc>
                <a:spcPct val="150000"/>
              </a:lnSpc>
            </a:pPr>
            <a:r>
              <a:rPr lang="fr-FR" sz="2800" dirty="0">
                <a:solidFill>
                  <a:srgbClr val="404040"/>
                </a:solidFill>
                <a:latin typeface="Comic Sans MS" panose="030F0702030302020204" pitchFamily="66" charset="0"/>
              </a:rPr>
              <a:t>d’obtenir les résultats attendus. Il est conseillé d’employer la</a:t>
            </a:r>
          </a:p>
          <a:p>
            <a:pPr>
              <a:lnSpc>
                <a:spcPct val="150000"/>
              </a:lnSpc>
            </a:pPr>
            <a:r>
              <a:rPr lang="fr-FR" sz="2800" dirty="0">
                <a:solidFill>
                  <a:srgbClr val="404040"/>
                </a:solidFill>
                <a:latin typeface="Comic Sans MS" panose="030F0702030302020204" pitchFamily="66" charset="0"/>
              </a:rPr>
              <a:t>méthode SMART pour cette étape : Spécifique, Mesurable,</a:t>
            </a:r>
          </a:p>
          <a:p>
            <a:pPr>
              <a:lnSpc>
                <a:spcPct val="150000"/>
              </a:lnSpc>
            </a:pPr>
            <a:r>
              <a:rPr lang="fr-FR" sz="2800" dirty="0">
                <a:solidFill>
                  <a:srgbClr val="404040"/>
                </a:solidFill>
                <a:latin typeface="Comic Sans MS" panose="030F0702030302020204" pitchFamily="66" charset="0"/>
              </a:rPr>
              <a:t>Atteignable, Réalise et Temporellement défini.</a:t>
            </a:r>
          </a:p>
        </p:txBody>
      </p:sp>
      <p:sp>
        <p:nvSpPr>
          <p:cNvPr id="9" name="Espace réservé du numéro de diapositive 8">
            <a:extLst>
              <a:ext uri="{FF2B5EF4-FFF2-40B4-BE49-F238E27FC236}">
                <a16:creationId xmlns:a16="http://schemas.microsoft.com/office/drawing/2014/main" id="{049A4E68-5FDD-4431-9FE4-B4FDB15DC092}"/>
              </a:ext>
            </a:extLst>
          </p:cNvPr>
          <p:cNvSpPr>
            <a:spLocks noGrp="1"/>
          </p:cNvSpPr>
          <p:nvPr>
            <p:ph type="sldNum" sz="quarter" idx="12"/>
          </p:nvPr>
        </p:nvSpPr>
        <p:spPr>
          <a:xfrm>
            <a:off x="10676275" y="6394697"/>
            <a:ext cx="705828" cy="404614"/>
          </a:xfrm>
        </p:spPr>
        <p:txBody>
          <a:bodyPr/>
          <a:lstStyle/>
          <a:p>
            <a:fld id="{69E57DC2-970A-4B3E-BB1C-7A09969E49DF}" type="slidenum">
              <a:rPr lang="en-US" sz="1800" smtClean="0">
                <a:solidFill>
                  <a:srgbClr val="FF0000"/>
                </a:solidFill>
              </a:rPr>
              <a:t>10</a:t>
            </a:fld>
            <a:endParaRPr lang="en-US" sz="1800" dirty="0">
              <a:solidFill>
                <a:srgbClr val="FF0000"/>
              </a:solidFill>
            </a:endParaRPr>
          </a:p>
        </p:txBody>
      </p:sp>
      <p:sp>
        <p:nvSpPr>
          <p:cNvPr id="3" name="Espace réservé du pied de page 2">
            <a:extLst>
              <a:ext uri="{FF2B5EF4-FFF2-40B4-BE49-F238E27FC236}">
                <a16:creationId xmlns:a16="http://schemas.microsoft.com/office/drawing/2014/main" id="{6D8EEB26-7121-456E-A3E8-17BC4FA9C2ED}"/>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2136370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9AACC-4B66-9FA9-9E4C-793E2EF93D70}"/>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C0AE881B-F73D-FD79-DC52-D52C2E09C93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1D45DD2A-7E98-3CDF-BBCF-952C082C25A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8EEC7C34-414D-5329-5D30-58E0FBEFCA30}"/>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21ADDEDD-7600-8EDA-1920-4F48C5AB6CB1}"/>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2B8E5869-556D-69C6-6BA7-9A385017255C}"/>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Les objectifs du projet</a:t>
            </a:r>
          </a:p>
        </p:txBody>
      </p:sp>
      <p:sp>
        <p:nvSpPr>
          <p:cNvPr id="11" name="ZoneTexte 10">
            <a:extLst>
              <a:ext uri="{FF2B5EF4-FFF2-40B4-BE49-F238E27FC236}">
                <a16:creationId xmlns:a16="http://schemas.microsoft.com/office/drawing/2014/main" id="{54DFD751-8745-4CA0-FE75-68613455BCE3}"/>
              </a:ext>
            </a:extLst>
          </p:cNvPr>
          <p:cNvSpPr txBox="1"/>
          <p:nvPr/>
        </p:nvSpPr>
        <p:spPr>
          <a:xfrm>
            <a:off x="1022305" y="1777517"/>
            <a:ext cx="10996476" cy="2606163"/>
          </a:xfrm>
          <a:prstGeom prst="rect">
            <a:avLst/>
          </a:prstGeom>
          <a:noFill/>
        </p:spPr>
        <p:txBody>
          <a:bodyPr wrap="square">
            <a:spAutoFit/>
          </a:bodyPr>
          <a:lstStyle/>
          <a:p>
            <a:pPr>
              <a:lnSpc>
                <a:spcPct val="150000"/>
              </a:lnSpc>
            </a:pPr>
            <a:r>
              <a:rPr lang="fr-FR" sz="2800" dirty="0">
                <a:solidFill>
                  <a:srgbClr val="404040"/>
                </a:solidFill>
                <a:latin typeface="Comic Sans MS" panose="030F0702030302020204" pitchFamily="66" charset="0"/>
              </a:rPr>
              <a:t>Le cahier des charges a pour but de formaliser le besoin et de le</a:t>
            </a:r>
          </a:p>
          <a:p>
            <a:pPr>
              <a:lnSpc>
                <a:spcPct val="150000"/>
              </a:lnSpc>
            </a:pPr>
            <a:r>
              <a:rPr lang="fr-FR" sz="2800" dirty="0">
                <a:solidFill>
                  <a:srgbClr val="404040"/>
                </a:solidFill>
                <a:latin typeface="Comic Sans MS" panose="030F0702030302020204" pitchFamily="66" charset="0"/>
              </a:rPr>
              <a:t>rendre compréhensible aux différents acteurs en définissant</a:t>
            </a:r>
          </a:p>
          <a:p>
            <a:pPr>
              <a:lnSpc>
                <a:spcPct val="150000"/>
              </a:lnSpc>
            </a:pPr>
            <a:r>
              <a:rPr lang="fr-FR" sz="2800" dirty="0">
                <a:solidFill>
                  <a:srgbClr val="404040"/>
                </a:solidFill>
                <a:latin typeface="Comic Sans MS" panose="030F0702030302020204" pitchFamily="66" charset="0"/>
              </a:rPr>
              <a:t>tous les aspects du projet (fonctionnel, organisationnel,</a:t>
            </a:r>
          </a:p>
          <a:p>
            <a:pPr>
              <a:lnSpc>
                <a:spcPct val="150000"/>
              </a:lnSpc>
            </a:pPr>
            <a:r>
              <a:rPr lang="fr-FR" sz="2800" dirty="0">
                <a:solidFill>
                  <a:srgbClr val="404040"/>
                </a:solidFill>
                <a:latin typeface="Comic Sans MS" panose="030F0702030302020204" pitchFamily="66" charset="0"/>
              </a:rPr>
              <a:t>technique, juridique, administratif, etc.).</a:t>
            </a:r>
          </a:p>
        </p:txBody>
      </p:sp>
      <p:sp>
        <p:nvSpPr>
          <p:cNvPr id="9" name="Espace réservé du numéro de diapositive 8">
            <a:extLst>
              <a:ext uri="{FF2B5EF4-FFF2-40B4-BE49-F238E27FC236}">
                <a16:creationId xmlns:a16="http://schemas.microsoft.com/office/drawing/2014/main" id="{CB5B8B38-1ABB-D039-5353-72B1EFAC726B}"/>
              </a:ext>
            </a:extLst>
          </p:cNvPr>
          <p:cNvSpPr>
            <a:spLocks noGrp="1"/>
          </p:cNvSpPr>
          <p:nvPr>
            <p:ph type="sldNum" sz="quarter" idx="12"/>
          </p:nvPr>
        </p:nvSpPr>
        <p:spPr>
          <a:xfrm>
            <a:off x="10676275" y="6394697"/>
            <a:ext cx="705828" cy="404614"/>
          </a:xfrm>
        </p:spPr>
        <p:txBody>
          <a:bodyPr/>
          <a:lstStyle/>
          <a:p>
            <a:fld id="{69E57DC2-970A-4B3E-BB1C-7A09969E49DF}" type="slidenum">
              <a:rPr lang="en-US" sz="1800" smtClean="0">
                <a:solidFill>
                  <a:srgbClr val="FF0000"/>
                </a:solidFill>
              </a:rPr>
              <a:t>11</a:t>
            </a:fld>
            <a:endParaRPr lang="en-US" sz="1800" dirty="0">
              <a:solidFill>
                <a:srgbClr val="FF0000"/>
              </a:solidFill>
            </a:endParaRPr>
          </a:p>
        </p:txBody>
      </p:sp>
      <p:sp>
        <p:nvSpPr>
          <p:cNvPr id="3" name="Espace réservé du pied de page 2">
            <a:extLst>
              <a:ext uri="{FF2B5EF4-FFF2-40B4-BE49-F238E27FC236}">
                <a16:creationId xmlns:a16="http://schemas.microsoft.com/office/drawing/2014/main" id="{4DDBDF7B-79A2-B715-5F15-99A6D7D5F821}"/>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162287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0EC8A-C329-CC99-BAF3-B05AFB1B6937}"/>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8C058742-20AC-CF45-0E67-8F988C37FAB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2697024F-E42D-1C32-6CD3-345E1BCFC39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C9B21D75-FA81-6C1C-5C37-5ECF2DF86685}"/>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9470B4EF-F30D-0584-D233-2C0834ACD4A6}"/>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17F803F5-07C9-2BFA-20EA-30E8789D9D07}"/>
              </a:ext>
            </a:extLst>
          </p:cNvPr>
          <p:cNvSpPr txBox="1"/>
          <p:nvPr/>
        </p:nvSpPr>
        <p:spPr>
          <a:xfrm>
            <a:off x="2035356" y="2249097"/>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Périmètre du projet</a:t>
            </a:r>
          </a:p>
        </p:txBody>
      </p:sp>
      <p:sp>
        <p:nvSpPr>
          <p:cNvPr id="5" name="Espace réservé du numéro de diapositive 4">
            <a:extLst>
              <a:ext uri="{FF2B5EF4-FFF2-40B4-BE49-F238E27FC236}">
                <a16:creationId xmlns:a16="http://schemas.microsoft.com/office/drawing/2014/main" id="{8BCBF386-BA0D-F748-5E6A-652D308DA690}"/>
              </a:ext>
            </a:extLst>
          </p:cNvPr>
          <p:cNvSpPr>
            <a:spLocks noGrp="1"/>
          </p:cNvSpPr>
          <p:nvPr>
            <p:ph type="sldNum" sz="quarter" idx="12"/>
          </p:nvPr>
        </p:nvSpPr>
        <p:spPr/>
        <p:txBody>
          <a:bodyPr/>
          <a:lstStyle/>
          <a:p>
            <a:fld id="{69E57DC2-970A-4B3E-BB1C-7A09969E49DF}" type="slidenum">
              <a:rPr lang="en-US" smtClean="0"/>
              <a:t>12</a:t>
            </a:fld>
            <a:endParaRPr lang="en-US" dirty="0"/>
          </a:p>
        </p:txBody>
      </p:sp>
      <p:sp>
        <p:nvSpPr>
          <p:cNvPr id="3" name="Espace réservé du pied de page 2">
            <a:extLst>
              <a:ext uri="{FF2B5EF4-FFF2-40B4-BE49-F238E27FC236}">
                <a16:creationId xmlns:a16="http://schemas.microsoft.com/office/drawing/2014/main" id="{E0DED1FC-9856-2269-D465-84FDB9E9D049}"/>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4051089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Périmètre du projet</a:t>
            </a:r>
          </a:p>
        </p:txBody>
      </p:sp>
      <p:sp>
        <p:nvSpPr>
          <p:cNvPr id="13" name="ZoneTexte 12">
            <a:extLst>
              <a:ext uri="{FF2B5EF4-FFF2-40B4-BE49-F238E27FC236}">
                <a16:creationId xmlns:a16="http://schemas.microsoft.com/office/drawing/2014/main" id="{6FB18B17-6CAF-47DB-A5A1-F35F53A04CFB}"/>
              </a:ext>
            </a:extLst>
          </p:cNvPr>
          <p:cNvSpPr txBox="1"/>
          <p:nvPr/>
        </p:nvSpPr>
        <p:spPr>
          <a:xfrm>
            <a:off x="1395276" y="1820703"/>
            <a:ext cx="10079903" cy="1626407"/>
          </a:xfrm>
          <a:prstGeom prst="rect">
            <a:avLst/>
          </a:prstGeom>
          <a:noFill/>
        </p:spPr>
        <p:txBody>
          <a:bodyPr wrap="square">
            <a:spAutoFit/>
          </a:bodyPr>
          <a:lstStyle/>
          <a:p>
            <a:pPr>
              <a:lnSpc>
                <a:spcPct val="150000"/>
              </a:lnSpc>
            </a:pPr>
            <a:r>
              <a:rPr lang="fr-FR" sz="2300" dirty="0">
                <a:latin typeface="Comic Sans MS" panose="030F0702030302020204" pitchFamily="66" charset="0"/>
              </a:rPr>
              <a:t>Le périmètre du projet est à définir pour connaitre les limites et</a:t>
            </a:r>
          </a:p>
          <a:p>
            <a:pPr>
              <a:lnSpc>
                <a:spcPct val="150000"/>
              </a:lnSpc>
            </a:pPr>
            <a:r>
              <a:rPr lang="fr-FR" sz="2300" dirty="0">
                <a:latin typeface="Comic Sans MS" panose="030F0702030302020204" pitchFamily="66" charset="0"/>
              </a:rPr>
              <a:t>les contraintes diverses. Tous les éléments existants sont à</a:t>
            </a:r>
          </a:p>
          <a:p>
            <a:pPr>
              <a:lnSpc>
                <a:spcPct val="150000"/>
              </a:lnSpc>
            </a:pPr>
            <a:r>
              <a:rPr lang="fr-FR" sz="2300" dirty="0">
                <a:latin typeface="Comic Sans MS" panose="030F0702030302020204" pitchFamily="66" charset="0"/>
              </a:rPr>
              <a:t>inclure pour faciliter la compréhension et la réalisation du projet</a:t>
            </a:r>
          </a:p>
        </p:txBody>
      </p:sp>
      <p:sp>
        <p:nvSpPr>
          <p:cNvPr id="5" name="Espace réservé du numéro de diapositive 4">
            <a:extLst>
              <a:ext uri="{FF2B5EF4-FFF2-40B4-BE49-F238E27FC236}">
                <a16:creationId xmlns:a16="http://schemas.microsoft.com/office/drawing/2014/main" id="{2A152632-F197-4998-9DA2-29CDB67562A7}"/>
              </a:ext>
            </a:extLst>
          </p:cNvPr>
          <p:cNvSpPr>
            <a:spLocks noGrp="1"/>
          </p:cNvSpPr>
          <p:nvPr>
            <p:ph type="sldNum" sz="quarter" idx="12"/>
          </p:nvPr>
        </p:nvSpPr>
        <p:spPr/>
        <p:txBody>
          <a:bodyPr/>
          <a:lstStyle/>
          <a:p>
            <a:fld id="{69E57DC2-970A-4B3E-BB1C-7A09969E49DF}" type="slidenum">
              <a:rPr lang="en-US" smtClean="0"/>
              <a:t>13</a:t>
            </a:fld>
            <a:endParaRPr lang="en-US" dirty="0"/>
          </a:p>
        </p:txBody>
      </p:sp>
      <p:sp>
        <p:nvSpPr>
          <p:cNvPr id="3" name="Espace réservé du pied de page 2">
            <a:extLst>
              <a:ext uri="{FF2B5EF4-FFF2-40B4-BE49-F238E27FC236}">
                <a16:creationId xmlns:a16="http://schemas.microsoft.com/office/drawing/2014/main" id="{4D435BE2-D1C0-4AFF-808D-50A59E6295D0}"/>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
        <p:nvSpPr>
          <p:cNvPr id="4" name="ZoneTexte 3">
            <a:extLst>
              <a:ext uri="{FF2B5EF4-FFF2-40B4-BE49-F238E27FC236}">
                <a16:creationId xmlns:a16="http://schemas.microsoft.com/office/drawing/2014/main" id="{D50BD158-3EF0-1076-C0D0-C0361D258A7C}"/>
              </a:ext>
            </a:extLst>
          </p:cNvPr>
          <p:cNvSpPr txBox="1"/>
          <p:nvPr/>
        </p:nvSpPr>
        <p:spPr>
          <a:xfrm>
            <a:off x="1395276" y="4180136"/>
            <a:ext cx="10079903" cy="1154162"/>
          </a:xfrm>
          <a:prstGeom prst="rect">
            <a:avLst/>
          </a:prstGeom>
          <a:noFill/>
        </p:spPr>
        <p:txBody>
          <a:bodyPr wrap="square">
            <a:spAutoFit/>
          </a:bodyPr>
          <a:lstStyle/>
          <a:p>
            <a:pPr>
              <a:lnSpc>
                <a:spcPct val="200000"/>
              </a:lnSpc>
            </a:pPr>
            <a:r>
              <a:rPr lang="fr-FR" sz="2300" dirty="0">
                <a:latin typeface="Comic Sans MS" panose="030F0702030302020204" pitchFamily="66" charset="0"/>
              </a:rPr>
              <a:t>Enfin, le périmètre projet est également l'une des 3 composantes</a:t>
            </a:r>
          </a:p>
          <a:p>
            <a:r>
              <a:rPr lang="fr-FR" sz="2300" dirty="0">
                <a:latin typeface="Comic Sans MS" panose="030F0702030302020204" pitchFamily="66" charset="0"/>
              </a:rPr>
              <a:t>du triangle d'or de la gestion de projet, avec les coûts et les délais</a:t>
            </a:r>
          </a:p>
        </p:txBody>
      </p:sp>
    </p:spTree>
    <p:extLst>
      <p:ext uri="{BB962C8B-B14F-4D97-AF65-F5344CB8AC3E}">
        <p14:creationId xmlns:p14="http://schemas.microsoft.com/office/powerpoint/2010/main" val="322007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6F6AE-0BD5-933C-1027-3D4B640A17E4}"/>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39EFFB6A-8D6D-B9CA-4897-E110C3F51E0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97A62E13-79F0-1BC9-C0AF-5C09C4ACF2CF}"/>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9D889904-BC52-A1F2-FDAC-51F74187D39C}"/>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AA6731AC-3BE7-8941-AE60-79E66195A0B6}"/>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52EBAA00-68BE-7DEF-1E8F-2437442B1084}"/>
              </a:ext>
            </a:extLst>
          </p:cNvPr>
          <p:cNvSpPr txBox="1"/>
          <p:nvPr/>
        </p:nvSpPr>
        <p:spPr>
          <a:xfrm>
            <a:off x="1071154" y="2249097"/>
            <a:ext cx="10365649" cy="76944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Description fonctionnelle des besoins</a:t>
            </a:r>
          </a:p>
        </p:txBody>
      </p:sp>
      <p:sp>
        <p:nvSpPr>
          <p:cNvPr id="5" name="Espace réservé du numéro de diapositive 4">
            <a:extLst>
              <a:ext uri="{FF2B5EF4-FFF2-40B4-BE49-F238E27FC236}">
                <a16:creationId xmlns:a16="http://schemas.microsoft.com/office/drawing/2014/main" id="{33381593-60BF-A70A-B2B2-B7F4F18319A8}"/>
              </a:ext>
            </a:extLst>
          </p:cNvPr>
          <p:cNvSpPr>
            <a:spLocks noGrp="1"/>
          </p:cNvSpPr>
          <p:nvPr>
            <p:ph type="sldNum" sz="quarter" idx="12"/>
          </p:nvPr>
        </p:nvSpPr>
        <p:spPr/>
        <p:txBody>
          <a:bodyPr/>
          <a:lstStyle/>
          <a:p>
            <a:fld id="{69E57DC2-970A-4B3E-BB1C-7A09969E49DF}" type="slidenum">
              <a:rPr lang="en-US" smtClean="0"/>
              <a:t>14</a:t>
            </a:fld>
            <a:endParaRPr lang="en-US" dirty="0"/>
          </a:p>
        </p:txBody>
      </p:sp>
      <p:sp>
        <p:nvSpPr>
          <p:cNvPr id="3" name="Espace réservé du pied de page 2">
            <a:extLst>
              <a:ext uri="{FF2B5EF4-FFF2-40B4-BE49-F238E27FC236}">
                <a16:creationId xmlns:a16="http://schemas.microsoft.com/office/drawing/2014/main" id="{D1593BB7-DA5C-1513-54D0-3338F8CB9A81}"/>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899679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grpSp>
        <p:nvGrpSpPr>
          <p:cNvPr id="9" name="Group 13157">
            <a:extLst>
              <a:ext uri="{FF2B5EF4-FFF2-40B4-BE49-F238E27FC236}">
                <a16:creationId xmlns:a16="http://schemas.microsoft.com/office/drawing/2014/main" id="{0DA838A3-1799-48B8-A4D7-35A58F441AD0}"/>
              </a:ext>
            </a:extLst>
          </p:cNvPr>
          <p:cNvGrpSpPr/>
          <p:nvPr/>
        </p:nvGrpSpPr>
        <p:grpSpPr>
          <a:xfrm>
            <a:off x="1719943" y="1542098"/>
            <a:ext cx="8035290" cy="0"/>
            <a:chOff x="0" y="0"/>
            <a:chExt cx="8035862" cy="1"/>
          </a:xfrm>
        </p:grpSpPr>
        <p:sp>
          <p:nvSpPr>
            <p:cNvPr id="10" name="Shape 13158">
              <a:extLst>
                <a:ext uri="{FF2B5EF4-FFF2-40B4-BE49-F238E27FC236}">
                  <a16:creationId xmlns:a16="http://schemas.microsoft.com/office/drawing/2014/main" id="{2B287451-AA16-4C37-B4A5-E4842616D36B}"/>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sp>
        <p:nvSpPr>
          <p:cNvPr id="11" name="Rectangle 4">
            <a:extLst>
              <a:ext uri="{FF2B5EF4-FFF2-40B4-BE49-F238E27FC236}">
                <a16:creationId xmlns:a16="http://schemas.microsoft.com/office/drawing/2014/main" id="{86DB6CAE-E0A1-4FBD-900B-52460BBE5E9B}"/>
              </a:ext>
            </a:extLst>
          </p:cNvPr>
          <p:cNvSpPr>
            <a:spLocks noChangeArrowheads="1"/>
          </p:cNvSpPr>
          <p:nvPr/>
        </p:nvSpPr>
        <p:spPr bwMode="auto">
          <a:xfrm>
            <a:off x="1200149" y="630168"/>
            <a:ext cx="1045191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Description fonctionnelle des besoins</a:t>
            </a:r>
          </a:p>
        </p:txBody>
      </p:sp>
      <p:sp>
        <p:nvSpPr>
          <p:cNvPr id="5" name="Espace réservé du numéro de diapositive 4">
            <a:extLst>
              <a:ext uri="{FF2B5EF4-FFF2-40B4-BE49-F238E27FC236}">
                <a16:creationId xmlns:a16="http://schemas.microsoft.com/office/drawing/2014/main" id="{10178E1C-1FEF-41F9-B2E4-D3CE7A31B489}"/>
              </a:ext>
            </a:extLst>
          </p:cNvPr>
          <p:cNvSpPr>
            <a:spLocks noGrp="1"/>
          </p:cNvSpPr>
          <p:nvPr>
            <p:ph type="sldNum" sz="quarter" idx="12"/>
          </p:nvPr>
        </p:nvSpPr>
        <p:spPr/>
        <p:txBody>
          <a:bodyPr/>
          <a:lstStyle/>
          <a:p>
            <a:fld id="{69E57DC2-970A-4B3E-BB1C-7A09969E49DF}" type="slidenum">
              <a:rPr lang="en-US" smtClean="0"/>
              <a:t>15</a:t>
            </a:fld>
            <a:endParaRPr lang="en-US" dirty="0"/>
          </a:p>
        </p:txBody>
      </p:sp>
      <p:sp>
        <p:nvSpPr>
          <p:cNvPr id="3" name="Espace réservé du pied de page 2">
            <a:extLst>
              <a:ext uri="{FF2B5EF4-FFF2-40B4-BE49-F238E27FC236}">
                <a16:creationId xmlns:a16="http://schemas.microsoft.com/office/drawing/2014/main" id="{872142C7-FA41-403C-9018-6E0A112F192F}"/>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
        <p:nvSpPr>
          <p:cNvPr id="6" name="ZoneTexte 5">
            <a:extLst>
              <a:ext uri="{FF2B5EF4-FFF2-40B4-BE49-F238E27FC236}">
                <a16:creationId xmlns:a16="http://schemas.microsoft.com/office/drawing/2014/main" id="{A5A3792A-F6FD-73C5-7669-E2ABF31868A8}"/>
              </a:ext>
            </a:extLst>
          </p:cNvPr>
          <p:cNvSpPr txBox="1"/>
          <p:nvPr/>
        </p:nvSpPr>
        <p:spPr>
          <a:xfrm>
            <a:off x="1897408" y="2372460"/>
            <a:ext cx="8717280" cy="2113079"/>
          </a:xfrm>
          <a:prstGeom prst="rect">
            <a:avLst/>
          </a:prstGeom>
          <a:noFill/>
        </p:spPr>
        <p:txBody>
          <a:bodyPr wrap="square">
            <a:spAutoFit/>
          </a:bodyPr>
          <a:lstStyle/>
          <a:p>
            <a:pPr algn="l">
              <a:lnSpc>
                <a:spcPct val="200000"/>
              </a:lnSpc>
            </a:pPr>
            <a:r>
              <a:rPr lang="fr-FR" sz="2300" dirty="0">
                <a:solidFill>
                  <a:srgbClr val="404040"/>
                </a:solidFill>
                <a:latin typeface="Comic Sans MS" panose="030F0702030302020204" pitchFamily="66" charset="0"/>
              </a:rPr>
              <a:t>deux types de cahier des charges : </a:t>
            </a:r>
          </a:p>
          <a:p>
            <a:pPr algn="l">
              <a:lnSpc>
                <a:spcPct val="200000"/>
              </a:lnSpc>
            </a:pPr>
            <a:r>
              <a:rPr lang="fr-FR" sz="2300" dirty="0">
                <a:solidFill>
                  <a:srgbClr val="404040"/>
                </a:solidFill>
                <a:latin typeface="Comic Sans MS" panose="030F0702030302020204" pitchFamily="66" charset="0"/>
              </a:rPr>
              <a:t>-le cahier de charge fonctionnel </a:t>
            </a:r>
          </a:p>
          <a:p>
            <a:pPr algn="l">
              <a:lnSpc>
                <a:spcPct val="200000"/>
              </a:lnSpc>
            </a:pPr>
            <a:r>
              <a:rPr lang="fr-FR" sz="2300" dirty="0">
                <a:solidFill>
                  <a:srgbClr val="404040"/>
                </a:solidFill>
                <a:latin typeface="Comic Sans MS" panose="030F0702030302020204" pitchFamily="66" charset="0"/>
              </a:rPr>
              <a:t>-et le cahier de charge technique</a:t>
            </a:r>
            <a:endParaRPr lang="fr-BF" sz="2300" dirty="0">
              <a:solidFill>
                <a:srgbClr val="404040"/>
              </a:solidFill>
              <a:latin typeface="Comic Sans MS" panose="030F0702030302020204" pitchFamily="66" charset="0"/>
            </a:endParaRPr>
          </a:p>
        </p:txBody>
      </p:sp>
    </p:spTree>
    <p:extLst>
      <p:ext uri="{BB962C8B-B14F-4D97-AF65-F5344CB8AC3E}">
        <p14:creationId xmlns:p14="http://schemas.microsoft.com/office/powerpoint/2010/main" val="1401469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CAC4-E495-35A5-598E-6777EF4FBBDD}"/>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AF01CD4F-7F94-F213-12FF-657FB4EA914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8" name="Tableau 7">
            <a:extLst>
              <a:ext uri="{FF2B5EF4-FFF2-40B4-BE49-F238E27FC236}">
                <a16:creationId xmlns:a16="http://schemas.microsoft.com/office/drawing/2014/main" id="{997BFB5C-5A8F-F9C2-88B8-BE267123BA02}"/>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grpSp>
        <p:nvGrpSpPr>
          <p:cNvPr id="9" name="Group 13157">
            <a:extLst>
              <a:ext uri="{FF2B5EF4-FFF2-40B4-BE49-F238E27FC236}">
                <a16:creationId xmlns:a16="http://schemas.microsoft.com/office/drawing/2014/main" id="{352D0905-068A-4620-297B-C294F29699B1}"/>
              </a:ext>
            </a:extLst>
          </p:cNvPr>
          <p:cNvGrpSpPr/>
          <p:nvPr/>
        </p:nvGrpSpPr>
        <p:grpSpPr>
          <a:xfrm>
            <a:off x="1719943" y="1542098"/>
            <a:ext cx="8035290" cy="0"/>
            <a:chOff x="0" y="0"/>
            <a:chExt cx="8035862" cy="1"/>
          </a:xfrm>
        </p:grpSpPr>
        <p:sp>
          <p:nvSpPr>
            <p:cNvPr id="10" name="Shape 13158">
              <a:extLst>
                <a:ext uri="{FF2B5EF4-FFF2-40B4-BE49-F238E27FC236}">
                  <a16:creationId xmlns:a16="http://schemas.microsoft.com/office/drawing/2014/main" id="{80930D86-8494-18E9-702C-32BFE28DDAA5}"/>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sp>
        <p:nvSpPr>
          <p:cNvPr id="11" name="Rectangle 4">
            <a:extLst>
              <a:ext uri="{FF2B5EF4-FFF2-40B4-BE49-F238E27FC236}">
                <a16:creationId xmlns:a16="http://schemas.microsoft.com/office/drawing/2014/main" id="{247D1212-669F-70DF-C55A-824A8FD6FAC4}"/>
              </a:ext>
            </a:extLst>
          </p:cNvPr>
          <p:cNvSpPr>
            <a:spLocks noChangeArrowheads="1"/>
          </p:cNvSpPr>
          <p:nvPr/>
        </p:nvSpPr>
        <p:spPr bwMode="auto">
          <a:xfrm>
            <a:off x="1200149" y="630168"/>
            <a:ext cx="1045191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Description fonctionnelle des besoins</a:t>
            </a:r>
          </a:p>
        </p:txBody>
      </p:sp>
      <p:sp>
        <p:nvSpPr>
          <p:cNvPr id="18" name="ZoneTexte 17">
            <a:extLst>
              <a:ext uri="{FF2B5EF4-FFF2-40B4-BE49-F238E27FC236}">
                <a16:creationId xmlns:a16="http://schemas.microsoft.com/office/drawing/2014/main" id="{0BED7FAD-BD1A-01CE-3C54-2AF95F67283A}"/>
              </a:ext>
            </a:extLst>
          </p:cNvPr>
          <p:cNvSpPr txBox="1"/>
          <p:nvPr/>
        </p:nvSpPr>
        <p:spPr>
          <a:xfrm>
            <a:off x="1091448" y="1730308"/>
            <a:ext cx="9292280" cy="3528851"/>
          </a:xfrm>
          <a:prstGeom prst="rect">
            <a:avLst/>
          </a:prstGeom>
          <a:noFill/>
        </p:spPr>
        <p:txBody>
          <a:bodyPr wrap="square">
            <a:spAutoFit/>
          </a:bodyPr>
          <a:lstStyle/>
          <a:p>
            <a:pPr marL="527050" indent="-342900" algn="just">
              <a:lnSpc>
                <a:spcPct val="200000"/>
              </a:lnSpc>
              <a:spcAft>
                <a:spcPts val="25"/>
              </a:spcAft>
              <a:buFont typeface="Wingdings" panose="05000000000000000000" pitchFamily="2" charset="2"/>
              <a:buChar char="v"/>
            </a:pPr>
            <a:r>
              <a:rPr lang="fr-FR" sz="2300" b="1" dirty="0">
                <a:solidFill>
                  <a:srgbClr val="404040"/>
                </a:solidFill>
                <a:latin typeface="Comic Sans MS" panose="030F0702030302020204" pitchFamily="66" charset="0"/>
              </a:rPr>
              <a:t>Le cahier de charge fonctionnel</a:t>
            </a:r>
          </a:p>
          <a:p>
            <a:pPr algn="l">
              <a:lnSpc>
                <a:spcPct val="200000"/>
              </a:lnSpc>
            </a:pPr>
            <a:r>
              <a:rPr lang="fr-FR" sz="2300" dirty="0">
                <a:solidFill>
                  <a:srgbClr val="404040"/>
                </a:solidFill>
                <a:latin typeface="Comic Sans MS" panose="030F0702030302020204" pitchFamily="66" charset="0"/>
              </a:rPr>
              <a:t>vise à définir les contours d’un projet en</a:t>
            </a:r>
          </a:p>
          <a:p>
            <a:pPr algn="l">
              <a:lnSpc>
                <a:spcPct val="200000"/>
              </a:lnSpc>
            </a:pPr>
            <a:r>
              <a:rPr lang="fr-FR" sz="2300" dirty="0">
                <a:solidFill>
                  <a:srgbClr val="404040"/>
                </a:solidFill>
                <a:latin typeface="Comic Sans MS" panose="030F0702030302020204" pitchFamily="66" charset="0"/>
              </a:rPr>
              <a:t>définissant tous les besoins futurs de l’entreprise, en ce qui</a:t>
            </a:r>
          </a:p>
          <a:p>
            <a:pPr algn="l">
              <a:lnSpc>
                <a:spcPct val="200000"/>
              </a:lnSpc>
            </a:pPr>
            <a:r>
              <a:rPr lang="fr-FR" sz="2300" dirty="0">
                <a:solidFill>
                  <a:srgbClr val="404040"/>
                </a:solidFill>
                <a:latin typeface="Comic Sans MS" panose="030F0702030302020204" pitchFamily="66" charset="0"/>
              </a:rPr>
              <a:t>concerne la fonctionnalité.</a:t>
            </a:r>
          </a:p>
          <a:p>
            <a:pPr algn="l">
              <a:lnSpc>
                <a:spcPct val="200000"/>
              </a:lnSpc>
            </a:pPr>
            <a:endParaRPr lang="fr-FR" sz="2300" dirty="0">
              <a:solidFill>
                <a:srgbClr val="404040"/>
              </a:solidFill>
              <a:latin typeface="Comic Sans MS" panose="030F0702030302020204" pitchFamily="66" charset="0"/>
            </a:endParaRPr>
          </a:p>
        </p:txBody>
      </p:sp>
      <p:sp>
        <p:nvSpPr>
          <p:cNvPr id="5" name="Espace réservé du numéro de diapositive 4">
            <a:extLst>
              <a:ext uri="{FF2B5EF4-FFF2-40B4-BE49-F238E27FC236}">
                <a16:creationId xmlns:a16="http://schemas.microsoft.com/office/drawing/2014/main" id="{FD460900-F9D4-E2B6-5162-026BE667C291}"/>
              </a:ext>
            </a:extLst>
          </p:cNvPr>
          <p:cNvSpPr>
            <a:spLocks noGrp="1"/>
          </p:cNvSpPr>
          <p:nvPr>
            <p:ph type="sldNum" sz="quarter" idx="12"/>
          </p:nvPr>
        </p:nvSpPr>
        <p:spPr/>
        <p:txBody>
          <a:bodyPr/>
          <a:lstStyle/>
          <a:p>
            <a:fld id="{69E57DC2-970A-4B3E-BB1C-7A09969E49DF}" type="slidenum">
              <a:rPr lang="en-US" smtClean="0"/>
              <a:t>16</a:t>
            </a:fld>
            <a:endParaRPr lang="en-US" dirty="0"/>
          </a:p>
        </p:txBody>
      </p:sp>
      <p:sp>
        <p:nvSpPr>
          <p:cNvPr id="3" name="Espace réservé du pied de page 2">
            <a:extLst>
              <a:ext uri="{FF2B5EF4-FFF2-40B4-BE49-F238E27FC236}">
                <a16:creationId xmlns:a16="http://schemas.microsoft.com/office/drawing/2014/main" id="{8BFA178A-9E63-0541-F618-CB6C65F224AA}"/>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414283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4A39E-5A71-3363-8FF8-A46B28E94B4A}"/>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296994C2-1691-9BD9-1EF3-3286EBBB055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8" name="Tableau 7">
            <a:extLst>
              <a:ext uri="{FF2B5EF4-FFF2-40B4-BE49-F238E27FC236}">
                <a16:creationId xmlns:a16="http://schemas.microsoft.com/office/drawing/2014/main" id="{7F1A21C1-27D0-3A6E-604F-1DEC6E3359EE}"/>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grpSp>
        <p:nvGrpSpPr>
          <p:cNvPr id="9" name="Group 13157">
            <a:extLst>
              <a:ext uri="{FF2B5EF4-FFF2-40B4-BE49-F238E27FC236}">
                <a16:creationId xmlns:a16="http://schemas.microsoft.com/office/drawing/2014/main" id="{29C627CC-4D9A-62FE-3282-9820D9C02289}"/>
              </a:ext>
            </a:extLst>
          </p:cNvPr>
          <p:cNvGrpSpPr/>
          <p:nvPr/>
        </p:nvGrpSpPr>
        <p:grpSpPr>
          <a:xfrm>
            <a:off x="1719943" y="1542098"/>
            <a:ext cx="8035290" cy="0"/>
            <a:chOff x="0" y="0"/>
            <a:chExt cx="8035862" cy="1"/>
          </a:xfrm>
        </p:grpSpPr>
        <p:sp>
          <p:nvSpPr>
            <p:cNvPr id="10" name="Shape 13158">
              <a:extLst>
                <a:ext uri="{FF2B5EF4-FFF2-40B4-BE49-F238E27FC236}">
                  <a16:creationId xmlns:a16="http://schemas.microsoft.com/office/drawing/2014/main" id="{AA55B9F9-EAE0-B5A0-BC7B-495556F86BD3}"/>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sp>
        <p:nvSpPr>
          <p:cNvPr id="11" name="Rectangle 4">
            <a:extLst>
              <a:ext uri="{FF2B5EF4-FFF2-40B4-BE49-F238E27FC236}">
                <a16:creationId xmlns:a16="http://schemas.microsoft.com/office/drawing/2014/main" id="{2B8141E1-55AB-ED95-69AA-CF7AC4997C5C}"/>
              </a:ext>
            </a:extLst>
          </p:cNvPr>
          <p:cNvSpPr>
            <a:spLocks noChangeArrowheads="1"/>
          </p:cNvSpPr>
          <p:nvPr/>
        </p:nvSpPr>
        <p:spPr bwMode="auto">
          <a:xfrm>
            <a:off x="1200149" y="630168"/>
            <a:ext cx="1045191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Description fonctionnelle des besoins</a:t>
            </a:r>
          </a:p>
        </p:txBody>
      </p:sp>
      <p:sp>
        <p:nvSpPr>
          <p:cNvPr id="18" name="ZoneTexte 17">
            <a:extLst>
              <a:ext uri="{FF2B5EF4-FFF2-40B4-BE49-F238E27FC236}">
                <a16:creationId xmlns:a16="http://schemas.microsoft.com/office/drawing/2014/main" id="{1B16589F-5D59-B072-0135-79E13091E8AD}"/>
              </a:ext>
            </a:extLst>
          </p:cNvPr>
          <p:cNvSpPr txBox="1"/>
          <p:nvPr/>
        </p:nvSpPr>
        <p:spPr>
          <a:xfrm>
            <a:off x="1091448" y="1730308"/>
            <a:ext cx="11100552" cy="4236737"/>
          </a:xfrm>
          <a:prstGeom prst="rect">
            <a:avLst/>
          </a:prstGeom>
          <a:noFill/>
        </p:spPr>
        <p:txBody>
          <a:bodyPr wrap="square">
            <a:spAutoFit/>
          </a:bodyPr>
          <a:lstStyle/>
          <a:p>
            <a:pPr marL="527050" indent="-342900" algn="just">
              <a:lnSpc>
                <a:spcPct val="200000"/>
              </a:lnSpc>
              <a:spcAft>
                <a:spcPts val="25"/>
              </a:spcAft>
              <a:buFont typeface="Wingdings" panose="05000000000000000000" pitchFamily="2" charset="2"/>
              <a:buChar char="v"/>
            </a:pPr>
            <a:r>
              <a:rPr lang="fr-FR" sz="2300" b="1" dirty="0">
                <a:solidFill>
                  <a:srgbClr val="404040"/>
                </a:solidFill>
                <a:latin typeface="Comic Sans MS" panose="030F0702030302020204" pitchFamily="66" charset="0"/>
              </a:rPr>
              <a:t>Le cahier de charge technique</a:t>
            </a:r>
          </a:p>
          <a:p>
            <a:pPr algn="l">
              <a:lnSpc>
                <a:spcPct val="200000"/>
              </a:lnSpc>
            </a:pPr>
            <a:r>
              <a:rPr lang="fr-FR" sz="2300" dirty="0">
                <a:solidFill>
                  <a:srgbClr val="404040"/>
                </a:solidFill>
                <a:latin typeface="Comic Sans MS" panose="030F0702030302020204" pitchFamily="66" charset="0"/>
              </a:rPr>
              <a:t>Document très technique assurant le développement du</a:t>
            </a:r>
          </a:p>
          <a:p>
            <a:pPr algn="l">
              <a:lnSpc>
                <a:spcPct val="200000"/>
              </a:lnSpc>
            </a:pPr>
            <a:r>
              <a:rPr lang="fr-FR" sz="2300" dirty="0">
                <a:solidFill>
                  <a:srgbClr val="404040"/>
                </a:solidFill>
                <a:latin typeface="Comic Sans MS" panose="030F0702030302020204" pitchFamily="66" charset="0"/>
              </a:rPr>
              <a:t>projet, incluant tous les éléments techniques ainsi que les</a:t>
            </a:r>
          </a:p>
          <a:p>
            <a:pPr algn="l">
              <a:lnSpc>
                <a:spcPct val="200000"/>
              </a:lnSpc>
            </a:pPr>
            <a:r>
              <a:rPr lang="fr-FR" sz="2300" dirty="0">
                <a:solidFill>
                  <a:srgbClr val="404040"/>
                </a:solidFill>
                <a:latin typeface="Comic Sans MS" panose="030F0702030302020204" pitchFamily="66" charset="0"/>
              </a:rPr>
              <a:t>contraintes.</a:t>
            </a:r>
          </a:p>
          <a:p>
            <a:pPr algn="l">
              <a:lnSpc>
                <a:spcPct val="200000"/>
              </a:lnSpc>
            </a:pPr>
            <a:r>
              <a:rPr lang="fr-FR" sz="2300" dirty="0">
                <a:solidFill>
                  <a:srgbClr val="404040"/>
                </a:solidFill>
                <a:latin typeface="Comic Sans MS" panose="030F0702030302020204" pitchFamily="66" charset="0"/>
              </a:rPr>
              <a:t>Le cahier des charges technique est indispensable aux</a:t>
            </a:r>
          </a:p>
          <a:p>
            <a:pPr algn="l">
              <a:lnSpc>
                <a:spcPct val="200000"/>
              </a:lnSpc>
            </a:pPr>
            <a:r>
              <a:rPr lang="fr-FR" sz="2300" dirty="0">
                <a:solidFill>
                  <a:srgbClr val="404040"/>
                </a:solidFill>
                <a:latin typeface="Comic Sans MS" panose="030F0702030302020204" pitchFamily="66" charset="0"/>
              </a:rPr>
              <a:t>développeurs de projet pour adapter les réalisations aux besoins.</a:t>
            </a:r>
          </a:p>
        </p:txBody>
      </p:sp>
      <p:sp>
        <p:nvSpPr>
          <p:cNvPr id="5" name="Espace réservé du numéro de diapositive 4">
            <a:extLst>
              <a:ext uri="{FF2B5EF4-FFF2-40B4-BE49-F238E27FC236}">
                <a16:creationId xmlns:a16="http://schemas.microsoft.com/office/drawing/2014/main" id="{17CD274B-3984-C0D9-6BCC-011F105DD58D}"/>
              </a:ext>
            </a:extLst>
          </p:cNvPr>
          <p:cNvSpPr>
            <a:spLocks noGrp="1"/>
          </p:cNvSpPr>
          <p:nvPr>
            <p:ph type="sldNum" sz="quarter" idx="12"/>
          </p:nvPr>
        </p:nvSpPr>
        <p:spPr/>
        <p:txBody>
          <a:bodyPr/>
          <a:lstStyle/>
          <a:p>
            <a:fld id="{69E57DC2-970A-4B3E-BB1C-7A09969E49DF}" type="slidenum">
              <a:rPr lang="en-US" smtClean="0"/>
              <a:t>17</a:t>
            </a:fld>
            <a:endParaRPr lang="en-US" dirty="0"/>
          </a:p>
        </p:txBody>
      </p:sp>
      <p:sp>
        <p:nvSpPr>
          <p:cNvPr id="3" name="Espace réservé du pied de page 2">
            <a:extLst>
              <a:ext uri="{FF2B5EF4-FFF2-40B4-BE49-F238E27FC236}">
                <a16:creationId xmlns:a16="http://schemas.microsoft.com/office/drawing/2014/main" id="{74534A31-6BF1-07BF-E2D1-2A109758DE9B}"/>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2885369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6" y="2249097"/>
            <a:ext cx="9401447"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Enveloppe budgétaire </a:t>
            </a:r>
          </a:p>
        </p:txBody>
      </p:sp>
      <p:sp>
        <p:nvSpPr>
          <p:cNvPr id="5" name="Espace réservé du numéro de diapositive 4">
            <a:extLst>
              <a:ext uri="{FF2B5EF4-FFF2-40B4-BE49-F238E27FC236}">
                <a16:creationId xmlns:a16="http://schemas.microsoft.com/office/drawing/2014/main" id="{4B085908-77F4-4C88-833A-D75E74C7A0AE}"/>
              </a:ext>
            </a:extLst>
          </p:cNvPr>
          <p:cNvSpPr>
            <a:spLocks noGrp="1"/>
          </p:cNvSpPr>
          <p:nvPr>
            <p:ph type="sldNum" sz="quarter" idx="12"/>
          </p:nvPr>
        </p:nvSpPr>
        <p:spPr/>
        <p:txBody>
          <a:bodyPr/>
          <a:lstStyle/>
          <a:p>
            <a:fld id="{69E57DC2-970A-4B3E-BB1C-7A09969E49DF}" type="slidenum">
              <a:rPr lang="en-US" smtClean="0"/>
              <a:t>18</a:t>
            </a:fld>
            <a:endParaRPr lang="en-US" dirty="0"/>
          </a:p>
        </p:txBody>
      </p:sp>
      <p:sp>
        <p:nvSpPr>
          <p:cNvPr id="3" name="Espace réservé du pied de page 2">
            <a:extLst>
              <a:ext uri="{FF2B5EF4-FFF2-40B4-BE49-F238E27FC236}">
                <a16:creationId xmlns:a16="http://schemas.microsoft.com/office/drawing/2014/main" id="{FDE44050-74E3-4BD1-B1E0-B64B87EC0342}"/>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3677939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908845" y="12515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A157D5E8-A098-456A-90DE-C0918BECE009}"/>
              </a:ext>
            </a:extLst>
          </p:cNvPr>
          <p:cNvSpPr txBox="1"/>
          <p:nvPr/>
        </p:nvSpPr>
        <p:spPr>
          <a:xfrm>
            <a:off x="1719943" y="457200"/>
            <a:ext cx="8199427"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Enveloppe budgétaire </a:t>
            </a:r>
          </a:p>
        </p:txBody>
      </p:sp>
      <p:sp>
        <p:nvSpPr>
          <p:cNvPr id="10" name="ZoneTexte 9">
            <a:extLst>
              <a:ext uri="{FF2B5EF4-FFF2-40B4-BE49-F238E27FC236}">
                <a16:creationId xmlns:a16="http://schemas.microsoft.com/office/drawing/2014/main" id="{C9579E4D-A9ED-45D0-9F6A-2B2D28A0D1D9}"/>
              </a:ext>
            </a:extLst>
          </p:cNvPr>
          <p:cNvSpPr txBox="1"/>
          <p:nvPr/>
        </p:nvSpPr>
        <p:spPr>
          <a:xfrm>
            <a:off x="1289796" y="1834598"/>
            <a:ext cx="9273387" cy="1405193"/>
          </a:xfrm>
          <a:prstGeom prst="rect">
            <a:avLst/>
          </a:prstGeom>
          <a:noFill/>
        </p:spPr>
        <p:txBody>
          <a:bodyPr wrap="square">
            <a:spAutoFit/>
          </a:bodyPr>
          <a:lstStyle/>
          <a:p>
            <a:pPr algn="l">
              <a:lnSpc>
                <a:spcPct val="200000"/>
              </a:lnSpc>
            </a:pPr>
            <a:r>
              <a:rPr lang="fr-FR" sz="2300" dirty="0">
                <a:solidFill>
                  <a:srgbClr val="404040"/>
                </a:solidFill>
                <a:latin typeface="Comic Sans MS" panose="030F0702030302020204" pitchFamily="66" charset="0"/>
              </a:rPr>
              <a:t>Une estimation du budget requis pour la réalisation d’un projet</a:t>
            </a:r>
          </a:p>
          <a:p>
            <a:pPr algn="l">
              <a:lnSpc>
                <a:spcPct val="200000"/>
              </a:lnSpc>
            </a:pPr>
            <a:r>
              <a:rPr lang="fr-FR" sz="2300" dirty="0">
                <a:solidFill>
                  <a:srgbClr val="404040"/>
                </a:solidFill>
                <a:latin typeface="Comic Sans MS" panose="030F0702030302020204" pitchFamily="66" charset="0"/>
              </a:rPr>
              <a:t>est importante pour assurer une bonne rentabilité.</a:t>
            </a:r>
          </a:p>
        </p:txBody>
      </p:sp>
      <p:sp>
        <p:nvSpPr>
          <p:cNvPr id="5" name="Espace réservé du numéro de diapositive 4">
            <a:extLst>
              <a:ext uri="{FF2B5EF4-FFF2-40B4-BE49-F238E27FC236}">
                <a16:creationId xmlns:a16="http://schemas.microsoft.com/office/drawing/2014/main" id="{06B79CDC-836F-4318-8EB7-6C18B6AEA6B2}"/>
              </a:ext>
            </a:extLst>
          </p:cNvPr>
          <p:cNvSpPr>
            <a:spLocks noGrp="1"/>
          </p:cNvSpPr>
          <p:nvPr>
            <p:ph type="sldNum" sz="quarter" idx="12"/>
          </p:nvPr>
        </p:nvSpPr>
        <p:spPr/>
        <p:txBody>
          <a:bodyPr/>
          <a:lstStyle/>
          <a:p>
            <a:fld id="{69E57DC2-970A-4B3E-BB1C-7A09969E49DF}" type="slidenum">
              <a:rPr lang="en-US" smtClean="0"/>
              <a:t>19</a:t>
            </a:fld>
            <a:endParaRPr lang="en-US" dirty="0"/>
          </a:p>
        </p:txBody>
      </p:sp>
      <p:sp>
        <p:nvSpPr>
          <p:cNvPr id="3" name="Espace réservé du pied de page 2">
            <a:extLst>
              <a:ext uri="{FF2B5EF4-FFF2-40B4-BE49-F238E27FC236}">
                <a16:creationId xmlns:a16="http://schemas.microsoft.com/office/drawing/2014/main" id="{C13A41E1-B878-4D85-A7B6-2732EDCF5B88}"/>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
        <p:nvSpPr>
          <p:cNvPr id="12" name="ZoneTexte 11">
            <a:extLst>
              <a:ext uri="{FF2B5EF4-FFF2-40B4-BE49-F238E27FC236}">
                <a16:creationId xmlns:a16="http://schemas.microsoft.com/office/drawing/2014/main" id="{5AF52332-17B2-0ED9-D601-F94D0212A2AB}"/>
              </a:ext>
            </a:extLst>
          </p:cNvPr>
          <p:cNvSpPr txBox="1"/>
          <p:nvPr/>
        </p:nvSpPr>
        <p:spPr>
          <a:xfrm>
            <a:off x="1285630" y="4358377"/>
            <a:ext cx="9496697" cy="1095493"/>
          </a:xfrm>
          <a:prstGeom prst="rect">
            <a:avLst/>
          </a:prstGeom>
          <a:noFill/>
        </p:spPr>
        <p:txBody>
          <a:bodyPr wrap="square">
            <a:spAutoFit/>
          </a:bodyPr>
          <a:lstStyle/>
          <a:p>
            <a:pPr algn="l">
              <a:lnSpc>
                <a:spcPct val="150000"/>
              </a:lnSpc>
            </a:pPr>
            <a:r>
              <a:rPr lang="fr-FR" sz="2300" dirty="0">
                <a:solidFill>
                  <a:srgbClr val="404040"/>
                </a:solidFill>
                <a:latin typeface="Comic Sans MS" panose="030F0702030302020204" pitchFamily="66" charset="0"/>
              </a:rPr>
              <a:t>Une mauvaise gestion budgétaire serait catastrophique pouvant</a:t>
            </a:r>
          </a:p>
          <a:p>
            <a:pPr algn="l">
              <a:lnSpc>
                <a:spcPct val="150000"/>
              </a:lnSpc>
            </a:pPr>
            <a:r>
              <a:rPr lang="fr-FR" sz="2300" dirty="0">
                <a:solidFill>
                  <a:srgbClr val="404040"/>
                </a:solidFill>
                <a:latin typeface="Comic Sans MS" panose="030F0702030302020204" pitchFamily="66" charset="0"/>
              </a:rPr>
              <a:t>entrainer des pertes lourdes pour une entreprise.</a:t>
            </a:r>
            <a:endParaRPr lang="fr-BF" sz="2300" dirty="0">
              <a:solidFill>
                <a:srgbClr val="404040"/>
              </a:solidFill>
              <a:latin typeface="Comic Sans MS" panose="030F0702030302020204" pitchFamily="66" charset="0"/>
            </a:endParaRPr>
          </a:p>
        </p:txBody>
      </p:sp>
    </p:spTree>
    <p:extLst>
      <p:ext uri="{BB962C8B-B14F-4D97-AF65-F5344CB8AC3E}">
        <p14:creationId xmlns:p14="http://schemas.microsoft.com/office/powerpoint/2010/main" val="4255458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FFCE-12E3-4DBC-9558-4B2CD8D591EA}"/>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471912BE-E46A-A54D-71F7-E4B8ECF4758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B04D15F3-71DD-4660-7368-56A2187BE974}"/>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2440EC5B-F165-BD5D-A973-5E7C06EA7DFE}"/>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48CB8E4E-5A0B-33C3-BCE0-7323C8B50360}"/>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CC76298F-E764-5BDB-76D5-72D942090167}"/>
              </a:ext>
            </a:extLst>
          </p:cNvPr>
          <p:cNvSpPr txBox="1"/>
          <p:nvPr/>
        </p:nvSpPr>
        <p:spPr>
          <a:xfrm>
            <a:off x="2035356" y="2249097"/>
            <a:ext cx="9401447"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Les délais de réalisation </a:t>
            </a:r>
          </a:p>
        </p:txBody>
      </p:sp>
      <p:sp>
        <p:nvSpPr>
          <p:cNvPr id="5" name="Espace réservé du numéro de diapositive 4">
            <a:extLst>
              <a:ext uri="{FF2B5EF4-FFF2-40B4-BE49-F238E27FC236}">
                <a16:creationId xmlns:a16="http://schemas.microsoft.com/office/drawing/2014/main" id="{F1FF1D96-8456-E95A-FBF4-4C8ECEEA58E5}"/>
              </a:ext>
            </a:extLst>
          </p:cNvPr>
          <p:cNvSpPr>
            <a:spLocks noGrp="1"/>
          </p:cNvSpPr>
          <p:nvPr>
            <p:ph type="sldNum" sz="quarter" idx="12"/>
          </p:nvPr>
        </p:nvSpPr>
        <p:spPr/>
        <p:txBody>
          <a:bodyPr/>
          <a:lstStyle/>
          <a:p>
            <a:fld id="{69E57DC2-970A-4B3E-BB1C-7A09969E49DF}" type="slidenum">
              <a:rPr lang="en-US" smtClean="0"/>
              <a:t>20</a:t>
            </a:fld>
            <a:endParaRPr lang="en-US" dirty="0"/>
          </a:p>
        </p:txBody>
      </p:sp>
      <p:sp>
        <p:nvSpPr>
          <p:cNvPr id="3" name="Espace réservé du pied de page 2">
            <a:extLst>
              <a:ext uri="{FF2B5EF4-FFF2-40B4-BE49-F238E27FC236}">
                <a16:creationId xmlns:a16="http://schemas.microsoft.com/office/drawing/2014/main" id="{9DD2FBD3-0110-FB8D-6640-BB04E963D0D0}"/>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1495639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C863-38FF-0AE1-088B-920AEEF24B0F}"/>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07E834F7-DB2A-C087-9559-78453054B60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1E98657D-55EF-8488-E223-9DEE2A81C529}"/>
              </a:ext>
            </a:extLst>
          </p:cNvPr>
          <p:cNvGrpSpPr/>
          <p:nvPr/>
        </p:nvGrpSpPr>
        <p:grpSpPr>
          <a:xfrm>
            <a:off x="1908845" y="1251555"/>
            <a:ext cx="8035290" cy="0"/>
            <a:chOff x="0" y="0"/>
            <a:chExt cx="8035862" cy="1"/>
          </a:xfrm>
        </p:grpSpPr>
        <p:sp>
          <p:nvSpPr>
            <p:cNvPr id="7" name="Shape 38">
              <a:extLst>
                <a:ext uri="{FF2B5EF4-FFF2-40B4-BE49-F238E27FC236}">
                  <a16:creationId xmlns:a16="http://schemas.microsoft.com/office/drawing/2014/main" id="{1C89EDDA-8019-88D7-928C-6506A94DC9C3}"/>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1F45C9DB-B2DA-CE28-CE0F-1DEF5574A5FC}"/>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0E3565E2-DCA4-7508-F4FB-F34E20CE6677}"/>
              </a:ext>
            </a:extLst>
          </p:cNvPr>
          <p:cNvSpPr txBox="1"/>
          <p:nvPr/>
        </p:nvSpPr>
        <p:spPr>
          <a:xfrm>
            <a:off x="1719943" y="457200"/>
            <a:ext cx="8199427"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Enveloppe budgétaire </a:t>
            </a:r>
          </a:p>
        </p:txBody>
      </p:sp>
      <p:sp>
        <p:nvSpPr>
          <p:cNvPr id="10" name="ZoneTexte 9">
            <a:extLst>
              <a:ext uri="{FF2B5EF4-FFF2-40B4-BE49-F238E27FC236}">
                <a16:creationId xmlns:a16="http://schemas.microsoft.com/office/drawing/2014/main" id="{5FF4BE46-7686-D5B0-E67C-A4E46E25A435}"/>
              </a:ext>
            </a:extLst>
          </p:cNvPr>
          <p:cNvSpPr txBox="1"/>
          <p:nvPr/>
        </p:nvSpPr>
        <p:spPr>
          <a:xfrm>
            <a:off x="1289796" y="1440352"/>
            <a:ext cx="9779232" cy="1626407"/>
          </a:xfrm>
          <a:prstGeom prst="rect">
            <a:avLst/>
          </a:prstGeom>
          <a:noFill/>
        </p:spPr>
        <p:txBody>
          <a:bodyPr wrap="square">
            <a:spAutoFit/>
          </a:bodyPr>
          <a:lstStyle/>
          <a:p>
            <a:pPr algn="l">
              <a:lnSpc>
                <a:spcPct val="150000"/>
              </a:lnSpc>
            </a:pPr>
            <a:r>
              <a:rPr lang="fr-FR" sz="2300" dirty="0">
                <a:solidFill>
                  <a:srgbClr val="404040"/>
                </a:solidFill>
                <a:latin typeface="Comic Sans MS" panose="030F0702030302020204" pitchFamily="66" charset="0"/>
              </a:rPr>
              <a:t>Les délais à respecter La date de réalisation du projet doit être</a:t>
            </a:r>
          </a:p>
          <a:p>
            <a:pPr algn="l">
              <a:lnSpc>
                <a:spcPct val="150000"/>
              </a:lnSpc>
            </a:pPr>
            <a:r>
              <a:rPr lang="fr-FR" sz="2300" dirty="0">
                <a:solidFill>
                  <a:srgbClr val="404040"/>
                </a:solidFill>
                <a:latin typeface="Comic Sans MS" panose="030F0702030302020204" pitchFamily="66" charset="0"/>
              </a:rPr>
              <a:t>mentionnée de manière précise dans le cahier de charges, et</a:t>
            </a:r>
          </a:p>
          <a:p>
            <a:pPr algn="l">
              <a:lnSpc>
                <a:spcPct val="150000"/>
              </a:lnSpc>
            </a:pPr>
            <a:r>
              <a:rPr lang="fr-FR" sz="2300" dirty="0">
                <a:solidFill>
                  <a:srgbClr val="404040"/>
                </a:solidFill>
                <a:latin typeface="Comic Sans MS" panose="030F0702030302020204" pitchFamily="66" charset="0"/>
              </a:rPr>
              <a:t>surtout le deadline.</a:t>
            </a:r>
          </a:p>
        </p:txBody>
      </p:sp>
      <p:sp>
        <p:nvSpPr>
          <p:cNvPr id="5" name="Espace réservé du numéro de diapositive 4">
            <a:extLst>
              <a:ext uri="{FF2B5EF4-FFF2-40B4-BE49-F238E27FC236}">
                <a16:creationId xmlns:a16="http://schemas.microsoft.com/office/drawing/2014/main" id="{5ACA13C3-C2B2-B44D-4CCC-8F9677C4FFEA}"/>
              </a:ext>
            </a:extLst>
          </p:cNvPr>
          <p:cNvSpPr>
            <a:spLocks noGrp="1"/>
          </p:cNvSpPr>
          <p:nvPr>
            <p:ph type="sldNum" sz="quarter" idx="12"/>
          </p:nvPr>
        </p:nvSpPr>
        <p:spPr/>
        <p:txBody>
          <a:bodyPr/>
          <a:lstStyle/>
          <a:p>
            <a:fld id="{69E57DC2-970A-4B3E-BB1C-7A09969E49DF}" type="slidenum">
              <a:rPr lang="en-US" smtClean="0"/>
              <a:t>21</a:t>
            </a:fld>
            <a:endParaRPr lang="en-US" dirty="0"/>
          </a:p>
        </p:txBody>
      </p:sp>
      <p:sp>
        <p:nvSpPr>
          <p:cNvPr id="3" name="Espace réservé du pied de page 2">
            <a:extLst>
              <a:ext uri="{FF2B5EF4-FFF2-40B4-BE49-F238E27FC236}">
                <a16:creationId xmlns:a16="http://schemas.microsoft.com/office/drawing/2014/main" id="{BB6E65E2-2492-E330-892A-8A2EE704A3B0}"/>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
        <p:nvSpPr>
          <p:cNvPr id="12" name="ZoneTexte 11">
            <a:extLst>
              <a:ext uri="{FF2B5EF4-FFF2-40B4-BE49-F238E27FC236}">
                <a16:creationId xmlns:a16="http://schemas.microsoft.com/office/drawing/2014/main" id="{79F1F8DB-7A5C-244F-F880-DE6DA94DA2E9}"/>
              </a:ext>
            </a:extLst>
          </p:cNvPr>
          <p:cNvSpPr txBox="1"/>
          <p:nvPr/>
        </p:nvSpPr>
        <p:spPr>
          <a:xfrm>
            <a:off x="1071307" y="3597728"/>
            <a:ext cx="9496697" cy="1626407"/>
          </a:xfrm>
          <a:prstGeom prst="rect">
            <a:avLst/>
          </a:prstGeom>
          <a:noFill/>
        </p:spPr>
        <p:txBody>
          <a:bodyPr wrap="square">
            <a:spAutoFit/>
          </a:bodyPr>
          <a:lstStyle/>
          <a:p>
            <a:pPr algn="l">
              <a:lnSpc>
                <a:spcPct val="150000"/>
              </a:lnSpc>
            </a:pPr>
            <a:r>
              <a:rPr lang="fr-FR" sz="2300" dirty="0">
                <a:solidFill>
                  <a:srgbClr val="404040"/>
                </a:solidFill>
                <a:latin typeface="Comic Sans MS" panose="030F0702030302020204" pitchFamily="66" charset="0"/>
              </a:rPr>
              <a:t>Dans l’établissement du délai, il est impératif d’être réaliste et</a:t>
            </a:r>
          </a:p>
          <a:p>
            <a:pPr algn="l">
              <a:lnSpc>
                <a:spcPct val="150000"/>
              </a:lnSpc>
            </a:pPr>
            <a:r>
              <a:rPr lang="fr-FR" sz="2300" dirty="0">
                <a:solidFill>
                  <a:srgbClr val="404040"/>
                </a:solidFill>
                <a:latin typeface="Comic Sans MS" panose="030F0702030302020204" pitchFamily="66" charset="0"/>
              </a:rPr>
              <a:t>de prévoir une petite marge de sécurité pour éviter le non-respect</a:t>
            </a:r>
          </a:p>
          <a:p>
            <a:pPr algn="l">
              <a:lnSpc>
                <a:spcPct val="150000"/>
              </a:lnSpc>
            </a:pPr>
            <a:r>
              <a:rPr lang="fr-FR" sz="2300" dirty="0">
                <a:solidFill>
                  <a:srgbClr val="404040"/>
                </a:solidFill>
                <a:latin typeface="Comic Sans MS" panose="030F0702030302020204" pitchFamily="66" charset="0"/>
              </a:rPr>
              <a:t>du délai ou un projet final bâclé.</a:t>
            </a:r>
            <a:endParaRPr lang="fr-BF" sz="2300" dirty="0">
              <a:solidFill>
                <a:srgbClr val="404040"/>
              </a:solidFill>
              <a:latin typeface="Comic Sans MS" panose="030F0702030302020204" pitchFamily="66" charset="0"/>
            </a:endParaRPr>
          </a:p>
        </p:txBody>
      </p:sp>
    </p:spTree>
    <p:extLst>
      <p:ext uri="{BB962C8B-B14F-4D97-AF65-F5344CB8AC3E}">
        <p14:creationId xmlns:p14="http://schemas.microsoft.com/office/powerpoint/2010/main" val="2358441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991858" y="3862694"/>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28575" cap="flat">
              <a:solidFill>
                <a:schemeClr val="tx1">
                  <a:lumMod val="95000"/>
                  <a:lumOff val="5000"/>
                </a:schemeClr>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99ED6E32-57BA-41D6-8DA3-0B405BE4FC9F}"/>
              </a:ext>
            </a:extLst>
          </p:cNvPr>
          <p:cNvSpPr txBox="1"/>
          <p:nvPr/>
        </p:nvSpPr>
        <p:spPr>
          <a:xfrm>
            <a:off x="3273806" y="2463230"/>
            <a:ext cx="6098058" cy="584775"/>
          </a:xfrm>
          <a:prstGeom prst="rect">
            <a:avLst/>
          </a:prstGeom>
          <a:noFill/>
        </p:spPr>
        <p:txBody>
          <a:bodyPr wrap="square">
            <a:spAutoFit/>
          </a:bodyPr>
          <a:lstStyle/>
          <a:p>
            <a:pPr algn="ctr"/>
            <a:r>
              <a:rPr lang="fr-FR" sz="3200" b="1" dirty="0">
                <a:solidFill>
                  <a:srgbClr val="262626"/>
                </a:solidFill>
                <a:latin typeface="Comic Sans MS" panose="030F0702030302020204" pitchFamily="66" charset="0"/>
              </a:rPr>
              <a:t>MERCI</a:t>
            </a:r>
          </a:p>
        </p:txBody>
      </p:sp>
      <p:sp>
        <p:nvSpPr>
          <p:cNvPr id="5" name="Espace réservé du numéro de diapositive 4">
            <a:extLst>
              <a:ext uri="{FF2B5EF4-FFF2-40B4-BE49-F238E27FC236}">
                <a16:creationId xmlns:a16="http://schemas.microsoft.com/office/drawing/2014/main" id="{5DF3F684-A771-4FD7-A834-6B45003101BA}"/>
              </a:ext>
            </a:extLst>
          </p:cNvPr>
          <p:cNvSpPr>
            <a:spLocks noGrp="1"/>
          </p:cNvSpPr>
          <p:nvPr>
            <p:ph type="sldNum" sz="quarter" idx="12"/>
          </p:nvPr>
        </p:nvSpPr>
        <p:spPr/>
        <p:txBody>
          <a:bodyPr/>
          <a:lstStyle/>
          <a:p>
            <a:fld id="{69E57DC2-970A-4B3E-BB1C-7A09969E49DF}" type="slidenum">
              <a:rPr lang="en-US" smtClean="0"/>
              <a:t>22</a:t>
            </a:fld>
            <a:endParaRPr lang="en-US" dirty="0"/>
          </a:p>
        </p:txBody>
      </p:sp>
      <p:sp>
        <p:nvSpPr>
          <p:cNvPr id="3" name="Espace réservé du pied de page 2">
            <a:extLst>
              <a:ext uri="{FF2B5EF4-FFF2-40B4-BE49-F238E27FC236}">
                <a16:creationId xmlns:a16="http://schemas.microsoft.com/office/drawing/2014/main" id="{7F724F12-5B97-4600-BADB-41716D88157E}"/>
              </a:ext>
            </a:extLst>
          </p:cNvPr>
          <p:cNvSpPr>
            <a:spLocks noGrp="1"/>
          </p:cNvSpPr>
          <p:nvPr>
            <p:ph type="ftr" sz="quarter" idx="11"/>
          </p:nvPr>
        </p:nvSpPr>
        <p:spPr/>
        <p:txBody>
          <a:bodyPr/>
          <a:lstStyle/>
          <a:p>
            <a:r>
              <a:rPr lang="en-US" dirty="0" err="1"/>
              <a:t>Génie</a:t>
            </a:r>
            <a:r>
              <a:rPr lang="en-US" dirty="0"/>
              <a:t> </a:t>
            </a:r>
            <a:r>
              <a:rPr lang="en-US" dirty="0" err="1"/>
              <a:t>logiciel</a:t>
            </a:r>
            <a:r>
              <a:rPr lang="en-US" dirty="0"/>
              <a:t> / cahier de charge</a:t>
            </a:r>
          </a:p>
        </p:txBody>
      </p:sp>
    </p:spTree>
    <p:extLst>
      <p:ext uri="{BB962C8B-B14F-4D97-AF65-F5344CB8AC3E}">
        <p14:creationId xmlns:p14="http://schemas.microsoft.com/office/powerpoint/2010/main" val="1394206389"/>
      </p:ext>
    </p:extLst>
  </p:cSld>
  <p:clrMapOvr>
    <a:masterClrMapping/>
  </p:clrMapOvr>
</p:sld>
</file>

<file path=ppt/theme/theme1.xml><?xml version="1.0" encoding="utf-8"?>
<a:theme xmlns:a="http://schemas.openxmlformats.org/drawingml/2006/main" name="Cadrage">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TM10001105[[fn=Cadrage]]</Template>
  <TotalTime>14664</TotalTime>
  <Words>777</Words>
  <Application>Microsoft Office PowerPoint</Application>
  <PresentationFormat>Grand écran</PresentationFormat>
  <Paragraphs>123</Paragraphs>
  <Slides>22</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Calibri</vt:lpstr>
      <vt:lpstr>Comic Sans MS</vt:lpstr>
      <vt:lpstr>Franklin Gothic Book</vt:lpstr>
      <vt:lpstr>Wingdings</vt:lpstr>
      <vt:lpstr>Cadrage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Niss</cp:lastModifiedBy>
  <cp:revision>79</cp:revision>
  <dcterms:created xsi:type="dcterms:W3CDTF">2021-09-15T18:24:39Z</dcterms:created>
  <dcterms:modified xsi:type="dcterms:W3CDTF">2024-04-22T13:03:47Z</dcterms:modified>
</cp:coreProperties>
</file>