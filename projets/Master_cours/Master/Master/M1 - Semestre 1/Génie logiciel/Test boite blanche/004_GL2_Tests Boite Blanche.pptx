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28" r:id="rId54"/>
    <p:sldId id="329" r:id="rId5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4246" y="1463581"/>
            <a:ext cx="5316220" cy="6466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0062" y="2139482"/>
            <a:ext cx="3628390" cy="4100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" y="6273800"/>
            <a:ext cx="9829800" cy="368300"/>
          </a:xfrm>
          <a:custGeom>
            <a:avLst/>
            <a:gdLst/>
            <a:ahLst/>
            <a:cxnLst/>
            <a:rect l="l" t="t" r="r" b="b"/>
            <a:pathLst>
              <a:path w="9829800" h="368300">
                <a:moveTo>
                  <a:pt x="9829800" y="0"/>
                </a:moveTo>
                <a:lnTo>
                  <a:pt x="0" y="0"/>
                </a:lnTo>
                <a:lnTo>
                  <a:pt x="0" y="368300"/>
                </a:lnTo>
                <a:lnTo>
                  <a:pt x="9829800" y="368300"/>
                </a:lnTo>
                <a:lnTo>
                  <a:pt x="9829800" y="0"/>
                </a:lnTo>
                <a:close/>
              </a:path>
            </a:pathLst>
          </a:custGeom>
          <a:solidFill>
            <a:srgbClr val="9B2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300" y="6223000"/>
            <a:ext cx="9829800" cy="50800"/>
          </a:xfrm>
          <a:custGeom>
            <a:avLst/>
            <a:gdLst/>
            <a:ahLst/>
            <a:cxnLst/>
            <a:rect l="l" t="t" r="r" b="b"/>
            <a:pathLst>
              <a:path w="9829800" h="50800">
                <a:moveTo>
                  <a:pt x="9829800" y="0"/>
                </a:moveTo>
                <a:lnTo>
                  <a:pt x="0" y="0"/>
                </a:lnTo>
                <a:lnTo>
                  <a:pt x="0" y="50800"/>
                </a:lnTo>
                <a:lnTo>
                  <a:pt x="9829800" y="50800"/>
                </a:lnTo>
                <a:lnTo>
                  <a:pt x="9829800" y="0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" y="6273800"/>
            <a:ext cx="9829800" cy="368300"/>
          </a:xfrm>
          <a:custGeom>
            <a:avLst/>
            <a:gdLst/>
            <a:ahLst/>
            <a:cxnLst/>
            <a:rect l="l" t="t" r="r" b="b"/>
            <a:pathLst>
              <a:path w="9829800" h="368300">
                <a:moveTo>
                  <a:pt x="9829800" y="0"/>
                </a:moveTo>
                <a:lnTo>
                  <a:pt x="0" y="0"/>
                </a:lnTo>
                <a:lnTo>
                  <a:pt x="0" y="368300"/>
                </a:lnTo>
                <a:lnTo>
                  <a:pt x="9829800" y="368300"/>
                </a:lnTo>
                <a:lnTo>
                  <a:pt x="9829800" y="0"/>
                </a:lnTo>
                <a:close/>
              </a:path>
            </a:pathLst>
          </a:custGeom>
          <a:solidFill>
            <a:srgbClr val="9B2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300" y="6223000"/>
            <a:ext cx="9829800" cy="50800"/>
          </a:xfrm>
          <a:custGeom>
            <a:avLst/>
            <a:gdLst/>
            <a:ahLst/>
            <a:cxnLst/>
            <a:rect l="l" t="t" r="r" b="b"/>
            <a:pathLst>
              <a:path w="9829800" h="50800">
                <a:moveTo>
                  <a:pt x="9829800" y="0"/>
                </a:moveTo>
                <a:lnTo>
                  <a:pt x="0" y="0"/>
                </a:lnTo>
                <a:lnTo>
                  <a:pt x="0" y="50800"/>
                </a:lnTo>
                <a:lnTo>
                  <a:pt x="9829800" y="50800"/>
                </a:lnTo>
                <a:lnTo>
                  <a:pt x="9829800" y="0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414" y="1071354"/>
            <a:ext cx="8407571" cy="1114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648" y="2210259"/>
            <a:ext cx="8232775" cy="3768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99768" y="6329903"/>
            <a:ext cx="267335" cy="227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5.png"/><Relationship Id="rId3" Type="http://schemas.openxmlformats.org/officeDocument/2006/relationships/image" Target="../media/image43.png"/><Relationship Id="rId7" Type="http://schemas.openxmlformats.org/officeDocument/2006/relationships/image" Target="../media/image27.png"/><Relationship Id="rId12" Type="http://schemas.openxmlformats.org/officeDocument/2006/relationships/image" Target="../media/image61.png"/><Relationship Id="rId17" Type="http://schemas.openxmlformats.org/officeDocument/2006/relationships/image" Target="../media/image31.png"/><Relationship Id="rId2" Type="http://schemas.openxmlformats.org/officeDocument/2006/relationships/image" Target="../media/image53.png"/><Relationship Id="rId16" Type="http://schemas.openxmlformats.org/officeDocument/2006/relationships/image" Target="../media/image30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5.png"/><Relationship Id="rId3" Type="http://schemas.openxmlformats.org/officeDocument/2006/relationships/image" Target="../media/image43.png"/><Relationship Id="rId7" Type="http://schemas.openxmlformats.org/officeDocument/2006/relationships/image" Target="../media/image27.png"/><Relationship Id="rId12" Type="http://schemas.openxmlformats.org/officeDocument/2006/relationships/image" Target="../media/image61.png"/><Relationship Id="rId17" Type="http://schemas.openxmlformats.org/officeDocument/2006/relationships/image" Target="../media/image31.png"/><Relationship Id="rId2" Type="http://schemas.openxmlformats.org/officeDocument/2006/relationships/image" Target="../media/image53.png"/><Relationship Id="rId16" Type="http://schemas.openxmlformats.org/officeDocument/2006/relationships/image" Target="../media/image30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223000"/>
            <a:ext cx="9829800" cy="419100"/>
            <a:chOff x="114300" y="6223000"/>
            <a:chExt cx="9829800" cy="4191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02142" y="2249199"/>
            <a:ext cx="2677160" cy="9315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ts val="3570"/>
              </a:lnSpc>
              <a:spcBef>
                <a:spcPts val="95"/>
              </a:spcBef>
            </a:pPr>
            <a:r>
              <a:rPr spc="-10" dirty="0">
                <a:solidFill>
                  <a:srgbClr val="262626"/>
                </a:solidFill>
                <a:latin typeface="Comic Sans MS"/>
                <a:cs typeface="Comic Sans MS"/>
              </a:rPr>
              <a:t>INF4000</a:t>
            </a:r>
          </a:p>
          <a:p>
            <a:pPr algn="ctr">
              <a:lnSpc>
                <a:spcPts val="3570"/>
              </a:lnSpc>
            </a:pPr>
            <a:r>
              <a:rPr b="1" dirty="0">
                <a:solidFill>
                  <a:srgbClr val="262626"/>
                </a:solidFill>
                <a:latin typeface="Comic Sans MS"/>
                <a:cs typeface="Comic Sans MS"/>
              </a:rPr>
              <a:t>Génie</a:t>
            </a:r>
            <a:r>
              <a:rPr b="1" spc="-13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b="1" spc="-10" dirty="0">
                <a:solidFill>
                  <a:srgbClr val="262626"/>
                </a:solidFill>
                <a:latin typeface="Comic Sans MS"/>
                <a:cs typeface="Comic Sans MS"/>
              </a:rPr>
              <a:t>Logiciel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76642" y="3784576"/>
            <a:ext cx="433578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dirty="0">
                <a:solidFill>
                  <a:srgbClr val="262626"/>
                </a:solidFill>
                <a:latin typeface="Comic Sans MS"/>
                <a:cs typeface="Comic Sans MS"/>
              </a:rPr>
              <a:t>Tests</a:t>
            </a:r>
            <a:r>
              <a:rPr sz="4800" b="1" spc="-28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4800" b="1" spc="-10" dirty="0">
                <a:solidFill>
                  <a:srgbClr val="262626"/>
                </a:solidFill>
                <a:latin typeface="Comic Sans MS"/>
                <a:cs typeface="Comic Sans MS"/>
              </a:rPr>
              <a:t>Logiciels</a:t>
            </a:r>
            <a:endParaRPr sz="4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9939" y="5260797"/>
            <a:ext cx="349567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1800" spc="155" dirty="0">
                <a:solidFill>
                  <a:srgbClr val="696464"/>
                </a:solidFill>
                <a:latin typeface="Comic Sans MS"/>
                <a:cs typeface="Comic Sans MS"/>
              </a:rPr>
              <a:t>ISSOUFOU NIKIEMA</a:t>
            </a:r>
            <a:endParaRPr sz="18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9717" y="1520047"/>
            <a:ext cx="312483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b="1" spc="-20" dirty="0">
                <a:latin typeface="Comic Sans MS"/>
                <a:cs typeface="Comic Sans MS"/>
              </a:rPr>
              <a:t>Tests</a:t>
            </a:r>
            <a:r>
              <a:rPr sz="3500" b="1" spc="-345" dirty="0">
                <a:latin typeface="Comic Sans MS"/>
                <a:cs typeface="Comic Sans MS"/>
              </a:rPr>
              <a:t> </a:t>
            </a:r>
            <a:r>
              <a:rPr sz="3500" b="1" spc="-10" dirty="0">
                <a:latin typeface="Comic Sans MS"/>
                <a:cs typeface="Comic Sans MS"/>
              </a:rPr>
              <a:t>Logiciels</a:t>
            </a:r>
            <a:endParaRPr sz="35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3241" y="6322010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2235201"/>
            <a:ext cx="6502398" cy="3975098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0C3C2D4E-B43C-90FA-C54C-CDA0C67BC739}"/>
              </a:ext>
            </a:extLst>
          </p:cNvPr>
          <p:cNvSpPr txBox="1"/>
          <p:nvPr/>
        </p:nvSpPr>
        <p:spPr>
          <a:xfrm>
            <a:off x="8771218" y="6332502"/>
            <a:ext cx="906144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300" dirty="0">
                <a:solidFill>
                  <a:srgbClr val="FFFFFF"/>
                </a:solidFill>
                <a:latin typeface="Calibri"/>
                <a:cs typeface="Calibri"/>
              </a:rPr>
              <a:t>I. NIKIEMA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97AC4A14-448A-FE5D-E68B-1689AF5E4962}"/>
              </a:ext>
            </a:extLst>
          </p:cNvPr>
          <p:cNvSpPr txBox="1"/>
          <p:nvPr/>
        </p:nvSpPr>
        <p:spPr>
          <a:xfrm>
            <a:off x="306258" y="6348145"/>
            <a:ext cx="2436942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INF4000-GL</a:t>
            </a:r>
            <a:r>
              <a:rPr sz="13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UVBF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GL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/DI/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9196" rIns="0" bIns="0" rtlCol="0">
            <a:spAutoFit/>
          </a:bodyPr>
          <a:lstStyle/>
          <a:p>
            <a:pPr marL="3816985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Comic Sans MS"/>
                <a:cs typeface="Comic Sans MS"/>
              </a:rPr>
              <a:t>Plan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9545916" y="6364762"/>
            <a:ext cx="158750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50" dirty="0">
                <a:latin typeface="Times New Roman"/>
                <a:cs typeface="Times New Roman"/>
              </a:rPr>
              <a:t>3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1418" y="2683938"/>
            <a:ext cx="3449320" cy="2286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065" indent="-261620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96153"/>
              <a:buFont typeface="Wingdings"/>
              <a:buChar char=""/>
              <a:tabLst>
                <a:tab pos="266065" algn="l"/>
              </a:tabLst>
            </a:pPr>
            <a:r>
              <a:rPr sz="2600" spc="-10" dirty="0">
                <a:solidFill>
                  <a:srgbClr val="404040"/>
                </a:solidFill>
                <a:latin typeface="Comic Sans MS"/>
                <a:cs typeface="Comic Sans MS"/>
              </a:rPr>
              <a:t>Introduction</a:t>
            </a:r>
            <a:endParaRPr sz="2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D34817"/>
              </a:buClr>
              <a:buFont typeface="Wingdings"/>
              <a:buChar char=""/>
            </a:pPr>
            <a:endParaRPr sz="2600">
              <a:latin typeface="Comic Sans MS"/>
              <a:cs typeface="Comic Sans MS"/>
            </a:endParaRPr>
          </a:p>
          <a:p>
            <a:pPr marL="266065" indent="-261620">
              <a:lnSpc>
                <a:spcPct val="100000"/>
              </a:lnSpc>
              <a:buClr>
                <a:srgbClr val="D34817"/>
              </a:buClr>
              <a:buSzPct val="96153"/>
              <a:buFont typeface="Wingdings"/>
              <a:buChar char=""/>
              <a:tabLst>
                <a:tab pos="266065" algn="l"/>
              </a:tabLst>
            </a:pPr>
            <a:r>
              <a:rPr sz="2600" b="1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600" b="1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b="1" dirty="0">
                <a:solidFill>
                  <a:srgbClr val="404040"/>
                </a:solidFill>
                <a:latin typeface="Comic Sans MS"/>
                <a:cs typeface="Comic Sans MS"/>
              </a:rPr>
              <a:t>Boite</a:t>
            </a:r>
            <a:r>
              <a:rPr sz="2600" b="1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Comic Sans MS"/>
                <a:cs typeface="Comic Sans MS"/>
              </a:rPr>
              <a:t>Blanche</a:t>
            </a:r>
            <a:endParaRPr sz="2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Clr>
                <a:srgbClr val="D34817"/>
              </a:buClr>
              <a:buFont typeface="Wingdings"/>
              <a:buChar char=""/>
            </a:pPr>
            <a:endParaRPr sz="2600">
              <a:latin typeface="Comic Sans MS"/>
              <a:cs typeface="Comic Sans MS"/>
            </a:endParaRPr>
          </a:p>
          <a:p>
            <a:pPr marL="266065" indent="-261620">
              <a:lnSpc>
                <a:spcPct val="100000"/>
              </a:lnSpc>
              <a:buClr>
                <a:srgbClr val="D34817"/>
              </a:buClr>
              <a:buSzPct val="96153"/>
              <a:buFont typeface="Wingdings"/>
              <a:buChar char=""/>
              <a:tabLst>
                <a:tab pos="266065" algn="l"/>
              </a:tabLst>
            </a:pPr>
            <a:r>
              <a:rPr sz="260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6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dirty="0">
                <a:solidFill>
                  <a:srgbClr val="404040"/>
                </a:solidFill>
                <a:latin typeface="Comic Sans MS"/>
                <a:cs typeface="Comic Sans MS"/>
              </a:rPr>
              <a:t>Boite</a:t>
            </a:r>
            <a:r>
              <a:rPr sz="26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omic Sans MS"/>
                <a:cs typeface="Comic Sans MS"/>
              </a:rPr>
              <a:t>Noire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0694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95"/>
              </a:spcBef>
            </a:pPr>
            <a:r>
              <a:rPr sz="3500" b="1" spc="-20" dirty="0">
                <a:solidFill>
                  <a:srgbClr val="831A14"/>
                </a:solidFill>
                <a:latin typeface="Comic Sans MS"/>
                <a:cs typeface="Comic Sans MS"/>
              </a:rPr>
              <a:t>Tests</a:t>
            </a:r>
            <a:r>
              <a:rPr sz="3500" b="1" spc="-32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3500" b="1" spc="-40" dirty="0">
                <a:solidFill>
                  <a:srgbClr val="831A14"/>
                </a:solidFill>
                <a:latin typeface="Comic Sans MS"/>
                <a:cs typeface="Comic Sans MS"/>
              </a:rPr>
              <a:t>Logiciels</a:t>
            </a:r>
            <a:r>
              <a:rPr sz="3500" b="1" spc="-41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3500" b="1" dirty="0">
                <a:solidFill>
                  <a:srgbClr val="831A14"/>
                </a:solidFill>
                <a:latin typeface="Comic Sans MS"/>
                <a:cs typeface="Comic Sans MS"/>
              </a:rPr>
              <a:t>:</a:t>
            </a:r>
            <a:r>
              <a:rPr sz="3500" b="1" spc="-30" dirty="0">
                <a:solidFill>
                  <a:srgbClr val="831A14"/>
                </a:solidFill>
                <a:latin typeface="Comic Sans MS"/>
                <a:cs typeface="Comic Sans MS"/>
              </a:rPr>
              <a:t> Tests</a:t>
            </a:r>
            <a:r>
              <a:rPr sz="3500" b="1" spc="-41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3500" b="1" spc="-20" dirty="0">
                <a:solidFill>
                  <a:srgbClr val="831A14"/>
                </a:solidFill>
                <a:latin typeface="Comic Sans MS"/>
                <a:cs typeface="Comic Sans MS"/>
              </a:rPr>
              <a:t>Boite</a:t>
            </a:r>
            <a:r>
              <a:rPr sz="3500" b="1" spc="-27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3500" b="1" spc="-10" dirty="0">
                <a:solidFill>
                  <a:srgbClr val="831A14"/>
                </a:solidFill>
                <a:latin typeface="Comic Sans MS"/>
                <a:cs typeface="Comic Sans MS"/>
              </a:rPr>
              <a:t>Blanche</a:t>
            </a:r>
            <a:endParaRPr sz="35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2276799"/>
            <a:ext cx="5892800" cy="3920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9545916" y="6364762"/>
            <a:ext cx="158750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50" dirty="0">
                <a:latin typeface="Times New Roman"/>
                <a:cs typeface="Times New Roman"/>
              </a:rPr>
              <a:t>4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5541" y="1373400"/>
            <a:ext cx="436245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Tests</a:t>
            </a:r>
            <a:r>
              <a:rPr sz="3900" b="1" spc="-37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Boite</a:t>
            </a:r>
            <a:r>
              <a:rPr sz="3900" b="1" spc="-285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Blanche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9545916" y="6364762"/>
            <a:ext cx="158750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50" dirty="0">
                <a:latin typeface="Times New Roman"/>
                <a:cs typeface="Times New Roman"/>
              </a:rPr>
              <a:t>5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494" y="2088125"/>
            <a:ext cx="6017895" cy="406336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boite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blanche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structurels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basés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structure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interne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endParaRPr sz="2300">
              <a:latin typeface="Comic Sans MS"/>
              <a:cs typeface="Comic Sans MS"/>
            </a:endParaRPr>
          </a:p>
          <a:p>
            <a:pPr marL="316230" indent="-138430">
              <a:lnSpc>
                <a:spcPct val="100000"/>
              </a:lnSpc>
              <a:spcBef>
                <a:spcPts val="1135"/>
              </a:spcBef>
              <a:buClr>
                <a:srgbClr val="D34817"/>
              </a:buClr>
              <a:buFont typeface="Calibri"/>
              <a:buChar char="◦"/>
              <a:tabLst>
                <a:tab pos="31623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Nécessitent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connaître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endParaRPr sz="1900">
              <a:latin typeface="Comic Sans MS"/>
              <a:cs typeface="Comic Sans MS"/>
            </a:endParaRPr>
          </a:p>
          <a:p>
            <a:pPr marL="316230" indent="-138430">
              <a:lnSpc>
                <a:spcPct val="100000"/>
              </a:lnSpc>
              <a:spcBef>
                <a:spcPts val="1714"/>
              </a:spcBef>
              <a:buClr>
                <a:srgbClr val="D34817"/>
              </a:buClr>
              <a:buFont typeface="Calibri"/>
              <a:buChar char="◦"/>
              <a:tabLst>
                <a:tab pos="316230" algn="l"/>
                <a:tab pos="32886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détectent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principalement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	les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erreurs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commises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D34817"/>
              </a:buClr>
              <a:buFont typeface="Calibri"/>
              <a:buChar char="◦"/>
            </a:pPr>
            <a:endParaRPr sz="1900">
              <a:latin typeface="Comic Sans MS"/>
              <a:cs typeface="Comic Sans MS"/>
            </a:endParaRPr>
          </a:p>
          <a:p>
            <a:pPr marL="63500">
              <a:lnSpc>
                <a:spcPct val="100000"/>
              </a:lnSpc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Plusieurs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techniques</a:t>
            </a:r>
            <a:endParaRPr sz="2300">
              <a:latin typeface="Comic Sans MS"/>
              <a:cs typeface="Comic Sans MS"/>
            </a:endParaRPr>
          </a:p>
          <a:p>
            <a:pPr marL="748665" lvl="1" indent="-367665">
              <a:lnSpc>
                <a:spcPct val="100000"/>
              </a:lnSpc>
              <a:spcBef>
                <a:spcPts val="1135"/>
              </a:spcBef>
              <a:buClr>
                <a:srgbClr val="D34817"/>
              </a:buClr>
              <a:buFont typeface="Calibri"/>
              <a:buChar char="◦"/>
              <a:tabLst>
                <a:tab pos="7486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1900">
              <a:latin typeface="Comic Sans MS"/>
              <a:cs typeface="Comic Sans MS"/>
            </a:endParaRPr>
          </a:p>
          <a:p>
            <a:pPr marL="748665" lvl="1" indent="-367665">
              <a:lnSpc>
                <a:spcPct val="100000"/>
              </a:lnSpc>
              <a:spcBef>
                <a:spcPts val="1614"/>
              </a:spcBef>
              <a:buClr>
                <a:srgbClr val="D34817"/>
              </a:buClr>
              <a:buFont typeface="Calibri"/>
              <a:buChar char="◦"/>
              <a:tabLst>
                <a:tab pos="7486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endParaRPr sz="1900">
              <a:latin typeface="Comic Sans MS"/>
              <a:cs typeface="Comic Sans MS"/>
            </a:endParaRPr>
          </a:p>
          <a:p>
            <a:pPr marL="748665" lvl="1" indent="-367665">
              <a:lnSpc>
                <a:spcPct val="100000"/>
              </a:lnSpc>
              <a:spcBef>
                <a:spcPts val="1720"/>
              </a:spcBef>
              <a:buClr>
                <a:srgbClr val="D34817"/>
              </a:buClr>
              <a:buFont typeface="Calibri"/>
              <a:buChar char="◦"/>
              <a:tabLst>
                <a:tab pos="7486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1900" spc="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mutation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0676" y="2332830"/>
            <a:ext cx="6021070" cy="1517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445" algn="ctr">
              <a:lnSpc>
                <a:spcPts val="5880"/>
              </a:lnSpc>
              <a:spcBef>
                <a:spcPts val="95"/>
              </a:spcBef>
            </a:pPr>
            <a:r>
              <a:rPr sz="5300" spc="-10" dirty="0">
                <a:solidFill>
                  <a:srgbClr val="262626"/>
                </a:solidFill>
                <a:latin typeface="Comic Sans MS"/>
                <a:cs typeface="Comic Sans MS"/>
              </a:rPr>
              <a:t>Couverture</a:t>
            </a:r>
            <a:endParaRPr sz="5300">
              <a:latin typeface="Comic Sans MS"/>
              <a:cs typeface="Comic Sans MS"/>
            </a:endParaRPr>
          </a:p>
          <a:p>
            <a:pPr algn="ctr">
              <a:lnSpc>
                <a:spcPts val="5880"/>
              </a:lnSpc>
            </a:pPr>
            <a:r>
              <a:rPr sz="5300" dirty="0">
                <a:solidFill>
                  <a:srgbClr val="262626"/>
                </a:solidFill>
                <a:latin typeface="Comic Sans MS"/>
                <a:cs typeface="Comic Sans MS"/>
              </a:rPr>
              <a:t>du</a:t>
            </a:r>
            <a:r>
              <a:rPr sz="5300" spc="-6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5300" dirty="0">
                <a:solidFill>
                  <a:srgbClr val="262626"/>
                </a:solidFill>
                <a:latin typeface="Comic Sans MS"/>
                <a:cs typeface="Comic Sans MS"/>
              </a:rPr>
              <a:t>Flot</a:t>
            </a:r>
            <a:r>
              <a:rPr sz="5300" spc="-29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5300" dirty="0">
                <a:solidFill>
                  <a:srgbClr val="262626"/>
                </a:solidFill>
                <a:latin typeface="Comic Sans MS"/>
                <a:cs typeface="Comic Sans MS"/>
              </a:rPr>
              <a:t>de</a:t>
            </a:r>
            <a:r>
              <a:rPr sz="5300" spc="-110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5300" spc="-10" dirty="0">
                <a:solidFill>
                  <a:srgbClr val="262626"/>
                </a:solidFill>
                <a:latin typeface="Comic Sans MS"/>
                <a:cs typeface="Comic Sans MS"/>
              </a:rPr>
              <a:t>Contrôle</a:t>
            </a:r>
            <a:endParaRPr sz="5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776" rIns="0" bIns="0" rtlCol="0">
            <a:spAutoFit/>
          </a:bodyPr>
          <a:lstStyle/>
          <a:p>
            <a:pPr marL="113157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Graphe</a:t>
            </a:r>
            <a:r>
              <a:rPr sz="3900" b="1" spc="-434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2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Flot</a:t>
            </a:r>
            <a:r>
              <a:rPr sz="3900" b="1" spc="-365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14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Contrôle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38492" y="2246784"/>
            <a:ext cx="4690110" cy="16065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12700">
              <a:lnSpc>
                <a:spcPct val="87800"/>
              </a:lnSpc>
              <a:spcBef>
                <a:spcPts val="434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b="1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b="1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(Control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Flow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Graph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–CFG)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une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représentation</a:t>
            </a:r>
            <a:r>
              <a:rPr sz="2300" spc="-2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sous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forme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orienté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tous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chemins possibles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8492" y="4543505"/>
            <a:ext cx="3698875" cy="6934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2700">
              <a:lnSpc>
                <a:spcPts val="2500"/>
              </a:lnSpc>
              <a:spcBef>
                <a:spcPts val="39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nœuds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blocs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d’instructions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séquentielles</a:t>
            </a:r>
            <a:endParaRPr sz="2300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6594" y="2222498"/>
            <a:ext cx="2553335" cy="3962400"/>
            <a:chOff x="736594" y="2222498"/>
            <a:chExt cx="2553335" cy="3962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299" y="3632200"/>
              <a:ext cx="4699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5299" y="3632200"/>
              <a:ext cx="146068" cy="978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58949" y="36258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8949" y="36258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299" y="5880100"/>
              <a:ext cx="4699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299" y="5880100"/>
              <a:ext cx="146068" cy="978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58949" y="5873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58949" y="5873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5299" y="5067300"/>
              <a:ext cx="4699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299" y="5067300"/>
              <a:ext cx="146068" cy="9781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58949" y="50609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58949" y="50609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653" y="2508249"/>
              <a:ext cx="102870" cy="381000"/>
            </a:xfrm>
            <a:custGeom>
              <a:avLst/>
              <a:gdLst/>
              <a:ahLst/>
              <a:cxnLst/>
              <a:rect l="l" t="t" r="r" b="b"/>
              <a:pathLst>
                <a:path w="102869" h="381000">
                  <a:moveTo>
                    <a:pt x="57551" y="0"/>
                  </a:moveTo>
                  <a:lnTo>
                    <a:pt x="44841" y="0"/>
                  </a:lnTo>
                  <a:lnTo>
                    <a:pt x="44841" y="314537"/>
                  </a:lnTo>
                  <a:lnTo>
                    <a:pt x="0" y="278695"/>
                  </a:lnTo>
                  <a:lnTo>
                    <a:pt x="51196" y="381000"/>
                  </a:lnTo>
                  <a:lnTo>
                    <a:pt x="102392" y="278695"/>
                  </a:lnTo>
                  <a:lnTo>
                    <a:pt x="57551" y="314537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2950" y="5187949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990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5299" y="2235199"/>
              <a:ext cx="4699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5299" y="2235199"/>
              <a:ext cx="146068" cy="978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58949" y="2228849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58949" y="2228849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699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36799" y="4356100"/>
              <a:ext cx="469900" cy="304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6799" y="4356100"/>
              <a:ext cx="146068" cy="9781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30449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4" y="4763"/>
                  </a:lnTo>
                  <a:lnTo>
                    <a:pt x="106930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0" y="248493"/>
                  </a:lnTo>
                  <a:lnTo>
                    <a:pt x="158504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30449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200" y="4356100"/>
              <a:ext cx="469900" cy="3048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200" y="4356100"/>
              <a:ext cx="146068" cy="9781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12850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899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899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799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89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12850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41450" y="4629150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0" y="0"/>
                  </a:moveTo>
                  <a:lnTo>
                    <a:pt x="355600" y="4826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36331" y="4625385"/>
              <a:ext cx="361315" cy="486409"/>
            </a:xfrm>
            <a:custGeom>
              <a:avLst/>
              <a:gdLst/>
              <a:ahLst/>
              <a:cxnLst/>
              <a:rect l="l" t="t" r="r" b="b"/>
              <a:pathLst>
                <a:path w="361314" h="486410">
                  <a:moveTo>
                    <a:pt x="10236" y="0"/>
                  </a:moveTo>
                  <a:lnTo>
                    <a:pt x="0" y="7529"/>
                  </a:lnTo>
                  <a:lnTo>
                    <a:pt x="316162" y="436605"/>
                  </a:lnTo>
                  <a:lnTo>
                    <a:pt x="258782" y="434304"/>
                  </a:lnTo>
                  <a:lnTo>
                    <a:pt x="360718" y="486364"/>
                  </a:lnTo>
                  <a:lnTo>
                    <a:pt x="341241" y="373650"/>
                  </a:lnTo>
                  <a:lnTo>
                    <a:pt x="326398" y="429077"/>
                  </a:lnTo>
                  <a:lnTo>
                    <a:pt x="10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27249" y="462915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381000" y="0"/>
                  </a:moveTo>
                  <a:lnTo>
                    <a:pt x="0" y="4572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7249" y="4625087"/>
              <a:ext cx="386080" cy="461645"/>
            </a:xfrm>
            <a:custGeom>
              <a:avLst/>
              <a:gdLst/>
              <a:ahLst/>
              <a:cxnLst/>
              <a:rect l="l" t="t" r="r" b="b"/>
              <a:pathLst>
                <a:path w="386080" h="461645">
                  <a:moveTo>
                    <a:pt x="26173" y="349910"/>
                  </a:moveTo>
                  <a:lnTo>
                    <a:pt x="0" y="461262"/>
                  </a:lnTo>
                  <a:lnTo>
                    <a:pt x="104861" y="415372"/>
                  </a:lnTo>
                  <a:lnTo>
                    <a:pt x="47447" y="414248"/>
                  </a:lnTo>
                  <a:lnTo>
                    <a:pt x="54218" y="406123"/>
                  </a:lnTo>
                  <a:lnTo>
                    <a:pt x="37679" y="406123"/>
                  </a:lnTo>
                  <a:lnTo>
                    <a:pt x="26173" y="349910"/>
                  </a:lnTo>
                  <a:close/>
                </a:path>
                <a:path w="386080" h="461645">
                  <a:moveTo>
                    <a:pt x="376115" y="0"/>
                  </a:moveTo>
                  <a:lnTo>
                    <a:pt x="37679" y="406123"/>
                  </a:lnTo>
                  <a:lnTo>
                    <a:pt x="54218" y="406123"/>
                  </a:lnTo>
                  <a:lnTo>
                    <a:pt x="385884" y="8126"/>
                  </a:lnTo>
                  <a:lnTo>
                    <a:pt x="376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89149" y="3892550"/>
              <a:ext cx="406400" cy="444500"/>
            </a:xfrm>
            <a:custGeom>
              <a:avLst/>
              <a:gdLst/>
              <a:ahLst/>
              <a:cxnLst/>
              <a:rect l="l" t="t" r="r" b="b"/>
              <a:pathLst>
                <a:path w="406400" h="444500">
                  <a:moveTo>
                    <a:pt x="0" y="0"/>
                  </a:moveTo>
                  <a:lnTo>
                    <a:pt x="406400" y="4445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84457" y="3888267"/>
              <a:ext cx="411480" cy="448945"/>
            </a:xfrm>
            <a:custGeom>
              <a:avLst/>
              <a:gdLst/>
              <a:ahLst/>
              <a:cxnLst/>
              <a:rect l="l" t="t" r="r" b="b"/>
              <a:pathLst>
                <a:path w="411480" h="448945">
                  <a:moveTo>
                    <a:pt x="9385" y="0"/>
                  </a:moveTo>
                  <a:lnTo>
                    <a:pt x="0" y="8564"/>
                  </a:lnTo>
                  <a:lnTo>
                    <a:pt x="361534" y="403994"/>
                  </a:lnTo>
                  <a:lnTo>
                    <a:pt x="304233" y="407748"/>
                  </a:lnTo>
                  <a:lnTo>
                    <a:pt x="411092" y="448782"/>
                  </a:lnTo>
                  <a:lnTo>
                    <a:pt x="395935" y="395428"/>
                  </a:lnTo>
                  <a:lnTo>
                    <a:pt x="370920" y="395428"/>
                  </a:lnTo>
                  <a:lnTo>
                    <a:pt x="9385" y="0"/>
                  </a:lnTo>
                  <a:close/>
                </a:path>
                <a:path w="411480" h="448945">
                  <a:moveTo>
                    <a:pt x="379832" y="338748"/>
                  </a:moveTo>
                  <a:lnTo>
                    <a:pt x="370920" y="395428"/>
                  </a:lnTo>
                  <a:lnTo>
                    <a:pt x="395935" y="395428"/>
                  </a:lnTo>
                  <a:lnTo>
                    <a:pt x="379832" y="338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28750" y="3892550"/>
              <a:ext cx="457200" cy="444500"/>
            </a:xfrm>
            <a:custGeom>
              <a:avLst/>
              <a:gdLst/>
              <a:ahLst/>
              <a:cxnLst/>
              <a:rect l="l" t="t" r="r" b="b"/>
              <a:pathLst>
                <a:path w="457200" h="444500">
                  <a:moveTo>
                    <a:pt x="457200" y="0"/>
                  </a:moveTo>
                  <a:lnTo>
                    <a:pt x="0" y="4445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5650" y="2952406"/>
              <a:ext cx="1134745" cy="1384935"/>
            </a:xfrm>
            <a:custGeom>
              <a:avLst/>
              <a:gdLst/>
              <a:ahLst/>
              <a:cxnLst/>
              <a:rect l="l" t="t" r="r" b="b"/>
              <a:pathLst>
                <a:path w="1134745" h="1384935">
                  <a:moveTo>
                    <a:pt x="1003287" y="51142"/>
                  </a:moveTo>
                  <a:lnTo>
                    <a:pt x="900899" y="0"/>
                  </a:lnTo>
                  <a:lnTo>
                    <a:pt x="936777" y="44792"/>
                  </a:lnTo>
                  <a:lnTo>
                    <a:pt x="0" y="44792"/>
                  </a:lnTo>
                  <a:lnTo>
                    <a:pt x="0" y="57492"/>
                  </a:lnTo>
                  <a:lnTo>
                    <a:pt x="936777" y="57492"/>
                  </a:lnTo>
                  <a:lnTo>
                    <a:pt x="900899" y="102298"/>
                  </a:lnTo>
                  <a:lnTo>
                    <a:pt x="990587" y="57492"/>
                  </a:lnTo>
                  <a:lnTo>
                    <a:pt x="1003287" y="51142"/>
                  </a:lnTo>
                  <a:close/>
                </a:path>
                <a:path w="1134745" h="1384935">
                  <a:moveTo>
                    <a:pt x="1134732" y="944702"/>
                  </a:moveTo>
                  <a:lnTo>
                    <a:pt x="1125867" y="935596"/>
                  </a:lnTo>
                  <a:lnTo>
                    <a:pt x="716343" y="1333741"/>
                  </a:lnTo>
                  <a:lnTo>
                    <a:pt x="710780" y="1276642"/>
                  </a:lnTo>
                  <a:lnTo>
                    <a:pt x="673100" y="1384642"/>
                  </a:lnTo>
                  <a:lnTo>
                    <a:pt x="782180" y="1349959"/>
                  </a:lnTo>
                  <a:lnTo>
                    <a:pt x="725208" y="1342847"/>
                  </a:lnTo>
                  <a:lnTo>
                    <a:pt x="726236" y="1341843"/>
                  </a:lnTo>
                  <a:lnTo>
                    <a:pt x="734568" y="1333741"/>
                  </a:lnTo>
                  <a:lnTo>
                    <a:pt x="1134732" y="9447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2950" y="3003549"/>
              <a:ext cx="12700" cy="2184400"/>
            </a:xfrm>
            <a:custGeom>
              <a:avLst/>
              <a:gdLst/>
              <a:ahLst/>
              <a:cxnLst/>
              <a:rect l="l" t="t" r="r" b="b"/>
              <a:pathLst>
                <a:path w="12700" h="2184400">
                  <a:moveTo>
                    <a:pt x="0" y="2184400"/>
                  </a:moveTo>
                  <a:lnTo>
                    <a:pt x="12700" y="0"/>
                  </a:lnTo>
                </a:path>
              </a:pathLst>
            </a:custGeom>
            <a:ln w="12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28849" y="3003549"/>
              <a:ext cx="1054100" cy="0"/>
            </a:xfrm>
            <a:custGeom>
              <a:avLst/>
              <a:gdLst/>
              <a:ahLst/>
              <a:cxnLst/>
              <a:rect l="l" t="t" r="r" b="b"/>
              <a:pathLst>
                <a:path w="1054100">
                  <a:moveTo>
                    <a:pt x="0" y="0"/>
                  </a:moveTo>
                  <a:lnTo>
                    <a:pt x="1054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0249" y="3003549"/>
              <a:ext cx="12700" cy="3022600"/>
            </a:xfrm>
            <a:custGeom>
              <a:avLst/>
              <a:gdLst/>
              <a:ahLst/>
              <a:cxnLst/>
              <a:rect l="l" t="t" r="r" b="b"/>
              <a:pathLst>
                <a:path w="12700" h="3022600">
                  <a:moveTo>
                    <a:pt x="12699" y="0"/>
                  </a:moveTo>
                  <a:lnTo>
                    <a:pt x="0" y="3022599"/>
                  </a:lnTo>
                </a:path>
              </a:pathLst>
            </a:custGeom>
            <a:ln w="12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16149" y="5974996"/>
              <a:ext cx="1054100" cy="102870"/>
            </a:xfrm>
            <a:custGeom>
              <a:avLst/>
              <a:gdLst/>
              <a:ahLst/>
              <a:cxnLst/>
              <a:rect l="l" t="t" r="r" b="b"/>
              <a:pathLst>
                <a:path w="1054100" h="102870">
                  <a:moveTo>
                    <a:pt x="102393" y="0"/>
                  </a:moveTo>
                  <a:lnTo>
                    <a:pt x="0" y="51153"/>
                  </a:lnTo>
                  <a:lnTo>
                    <a:pt x="102393" y="102306"/>
                  </a:lnTo>
                  <a:lnTo>
                    <a:pt x="66521" y="57503"/>
                  </a:lnTo>
                  <a:lnTo>
                    <a:pt x="1054100" y="57503"/>
                  </a:lnTo>
                  <a:lnTo>
                    <a:pt x="1054100" y="51154"/>
                  </a:lnTo>
                  <a:lnTo>
                    <a:pt x="61436" y="51154"/>
                  </a:lnTo>
                  <a:lnTo>
                    <a:pt x="1054100" y="51153"/>
                  </a:lnTo>
                  <a:lnTo>
                    <a:pt x="1054100" y="44803"/>
                  </a:lnTo>
                  <a:lnTo>
                    <a:pt x="66521" y="44803"/>
                  </a:lnTo>
                  <a:lnTo>
                    <a:pt x="102393" y="0"/>
                  </a:lnTo>
                  <a:close/>
                </a:path>
                <a:path w="1054100" h="102870">
                  <a:moveTo>
                    <a:pt x="1054100" y="51153"/>
                  </a:moveTo>
                  <a:lnTo>
                    <a:pt x="61436" y="51153"/>
                  </a:lnTo>
                  <a:lnTo>
                    <a:pt x="1054100" y="511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299" y="2908299"/>
              <a:ext cx="4699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299" y="2908299"/>
              <a:ext cx="146068" cy="9781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758949" y="2901949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58949" y="29019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699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74849" y="3181350"/>
              <a:ext cx="0" cy="431800"/>
            </a:xfrm>
            <a:custGeom>
              <a:avLst/>
              <a:gdLst/>
              <a:ahLst/>
              <a:cxnLst/>
              <a:rect l="l" t="t" r="r" b="b"/>
              <a:pathLst>
                <a:path h="431800">
                  <a:moveTo>
                    <a:pt x="0" y="0"/>
                  </a:moveTo>
                  <a:lnTo>
                    <a:pt x="0" y="4318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23653" y="3181350"/>
              <a:ext cx="102870" cy="431800"/>
            </a:xfrm>
            <a:custGeom>
              <a:avLst/>
              <a:gdLst/>
              <a:ahLst/>
              <a:cxnLst/>
              <a:rect l="l" t="t" r="r" b="b"/>
              <a:pathLst>
                <a:path w="102869" h="431800">
                  <a:moveTo>
                    <a:pt x="57551" y="0"/>
                  </a:moveTo>
                  <a:lnTo>
                    <a:pt x="44841" y="0"/>
                  </a:lnTo>
                  <a:lnTo>
                    <a:pt x="44841" y="365337"/>
                  </a:lnTo>
                  <a:lnTo>
                    <a:pt x="0" y="329493"/>
                  </a:lnTo>
                  <a:lnTo>
                    <a:pt x="51196" y="431800"/>
                  </a:lnTo>
                  <a:lnTo>
                    <a:pt x="102392" y="329493"/>
                  </a:lnTo>
                  <a:lnTo>
                    <a:pt x="57551" y="365337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28364" y="3774189"/>
            <a:ext cx="5530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Times New Roman"/>
                <a:cs typeface="Times New Roman"/>
              </a:rPr>
              <a:t>x&lt;=y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55" name="object 5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7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90533" y="3774189"/>
            <a:ext cx="5276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84866" y="3774189"/>
            <a:ext cx="5276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106225" y="3222215"/>
            <a:ext cx="5270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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776" rIns="0" bIns="0" rtlCol="0">
            <a:spAutoFit/>
          </a:bodyPr>
          <a:lstStyle/>
          <a:p>
            <a:pPr marL="113157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Graphe</a:t>
            </a:r>
            <a:r>
              <a:rPr sz="3900" b="1" spc="-434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2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Flot</a:t>
            </a:r>
            <a:r>
              <a:rPr sz="3900" b="1" spc="-365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14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Contrôle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5550" y="2314760"/>
            <a:ext cx="4824095" cy="29895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12700">
              <a:lnSpc>
                <a:spcPts val="2400"/>
              </a:lnSpc>
              <a:spcBef>
                <a:spcPts val="47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arêtes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(encore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appelées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arcs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ou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branches)</a:t>
            </a:r>
            <a:r>
              <a:rPr sz="2300" spc="-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transferts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  <a:p>
            <a:pPr marL="12700" marR="39370" indent="12700">
              <a:lnSpc>
                <a:spcPts val="2400"/>
              </a:lnSpc>
              <a:spcBef>
                <a:spcPts val="189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arêtes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peuvent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être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étiquetées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avec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attribut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représentant</a:t>
            </a:r>
            <a:r>
              <a:rPr sz="2300" spc="-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condition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transfert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  <a:p>
            <a:pPr marL="25400">
              <a:lnSpc>
                <a:spcPts val="2630"/>
              </a:lnSpc>
              <a:spcBef>
                <a:spcPts val="1410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comporte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nœud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ts val="2630"/>
              </a:lnSpc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«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entrée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»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nœud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«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sortie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»</a:t>
            </a:r>
            <a:endParaRPr sz="23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094" y="2336798"/>
            <a:ext cx="2553335" cy="3657600"/>
            <a:chOff x="927094" y="2336798"/>
            <a:chExt cx="2553335" cy="3657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5800" y="3644899"/>
              <a:ext cx="469900" cy="279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5800" y="3644899"/>
              <a:ext cx="143503" cy="878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49450" y="3638549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215900" y="0"/>
                  </a:moveTo>
                  <a:lnTo>
                    <a:pt x="158505" y="4309"/>
                  </a:lnTo>
                  <a:lnTo>
                    <a:pt x="106931" y="16472"/>
                  </a:lnTo>
                  <a:lnTo>
                    <a:pt x="63235" y="35337"/>
                  </a:lnTo>
                  <a:lnTo>
                    <a:pt x="29476" y="59755"/>
                  </a:lnTo>
                  <a:lnTo>
                    <a:pt x="0" y="120650"/>
                  </a:lnTo>
                  <a:lnTo>
                    <a:pt x="7712" y="152723"/>
                  </a:lnTo>
                  <a:lnTo>
                    <a:pt x="63235" y="205962"/>
                  </a:lnTo>
                  <a:lnTo>
                    <a:pt x="106931" y="224827"/>
                  </a:lnTo>
                  <a:lnTo>
                    <a:pt x="158505" y="236990"/>
                  </a:lnTo>
                  <a:lnTo>
                    <a:pt x="215900" y="241300"/>
                  </a:lnTo>
                  <a:lnTo>
                    <a:pt x="273294" y="236990"/>
                  </a:lnTo>
                  <a:lnTo>
                    <a:pt x="324868" y="224827"/>
                  </a:lnTo>
                  <a:lnTo>
                    <a:pt x="368564" y="205962"/>
                  </a:lnTo>
                  <a:lnTo>
                    <a:pt x="402323" y="181544"/>
                  </a:lnTo>
                  <a:lnTo>
                    <a:pt x="431800" y="120650"/>
                  </a:lnTo>
                  <a:lnTo>
                    <a:pt x="424087" y="88576"/>
                  </a:lnTo>
                  <a:lnTo>
                    <a:pt x="368564" y="35337"/>
                  </a:lnTo>
                  <a:lnTo>
                    <a:pt x="324868" y="16472"/>
                  </a:lnTo>
                  <a:lnTo>
                    <a:pt x="273294" y="4309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49450" y="36385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0" y="120650"/>
                  </a:moveTo>
                  <a:lnTo>
                    <a:pt x="29476" y="59755"/>
                  </a:lnTo>
                  <a:lnTo>
                    <a:pt x="63235" y="35337"/>
                  </a:lnTo>
                  <a:lnTo>
                    <a:pt x="106931" y="16472"/>
                  </a:lnTo>
                  <a:lnTo>
                    <a:pt x="158505" y="4309"/>
                  </a:lnTo>
                  <a:lnTo>
                    <a:pt x="215899" y="0"/>
                  </a:lnTo>
                  <a:lnTo>
                    <a:pt x="273294" y="4309"/>
                  </a:lnTo>
                  <a:lnTo>
                    <a:pt x="324868" y="16472"/>
                  </a:lnTo>
                  <a:lnTo>
                    <a:pt x="368564" y="35337"/>
                  </a:lnTo>
                  <a:lnTo>
                    <a:pt x="402323" y="59755"/>
                  </a:lnTo>
                  <a:lnTo>
                    <a:pt x="431799" y="120650"/>
                  </a:lnTo>
                  <a:lnTo>
                    <a:pt x="424087" y="152723"/>
                  </a:lnTo>
                  <a:lnTo>
                    <a:pt x="368564" y="205962"/>
                  </a:lnTo>
                  <a:lnTo>
                    <a:pt x="324868" y="224827"/>
                  </a:lnTo>
                  <a:lnTo>
                    <a:pt x="273294" y="236990"/>
                  </a:lnTo>
                  <a:lnTo>
                    <a:pt x="215899" y="241300"/>
                  </a:lnTo>
                  <a:lnTo>
                    <a:pt x="158505" y="236990"/>
                  </a:lnTo>
                  <a:lnTo>
                    <a:pt x="106931" y="224827"/>
                  </a:lnTo>
                  <a:lnTo>
                    <a:pt x="63235" y="205962"/>
                  </a:lnTo>
                  <a:lnTo>
                    <a:pt x="29476" y="181544"/>
                  </a:lnTo>
                  <a:lnTo>
                    <a:pt x="0" y="120650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5800" y="5702299"/>
              <a:ext cx="469900" cy="292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5800" y="5702299"/>
              <a:ext cx="144849" cy="928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49450" y="5695949"/>
              <a:ext cx="431800" cy="254000"/>
            </a:xfrm>
            <a:custGeom>
              <a:avLst/>
              <a:gdLst/>
              <a:ahLst/>
              <a:cxnLst/>
              <a:rect l="l" t="t" r="r" b="b"/>
              <a:pathLst>
                <a:path w="431800" h="254000">
                  <a:moveTo>
                    <a:pt x="215900" y="0"/>
                  </a:moveTo>
                  <a:lnTo>
                    <a:pt x="158505" y="4536"/>
                  </a:lnTo>
                  <a:lnTo>
                    <a:pt x="106931" y="17339"/>
                  </a:lnTo>
                  <a:lnTo>
                    <a:pt x="63235" y="37197"/>
                  </a:lnTo>
                  <a:lnTo>
                    <a:pt x="29476" y="62900"/>
                  </a:lnTo>
                  <a:lnTo>
                    <a:pt x="0" y="127000"/>
                  </a:lnTo>
                  <a:lnTo>
                    <a:pt x="7712" y="160761"/>
                  </a:lnTo>
                  <a:lnTo>
                    <a:pt x="63235" y="216802"/>
                  </a:lnTo>
                  <a:lnTo>
                    <a:pt x="106931" y="236660"/>
                  </a:lnTo>
                  <a:lnTo>
                    <a:pt x="158505" y="249463"/>
                  </a:lnTo>
                  <a:lnTo>
                    <a:pt x="215900" y="254000"/>
                  </a:lnTo>
                  <a:lnTo>
                    <a:pt x="273294" y="249463"/>
                  </a:lnTo>
                  <a:lnTo>
                    <a:pt x="324868" y="236660"/>
                  </a:lnTo>
                  <a:lnTo>
                    <a:pt x="368564" y="216802"/>
                  </a:lnTo>
                  <a:lnTo>
                    <a:pt x="402323" y="191099"/>
                  </a:lnTo>
                  <a:lnTo>
                    <a:pt x="431800" y="127000"/>
                  </a:lnTo>
                  <a:lnTo>
                    <a:pt x="424087" y="93238"/>
                  </a:lnTo>
                  <a:lnTo>
                    <a:pt x="368564" y="37197"/>
                  </a:lnTo>
                  <a:lnTo>
                    <a:pt x="324868" y="17339"/>
                  </a:lnTo>
                  <a:lnTo>
                    <a:pt x="273294" y="4536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49450" y="5695949"/>
              <a:ext cx="431800" cy="254000"/>
            </a:xfrm>
            <a:custGeom>
              <a:avLst/>
              <a:gdLst/>
              <a:ahLst/>
              <a:cxnLst/>
              <a:rect l="l" t="t" r="r" b="b"/>
              <a:pathLst>
                <a:path w="431800" h="254000">
                  <a:moveTo>
                    <a:pt x="0" y="126999"/>
                  </a:moveTo>
                  <a:lnTo>
                    <a:pt x="29476" y="62900"/>
                  </a:lnTo>
                  <a:lnTo>
                    <a:pt x="63235" y="37197"/>
                  </a:lnTo>
                  <a:lnTo>
                    <a:pt x="106931" y="17339"/>
                  </a:lnTo>
                  <a:lnTo>
                    <a:pt x="158505" y="4536"/>
                  </a:lnTo>
                  <a:lnTo>
                    <a:pt x="215899" y="0"/>
                  </a:lnTo>
                  <a:lnTo>
                    <a:pt x="273294" y="4536"/>
                  </a:lnTo>
                  <a:lnTo>
                    <a:pt x="324868" y="17339"/>
                  </a:lnTo>
                  <a:lnTo>
                    <a:pt x="368564" y="37197"/>
                  </a:lnTo>
                  <a:lnTo>
                    <a:pt x="402323" y="62900"/>
                  </a:lnTo>
                  <a:lnTo>
                    <a:pt x="431799" y="126999"/>
                  </a:lnTo>
                  <a:lnTo>
                    <a:pt x="424087" y="160761"/>
                  </a:lnTo>
                  <a:lnTo>
                    <a:pt x="368564" y="216802"/>
                  </a:lnTo>
                  <a:lnTo>
                    <a:pt x="324868" y="236660"/>
                  </a:lnTo>
                  <a:lnTo>
                    <a:pt x="273294" y="249463"/>
                  </a:lnTo>
                  <a:lnTo>
                    <a:pt x="215899" y="253999"/>
                  </a:lnTo>
                  <a:lnTo>
                    <a:pt x="158505" y="249463"/>
                  </a:lnTo>
                  <a:lnTo>
                    <a:pt x="106931" y="236660"/>
                  </a:lnTo>
                  <a:lnTo>
                    <a:pt x="63235" y="216802"/>
                  </a:lnTo>
                  <a:lnTo>
                    <a:pt x="29476" y="191099"/>
                  </a:lnTo>
                  <a:lnTo>
                    <a:pt x="0" y="126999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5800" y="4965700"/>
              <a:ext cx="469900" cy="279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5800" y="4965700"/>
              <a:ext cx="143503" cy="8789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49450" y="49593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215900" y="0"/>
                  </a:moveTo>
                  <a:lnTo>
                    <a:pt x="158505" y="4309"/>
                  </a:lnTo>
                  <a:lnTo>
                    <a:pt x="106931" y="16472"/>
                  </a:lnTo>
                  <a:lnTo>
                    <a:pt x="63235" y="35337"/>
                  </a:lnTo>
                  <a:lnTo>
                    <a:pt x="29476" y="59755"/>
                  </a:lnTo>
                  <a:lnTo>
                    <a:pt x="0" y="120650"/>
                  </a:lnTo>
                  <a:lnTo>
                    <a:pt x="7712" y="152723"/>
                  </a:lnTo>
                  <a:lnTo>
                    <a:pt x="63235" y="205962"/>
                  </a:lnTo>
                  <a:lnTo>
                    <a:pt x="106931" y="224827"/>
                  </a:lnTo>
                  <a:lnTo>
                    <a:pt x="158505" y="236990"/>
                  </a:lnTo>
                  <a:lnTo>
                    <a:pt x="215900" y="241300"/>
                  </a:lnTo>
                  <a:lnTo>
                    <a:pt x="273294" y="236990"/>
                  </a:lnTo>
                  <a:lnTo>
                    <a:pt x="324868" y="224827"/>
                  </a:lnTo>
                  <a:lnTo>
                    <a:pt x="368564" y="205962"/>
                  </a:lnTo>
                  <a:lnTo>
                    <a:pt x="402323" y="181544"/>
                  </a:lnTo>
                  <a:lnTo>
                    <a:pt x="431800" y="120650"/>
                  </a:lnTo>
                  <a:lnTo>
                    <a:pt x="424087" y="88576"/>
                  </a:lnTo>
                  <a:lnTo>
                    <a:pt x="368564" y="35337"/>
                  </a:lnTo>
                  <a:lnTo>
                    <a:pt x="324868" y="16472"/>
                  </a:lnTo>
                  <a:lnTo>
                    <a:pt x="273294" y="4309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49450" y="49593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0" y="120650"/>
                  </a:moveTo>
                  <a:lnTo>
                    <a:pt x="29476" y="59755"/>
                  </a:lnTo>
                  <a:lnTo>
                    <a:pt x="63235" y="35337"/>
                  </a:lnTo>
                  <a:lnTo>
                    <a:pt x="106931" y="16472"/>
                  </a:lnTo>
                  <a:lnTo>
                    <a:pt x="158505" y="4309"/>
                  </a:lnTo>
                  <a:lnTo>
                    <a:pt x="215899" y="0"/>
                  </a:lnTo>
                  <a:lnTo>
                    <a:pt x="273294" y="4309"/>
                  </a:lnTo>
                  <a:lnTo>
                    <a:pt x="324868" y="16472"/>
                  </a:lnTo>
                  <a:lnTo>
                    <a:pt x="368564" y="35337"/>
                  </a:lnTo>
                  <a:lnTo>
                    <a:pt x="402323" y="59755"/>
                  </a:lnTo>
                  <a:lnTo>
                    <a:pt x="431799" y="120650"/>
                  </a:lnTo>
                  <a:lnTo>
                    <a:pt x="424087" y="152723"/>
                  </a:lnTo>
                  <a:lnTo>
                    <a:pt x="368564" y="205962"/>
                  </a:lnTo>
                  <a:lnTo>
                    <a:pt x="324868" y="224827"/>
                  </a:lnTo>
                  <a:lnTo>
                    <a:pt x="273294" y="236990"/>
                  </a:lnTo>
                  <a:lnTo>
                    <a:pt x="215899" y="241300"/>
                  </a:lnTo>
                  <a:lnTo>
                    <a:pt x="158505" y="236990"/>
                  </a:lnTo>
                  <a:lnTo>
                    <a:pt x="106931" y="224827"/>
                  </a:lnTo>
                  <a:lnTo>
                    <a:pt x="63235" y="205962"/>
                  </a:lnTo>
                  <a:lnTo>
                    <a:pt x="29476" y="181544"/>
                  </a:lnTo>
                  <a:lnTo>
                    <a:pt x="0" y="120650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23102" y="2609614"/>
              <a:ext cx="102870" cy="343535"/>
            </a:xfrm>
            <a:custGeom>
              <a:avLst/>
              <a:gdLst/>
              <a:ahLst/>
              <a:cxnLst/>
              <a:rect l="l" t="t" r="r" b="b"/>
              <a:pathLst>
                <a:path w="102869" h="343535">
                  <a:moveTo>
                    <a:pt x="48599" y="0"/>
                  </a:moveTo>
                  <a:lnTo>
                    <a:pt x="35896" y="469"/>
                  </a:lnTo>
                  <a:lnTo>
                    <a:pt x="46136" y="276951"/>
                  </a:lnTo>
                  <a:lnTo>
                    <a:pt x="0" y="242790"/>
                  </a:lnTo>
                  <a:lnTo>
                    <a:pt x="54947" y="343134"/>
                  </a:lnTo>
                  <a:lnTo>
                    <a:pt x="102322" y="239007"/>
                  </a:lnTo>
                  <a:lnTo>
                    <a:pt x="58839" y="276482"/>
                  </a:lnTo>
                  <a:lnTo>
                    <a:pt x="485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3450" y="5073649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10032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5800" y="2349499"/>
              <a:ext cx="469900" cy="2921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5800" y="2349499"/>
              <a:ext cx="144849" cy="928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949450" y="2343149"/>
              <a:ext cx="431800" cy="254000"/>
            </a:xfrm>
            <a:custGeom>
              <a:avLst/>
              <a:gdLst/>
              <a:ahLst/>
              <a:cxnLst/>
              <a:rect l="l" t="t" r="r" b="b"/>
              <a:pathLst>
                <a:path w="431800" h="254000">
                  <a:moveTo>
                    <a:pt x="215900" y="0"/>
                  </a:moveTo>
                  <a:lnTo>
                    <a:pt x="158505" y="4536"/>
                  </a:lnTo>
                  <a:lnTo>
                    <a:pt x="106931" y="17339"/>
                  </a:lnTo>
                  <a:lnTo>
                    <a:pt x="63235" y="37197"/>
                  </a:lnTo>
                  <a:lnTo>
                    <a:pt x="29476" y="62900"/>
                  </a:lnTo>
                  <a:lnTo>
                    <a:pt x="0" y="127000"/>
                  </a:lnTo>
                  <a:lnTo>
                    <a:pt x="7712" y="160761"/>
                  </a:lnTo>
                  <a:lnTo>
                    <a:pt x="63235" y="216802"/>
                  </a:lnTo>
                  <a:lnTo>
                    <a:pt x="106931" y="236660"/>
                  </a:lnTo>
                  <a:lnTo>
                    <a:pt x="158505" y="249463"/>
                  </a:lnTo>
                  <a:lnTo>
                    <a:pt x="215900" y="254000"/>
                  </a:lnTo>
                  <a:lnTo>
                    <a:pt x="273294" y="249463"/>
                  </a:lnTo>
                  <a:lnTo>
                    <a:pt x="324868" y="236660"/>
                  </a:lnTo>
                  <a:lnTo>
                    <a:pt x="368564" y="216802"/>
                  </a:lnTo>
                  <a:lnTo>
                    <a:pt x="402323" y="191099"/>
                  </a:lnTo>
                  <a:lnTo>
                    <a:pt x="431800" y="127000"/>
                  </a:lnTo>
                  <a:lnTo>
                    <a:pt x="424087" y="93238"/>
                  </a:lnTo>
                  <a:lnTo>
                    <a:pt x="368564" y="37197"/>
                  </a:lnTo>
                  <a:lnTo>
                    <a:pt x="324868" y="17339"/>
                  </a:lnTo>
                  <a:lnTo>
                    <a:pt x="273294" y="4536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49450" y="2343150"/>
              <a:ext cx="431800" cy="254000"/>
            </a:xfrm>
            <a:custGeom>
              <a:avLst/>
              <a:gdLst/>
              <a:ahLst/>
              <a:cxnLst/>
              <a:rect l="l" t="t" r="r" b="b"/>
              <a:pathLst>
                <a:path w="431800" h="254000">
                  <a:moveTo>
                    <a:pt x="0" y="127000"/>
                  </a:moveTo>
                  <a:lnTo>
                    <a:pt x="29476" y="62900"/>
                  </a:lnTo>
                  <a:lnTo>
                    <a:pt x="63235" y="37197"/>
                  </a:lnTo>
                  <a:lnTo>
                    <a:pt x="106931" y="17339"/>
                  </a:lnTo>
                  <a:lnTo>
                    <a:pt x="158505" y="4536"/>
                  </a:lnTo>
                  <a:lnTo>
                    <a:pt x="215899" y="0"/>
                  </a:lnTo>
                  <a:lnTo>
                    <a:pt x="273294" y="4536"/>
                  </a:lnTo>
                  <a:lnTo>
                    <a:pt x="324868" y="17339"/>
                  </a:lnTo>
                  <a:lnTo>
                    <a:pt x="368564" y="37197"/>
                  </a:lnTo>
                  <a:lnTo>
                    <a:pt x="402323" y="62900"/>
                  </a:lnTo>
                  <a:lnTo>
                    <a:pt x="431799" y="127000"/>
                  </a:lnTo>
                  <a:lnTo>
                    <a:pt x="424087" y="160762"/>
                  </a:lnTo>
                  <a:lnTo>
                    <a:pt x="368564" y="216802"/>
                  </a:lnTo>
                  <a:lnTo>
                    <a:pt x="324868" y="236661"/>
                  </a:lnTo>
                  <a:lnTo>
                    <a:pt x="273294" y="249463"/>
                  </a:lnTo>
                  <a:lnTo>
                    <a:pt x="215899" y="254000"/>
                  </a:lnTo>
                  <a:lnTo>
                    <a:pt x="158505" y="249463"/>
                  </a:lnTo>
                  <a:lnTo>
                    <a:pt x="106931" y="236661"/>
                  </a:lnTo>
                  <a:lnTo>
                    <a:pt x="63235" y="216802"/>
                  </a:lnTo>
                  <a:lnTo>
                    <a:pt x="29476" y="191099"/>
                  </a:lnTo>
                  <a:lnTo>
                    <a:pt x="0" y="127000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7300" y="4305300"/>
              <a:ext cx="469900" cy="2794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7300" y="4305300"/>
              <a:ext cx="143503" cy="8789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520950" y="42989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215900" y="0"/>
                  </a:moveTo>
                  <a:lnTo>
                    <a:pt x="158504" y="4309"/>
                  </a:lnTo>
                  <a:lnTo>
                    <a:pt x="106930" y="16472"/>
                  </a:lnTo>
                  <a:lnTo>
                    <a:pt x="63235" y="35337"/>
                  </a:lnTo>
                  <a:lnTo>
                    <a:pt x="29476" y="59755"/>
                  </a:lnTo>
                  <a:lnTo>
                    <a:pt x="0" y="120650"/>
                  </a:lnTo>
                  <a:lnTo>
                    <a:pt x="7712" y="152723"/>
                  </a:lnTo>
                  <a:lnTo>
                    <a:pt x="63235" y="205962"/>
                  </a:lnTo>
                  <a:lnTo>
                    <a:pt x="106930" y="224827"/>
                  </a:lnTo>
                  <a:lnTo>
                    <a:pt x="158504" y="236990"/>
                  </a:lnTo>
                  <a:lnTo>
                    <a:pt x="215900" y="241300"/>
                  </a:lnTo>
                  <a:lnTo>
                    <a:pt x="273294" y="236990"/>
                  </a:lnTo>
                  <a:lnTo>
                    <a:pt x="324868" y="224827"/>
                  </a:lnTo>
                  <a:lnTo>
                    <a:pt x="368564" y="205962"/>
                  </a:lnTo>
                  <a:lnTo>
                    <a:pt x="402323" y="181544"/>
                  </a:lnTo>
                  <a:lnTo>
                    <a:pt x="431800" y="120650"/>
                  </a:lnTo>
                  <a:lnTo>
                    <a:pt x="424087" y="88576"/>
                  </a:lnTo>
                  <a:lnTo>
                    <a:pt x="368564" y="35337"/>
                  </a:lnTo>
                  <a:lnTo>
                    <a:pt x="324868" y="16472"/>
                  </a:lnTo>
                  <a:lnTo>
                    <a:pt x="273294" y="4309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20950" y="42989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0" y="120649"/>
                  </a:moveTo>
                  <a:lnTo>
                    <a:pt x="29476" y="59755"/>
                  </a:lnTo>
                  <a:lnTo>
                    <a:pt x="63235" y="35337"/>
                  </a:lnTo>
                  <a:lnTo>
                    <a:pt x="106931" y="16472"/>
                  </a:lnTo>
                  <a:lnTo>
                    <a:pt x="158505" y="4309"/>
                  </a:lnTo>
                  <a:lnTo>
                    <a:pt x="215900" y="0"/>
                  </a:lnTo>
                  <a:lnTo>
                    <a:pt x="273294" y="4309"/>
                  </a:lnTo>
                  <a:lnTo>
                    <a:pt x="324868" y="16472"/>
                  </a:lnTo>
                  <a:lnTo>
                    <a:pt x="368564" y="35337"/>
                  </a:lnTo>
                  <a:lnTo>
                    <a:pt x="402323" y="59755"/>
                  </a:lnTo>
                  <a:lnTo>
                    <a:pt x="431799" y="120649"/>
                  </a:lnTo>
                  <a:lnTo>
                    <a:pt x="424087" y="152723"/>
                  </a:lnTo>
                  <a:lnTo>
                    <a:pt x="368564" y="205962"/>
                  </a:lnTo>
                  <a:lnTo>
                    <a:pt x="324868" y="224827"/>
                  </a:lnTo>
                  <a:lnTo>
                    <a:pt x="273294" y="236990"/>
                  </a:lnTo>
                  <a:lnTo>
                    <a:pt x="215900" y="241300"/>
                  </a:lnTo>
                  <a:lnTo>
                    <a:pt x="158505" y="236990"/>
                  </a:lnTo>
                  <a:lnTo>
                    <a:pt x="106931" y="224827"/>
                  </a:lnTo>
                  <a:lnTo>
                    <a:pt x="63235" y="205962"/>
                  </a:lnTo>
                  <a:lnTo>
                    <a:pt x="29476" y="181544"/>
                  </a:lnTo>
                  <a:lnTo>
                    <a:pt x="0" y="120649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9699" y="4305300"/>
              <a:ext cx="469900" cy="2794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699" y="4305300"/>
              <a:ext cx="143503" cy="8789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403349" y="42989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215900" y="0"/>
                  </a:moveTo>
                  <a:lnTo>
                    <a:pt x="158505" y="4309"/>
                  </a:lnTo>
                  <a:lnTo>
                    <a:pt x="106931" y="16472"/>
                  </a:lnTo>
                  <a:lnTo>
                    <a:pt x="63235" y="35337"/>
                  </a:lnTo>
                  <a:lnTo>
                    <a:pt x="29476" y="59755"/>
                  </a:lnTo>
                  <a:lnTo>
                    <a:pt x="0" y="120650"/>
                  </a:lnTo>
                  <a:lnTo>
                    <a:pt x="7712" y="152723"/>
                  </a:lnTo>
                  <a:lnTo>
                    <a:pt x="63235" y="205962"/>
                  </a:lnTo>
                  <a:lnTo>
                    <a:pt x="106931" y="224827"/>
                  </a:lnTo>
                  <a:lnTo>
                    <a:pt x="158505" y="236990"/>
                  </a:lnTo>
                  <a:lnTo>
                    <a:pt x="215900" y="241300"/>
                  </a:lnTo>
                  <a:lnTo>
                    <a:pt x="273295" y="236990"/>
                  </a:lnTo>
                  <a:lnTo>
                    <a:pt x="324869" y="224827"/>
                  </a:lnTo>
                  <a:lnTo>
                    <a:pt x="368564" y="205962"/>
                  </a:lnTo>
                  <a:lnTo>
                    <a:pt x="402323" y="181544"/>
                  </a:lnTo>
                  <a:lnTo>
                    <a:pt x="431800" y="120650"/>
                  </a:lnTo>
                  <a:lnTo>
                    <a:pt x="424087" y="88576"/>
                  </a:lnTo>
                  <a:lnTo>
                    <a:pt x="368564" y="35337"/>
                  </a:lnTo>
                  <a:lnTo>
                    <a:pt x="324869" y="16472"/>
                  </a:lnTo>
                  <a:lnTo>
                    <a:pt x="273295" y="4309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03350" y="4298950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0" y="120649"/>
                  </a:moveTo>
                  <a:lnTo>
                    <a:pt x="29476" y="59755"/>
                  </a:lnTo>
                  <a:lnTo>
                    <a:pt x="63235" y="35337"/>
                  </a:lnTo>
                  <a:lnTo>
                    <a:pt x="106931" y="16472"/>
                  </a:lnTo>
                  <a:lnTo>
                    <a:pt x="158505" y="4309"/>
                  </a:lnTo>
                  <a:lnTo>
                    <a:pt x="215899" y="0"/>
                  </a:lnTo>
                  <a:lnTo>
                    <a:pt x="273294" y="4309"/>
                  </a:lnTo>
                  <a:lnTo>
                    <a:pt x="324868" y="16472"/>
                  </a:lnTo>
                  <a:lnTo>
                    <a:pt x="368564" y="35337"/>
                  </a:lnTo>
                  <a:lnTo>
                    <a:pt x="402323" y="59755"/>
                  </a:lnTo>
                  <a:lnTo>
                    <a:pt x="431800" y="120649"/>
                  </a:lnTo>
                  <a:lnTo>
                    <a:pt x="424087" y="152723"/>
                  </a:lnTo>
                  <a:lnTo>
                    <a:pt x="368564" y="205962"/>
                  </a:lnTo>
                  <a:lnTo>
                    <a:pt x="324868" y="224827"/>
                  </a:lnTo>
                  <a:lnTo>
                    <a:pt x="273294" y="236990"/>
                  </a:lnTo>
                  <a:lnTo>
                    <a:pt x="215899" y="241300"/>
                  </a:lnTo>
                  <a:lnTo>
                    <a:pt x="158505" y="236990"/>
                  </a:lnTo>
                  <a:lnTo>
                    <a:pt x="106931" y="224827"/>
                  </a:lnTo>
                  <a:lnTo>
                    <a:pt x="63235" y="205962"/>
                  </a:lnTo>
                  <a:lnTo>
                    <a:pt x="29476" y="181544"/>
                  </a:lnTo>
                  <a:lnTo>
                    <a:pt x="0" y="120649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44649" y="4552950"/>
              <a:ext cx="342900" cy="444500"/>
            </a:xfrm>
            <a:custGeom>
              <a:avLst/>
              <a:gdLst/>
              <a:ahLst/>
              <a:cxnLst/>
              <a:rect l="l" t="t" r="r" b="b"/>
              <a:pathLst>
                <a:path w="342900" h="444500">
                  <a:moveTo>
                    <a:pt x="0" y="0"/>
                  </a:moveTo>
                  <a:lnTo>
                    <a:pt x="342900" y="4445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39616" y="4549072"/>
              <a:ext cx="347980" cy="448945"/>
            </a:xfrm>
            <a:custGeom>
              <a:avLst/>
              <a:gdLst/>
              <a:ahLst/>
              <a:cxnLst/>
              <a:rect l="l" t="t" r="r" b="b"/>
              <a:pathLst>
                <a:path w="347980" h="448945">
                  <a:moveTo>
                    <a:pt x="10067" y="0"/>
                  </a:moveTo>
                  <a:lnTo>
                    <a:pt x="0" y="7753"/>
                  </a:lnTo>
                  <a:lnTo>
                    <a:pt x="302290" y="399613"/>
                  </a:lnTo>
                  <a:lnTo>
                    <a:pt x="244875" y="398575"/>
                  </a:lnTo>
                  <a:lnTo>
                    <a:pt x="347933" y="448377"/>
                  </a:lnTo>
                  <a:lnTo>
                    <a:pt x="325974" y="336120"/>
                  </a:lnTo>
                  <a:lnTo>
                    <a:pt x="312357" y="391859"/>
                  </a:lnTo>
                  <a:lnTo>
                    <a:pt x="100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17750" y="4552950"/>
              <a:ext cx="381000" cy="431800"/>
            </a:xfrm>
            <a:custGeom>
              <a:avLst/>
              <a:gdLst/>
              <a:ahLst/>
              <a:cxnLst/>
              <a:rect l="l" t="t" r="r" b="b"/>
              <a:pathLst>
                <a:path w="381000" h="431800">
                  <a:moveTo>
                    <a:pt x="381000" y="0"/>
                  </a:moveTo>
                  <a:lnTo>
                    <a:pt x="0" y="4318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17750" y="4548750"/>
              <a:ext cx="386080" cy="436245"/>
            </a:xfrm>
            <a:custGeom>
              <a:avLst/>
              <a:gdLst/>
              <a:ahLst/>
              <a:cxnLst/>
              <a:rect l="l" t="t" r="r" b="b"/>
              <a:pathLst>
                <a:path w="386080" h="436245">
                  <a:moveTo>
                    <a:pt x="376232" y="0"/>
                  </a:moveTo>
                  <a:lnTo>
                    <a:pt x="39222" y="381944"/>
                  </a:lnTo>
                  <a:lnTo>
                    <a:pt x="29309" y="325431"/>
                  </a:lnTo>
                  <a:lnTo>
                    <a:pt x="0" y="435999"/>
                  </a:lnTo>
                  <a:lnTo>
                    <a:pt x="106117" y="393085"/>
                  </a:lnTo>
                  <a:lnTo>
                    <a:pt x="48757" y="390343"/>
                  </a:lnTo>
                  <a:lnTo>
                    <a:pt x="385767" y="8398"/>
                  </a:lnTo>
                  <a:lnTo>
                    <a:pt x="376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92350" y="3879849"/>
              <a:ext cx="393700" cy="406400"/>
            </a:xfrm>
            <a:custGeom>
              <a:avLst/>
              <a:gdLst/>
              <a:ahLst/>
              <a:cxnLst/>
              <a:rect l="l" t="t" r="r" b="b"/>
              <a:pathLst>
                <a:path w="393700" h="406400">
                  <a:moveTo>
                    <a:pt x="0" y="0"/>
                  </a:moveTo>
                  <a:lnTo>
                    <a:pt x="393700" y="4064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87783" y="3875434"/>
              <a:ext cx="398780" cy="410845"/>
            </a:xfrm>
            <a:custGeom>
              <a:avLst/>
              <a:gdLst/>
              <a:ahLst/>
              <a:cxnLst/>
              <a:rect l="l" t="t" r="r" b="b"/>
              <a:pathLst>
                <a:path w="398780" h="410845">
                  <a:moveTo>
                    <a:pt x="9132" y="0"/>
                  </a:moveTo>
                  <a:lnTo>
                    <a:pt x="0" y="8831"/>
                  </a:lnTo>
                  <a:lnTo>
                    <a:pt x="347435" y="367475"/>
                  </a:lnTo>
                  <a:lnTo>
                    <a:pt x="290266" y="372882"/>
                  </a:lnTo>
                  <a:lnTo>
                    <a:pt x="398266" y="410815"/>
                  </a:lnTo>
                  <a:lnTo>
                    <a:pt x="363839" y="301729"/>
                  </a:lnTo>
                  <a:lnTo>
                    <a:pt x="356569" y="358642"/>
                  </a:lnTo>
                  <a:lnTo>
                    <a:pt x="91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19249" y="3879849"/>
              <a:ext cx="457200" cy="406400"/>
            </a:xfrm>
            <a:custGeom>
              <a:avLst/>
              <a:gdLst/>
              <a:ahLst/>
              <a:cxnLst/>
              <a:rect l="l" t="t" r="r" b="b"/>
              <a:pathLst>
                <a:path w="457200" h="406400">
                  <a:moveTo>
                    <a:pt x="457200" y="0"/>
                  </a:moveTo>
                  <a:lnTo>
                    <a:pt x="0" y="4064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8850" y="3015906"/>
              <a:ext cx="1122045" cy="1270635"/>
            </a:xfrm>
            <a:custGeom>
              <a:avLst/>
              <a:gdLst/>
              <a:ahLst/>
              <a:cxnLst/>
              <a:rect l="l" t="t" r="r" b="b"/>
              <a:pathLst>
                <a:path w="1122045" h="1270635">
                  <a:moveTo>
                    <a:pt x="990587" y="51142"/>
                  </a:moveTo>
                  <a:lnTo>
                    <a:pt x="888199" y="0"/>
                  </a:lnTo>
                  <a:lnTo>
                    <a:pt x="924077" y="44792"/>
                  </a:lnTo>
                  <a:lnTo>
                    <a:pt x="0" y="44792"/>
                  </a:lnTo>
                  <a:lnTo>
                    <a:pt x="0" y="57492"/>
                  </a:lnTo>
                  <a:lnTo>
                    <a:pt x="924077" y="57492"/>
                  </a:lnTo>
                  <a:lnTo>
                    <a:pt x="888199" y="102298"/>
                  </a:lnTo>
                  <a:lnTo>
                    <a:pt x="977887" y="57492"/>
                  </a:lnTo>
                  <a:lnTo>
                    <a:pt x="990587" y="51142"/>
                  </a:lnTo>
                  <a:close/>
                </a:path>
                <a:path w="1122045" h="1270635">
                  <a:moveTo>
                    <a:pt x="1121816" y="868692"/>
                  </a:moveTo>
                  <a:lnTo>
                    <a:pt x="1113370" y="859205"/>
                  </a:lnTo>
                  <a:lnTo>
                    <a:pt x="705866" y="1221422"/>
                  </a:lnTo>
                  <a:lnTo>
                    <a:pt x="702868" y="1164132"/>
                  </a:lnTo>
                  <a:lnTo>
                    <a:pt x="660400" y="1270342"/>
                  </a:lnTo>
                  <a:lnTo>
                    <a:pt x="770928" y="1240561"/>
                  </a:lnTo>
                  <a:lnTo>
                    <a:pt x="714324" y="1230922"/>
                  </a:lnTo>
                  <a:lnTo>
                    <a:pt x="1121816" y="868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33449" y="3067049"/>
              <a:ext cx="25400" cy="2006600"/>
            </a:xfrm>
            <a:custGeom>
              <a:avLst/>
              <a:gdLst/>
              <a:ahLst/>
              <a:cxnLst/>
              <a:rect l="l" t="t" r="r" b="b"/>
              <a:pathLst>
                <a:path w="25400" h="2006600">
                  <a:moveTo>
                    <a:pt x="0" y="2006600"/>
                  </a:moveTo>
                  <a:lnTo>
                    <a:pt x="25400" y="0"/>
                  </a:lnTo>
                </a:path>
              </a:pathLst>
            </a:custGeom>
            <a:ln w="12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19350" y="3067050"/>
              <a:ext cx="1054100" cy="0"/>
            </a:xfrm>
            <a:custGeom>
              <a:avLst/>
              <a:gdLst/>
              <a:ahLst/>
              <a:cxnLst/>
              <a:rect l="l" t="t" r="r" b="b"/>
              <a:pathLst>
                <a:path w="1054100">
                  <a:moveTo>
                    <a:pt x="0" y="0"/>
                  </a:moveTo>
                  <a:lnTo>
                    <a:pt x="1054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60750" y="3067050"/>
              <a:ext cx="12700" cy="2781300"/>
            </a:xfrm>
            <a:custGeom>
              <a:avLst/>
              <a:gdLst/>
              <a:ahLst/>
              <a:cxnLst/>
              <a:rect l="l" t="t" r="r" b="b"/>
              <a:pathLst>
                <a:path w="12700" h="2781300">
                  <a:moveTo>
                    <a:pt x="12699" y="0"/>
                  </a:moveTo>
                  <a:lnTo>
                    <a:pt x="0" y="2781299"/>
                  </a:lnTo>
                </a:path>
              </a:pathLst>
            </a:custGeom>
            <a:ln w="12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06650" y="5797198"/>
              <a:ext cx="1054100" cy="102870"/>
            </a:xfrm>
            <a:custGeom>
              <a:avLst/>
              <a:gdLst/>
              <a:ahLst/>
              <a:cxnLst/>
              <a:rect l="l" t="t" r="r" b="b"/>
              <a:pathLst>
                <a:path w="1054100" h="102870">
                  <a:moveTo>
                    <a:pt x="102393" y="0"/>
                  </a:moveTo>
                  <a:lnTo>
                    <a:pt x="0" y="51153"/>
                  </a:lnTo>
                  <a:lnTo>
                    <a:pt x="102393" y="102304"/>
                  </a:lnTo>
                  <a:lnTo>
                    <a:pt x="66521" y="57503"/>
                  </a:lnTo>
                  <a:lnTo>
                    <a:pt x="1054100" y="57501"/>
                  </a:lnTo>
                  <a:lnTo>
                    <a:pt x="1054100" y="51153"/>
                  </a:lnTo>
                  <a:lnTo>
                    <a:pt x="61436" y="51153"/>
                  </a:lnTo>
                  <a:lnTo>
                    <a:pt x="1054100" y="51151"/>
                  </a:lnTo>
                  <a:lnTo>
                    <a:pt x="1054100" y="44803"/>
                  </a:lnTo>
                  <a:lnTo>
                    <a:pt x="66521" y="44803"/>
                  </a:lnTo>
                  <a:lnTo>
                    <a:pt x="102393" y="0"/>
                  </a:lnTo>
                  <a:close/>
                </a:path>
                <a:path w="1054100" h="102870">
                  <a:moveTo>
                    <a:pt x="1054100" y="51151"/>
                  </a:moveTo>
                  <a:lnTo>
                    <a:pt x="61436" y="51151"/>
                  </a:lnTo>
                  <a:lnTo>
                    <a:pt x="1054100" y="51153"/>
                  </a:lnTo>
                  <a:close/>
                </a:path>
                <a:path w="1054100" h="102870">
                  <a:moveTo>
                    <a:pt x="1054100" y="44801"/>
                  </a:moveTo>
                  <a:lnTo>
                    <a:pt x="66521" y="44803"/>
                  </a:lnTo>
                  <a:lnTo>
                    <a:pt x="1054100" y="448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5800" y="2971799"/>
              <a:ext cx="469900" cy="2794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5800" y="2971799"/>
              <a:ext cx="143503" cy="8789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450" y="2965449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215900" y="0"/>
                  </a:moveTo>
                  <a:lnTo>
                    <a:pt x="158505" y="4309"/>
                  </a:lnTo>
                  <a:lnTo>
                    <a:pt x="106931" y="16472"/>
                  </a:lnTo>
                  <a:lnTo>
                    <a:pt x="63235" y="35337"/>
                  </a:lnTo>
                  <a:lnTo>
                    <a:pt x="29476" y="59755"/>
                  </a:lnTo>
                  <a:lnTo>
                    <a:pt x="0" y="120650"/>
                  </a:lnTo>
                  <a:lnTo>
                    <a:pt x="7712" y="152723"/>
                  </a:lnTo>
                  <a:lnTo>
                    <a:pt x="63235" y="205962"/>
                  </a:lnTo>
                  <a:lnTo>
                    <a:pt x="106931" y="224827"/>
                  </a:lnTo>
                  <a:lnTo>
                    <a:pt x="158505" y="236990"/>
                  </a:lnTo>
                  <a:lnTo>
                    <a:pt x="215900" y="241300"/>
                  </a:lnTo>
                  <a:lnTo>
                    <a:pt x="273294" y="236990"/>
                  </a:lnTo>
                  <a:lnTo>
                    <a:pt x="324868" y="224827"/>
                  </a:lnTo>
                  <a:lnTo>
                    <a:pt x="368564" y="205962"/>
                  </a:lnTo>
                  <a:lnTo>
                    <a:pt x="402323" y="181544"/>
                  </a:lnTo>
                  <a:lnTo>
                    <a:pt x="431800" y="120650"/>
                  </a:lnTo>
                  <a:lnTo>
                    <a:pt x="424087" y="88576"/>
                  </a:lnTo>
                  <a:lnTo>
                    <a:pt x="368564" y="35337"/>
                  </a:lnTo>
                  <a:lnTo>
                    <a:pt x="324868" y="16472"/>
                  </a:lnTo>
                  <a:lnTo>
                    <a:pt x="273294" y="4309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49450" y="2965449"/>
              <a:ext cx="431800" cy="241300"/>
            </a:xfrm>
            <a:custGeom>
              <a:avLst/>
              <a:gdLst/>
              <a:ahLst/>
              <a:cxnLst/>
              <a:rect l="l" t="t" r="r" b="b"/>
              <a:pathLst>
                <a:path w="431800" h="241300">
                  <a:moveTo>
                    <a:pt x="0" y="120650"/>
                  </a:moveTo>
                  <a:lnTo>
                    <a:pt x="29476" y="59755"/>
                  </a:lnTo>
                  <a:lnTo>
                    <a:pt x="63235" y="35337"/>
                  </a:lnTo>
                  <a:lnTo>
                    <a:pt x="106931" y="16472"/>
                  </a:lnTo>
                  <a:lnTo>
                    <a:pt x="158505" y="4309"/>
                  </a:lnTo>
                  <a:lnTo>
                    <a:pt x="215899" y="0"/>
                  </a:lnTo>
                  <a:lnTo>
                    <a:pt x="273294" y="4309"/>
                  </a:lnTo>
                  <a:lnTo>
                    <a:pt x="324868" y="16472"/>
                  </a:lnTo>
                  <a:lnTo>
                    <a:pt x="368564" y="35337"/>
                  </a:lnTo>
                  <a:lnTo>
                    <a:pt x="402323" y="59755"/>
                  </a:lnTo>
                  <a:lnTo>
                    <a:pt x="431799" y="120650"/>
                  </a:lnTo>
                  <a:lnTo>
                    <a:pt x="424087" y="152723"/>
                  </a:lnTo>
                  <a:lnTo>
                    <a:pt x="368564" y="205962"/>
                  </a:lnTo>
                  <a:lnTo>
                    <a:pt x="324868" y="224827"/>
                  </a:lnTo>
                  <a:lnTo>
                    <a:pt x="273294" y="236990"/>
                  </a:lnTo>
                  <a:lnTo>
                    <a:pt x="215899" y="241300"/>
                  </a:lnTo>
                  <a:lnTo>
                    <a:pt x="158505" y="236990"/>
                  </a:lnTo>
                  <a:lnTo>
                    <a:pt x="106931" y="224827"/>
                  </a:lnTo>
                  <a:lnTo>
                    <a:pt x="63235" y="205962"/>
                  </a:lnTo>
                  <a:lnTo>
                    <a:pt x="29476" y="181544"/>
                  </a:lnTo>
                  <a:lnTo>
                    <a:pt x="0" y="120650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65350" y="3219449"/>
              <a:ext cx="0" cy="406400"/>
            </a:xfrm>
            <a:custGeom>
              <a:avLst/>
              <a:gdLst/>
              <a:ahLst/>
              <a:cxnLst/>
              <a:rect l="l" t="t" r="r" b="b"/>
              <a:pathLst>
                <a:path h="406400">
                  <a:moveTo>
                    <a:pt x="0" y="0"/>
                  </a:moveTo>
                  <a:lnTo>
                    <a:pt x="0" y="4064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14153" y="3219449"/>
              <a:ext cx="102870" cy="406400"/>
            </a:xfrm>
            <a:custGeom>
              <a:avLst/>
              <a:gdLst/>
              <a:ahLst/>
              <a:cxnLst/>
              <a:rect l="l" t="t" r="r" b="b"/>
              <a:pathLst>
                <a:path w="102869" h="406400">
                  <a:moveTo>
                    <a:pt x="57551" y="0"/>
                  </a:moveTo>
                  <a:lnTo>
                    <a:pt x="44841" y="0"/>
                  </a:lnTo>
                  <a:lnTo>
                    <a:pt x="44841" y="339937"/>
                  </a:lnTo>
                  <a:lnTo>
                    <a:pt x="0" y="304095"/>
                  </a:lnTo>
                  <a:lnTo>
                    <a:pt x="51196" y="406400"/>
                  </a:lnTo>
                  <a:lnTo>
                    <a:pt x="102392" y="304095"/>
                  </a:lnTo>
                  <a:lnTo>
                    <a:pt x="57551" y="339937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323416" y="3773316"/>
            <a:ext cx="5530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Times New Roman"/>
                <a:cs typeface="Times New Roman"/>
              </a:rPr>
              <a:t>x&lt;=y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8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85585" y="3773316"/>
            <a:ext cx="14103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5350" algn="l"/>
              </a:tabLst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r>
              <a:rPr sz="1900" dirty="0">
                <a:latin typeface="Times New Roman"/>
                <a:cs typeface="Times New Roman"/>
              </a:rPr>
              <a:t>	x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74565" y="3163270"/>
            <a:ext cx="5270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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11" rIns="0" bIns="0" rtlCol="0">
            <a:spAutoFit/>
          </a:bodyPr>
          <a:lstStyle/>
          <a:p>
            <a:pPr marL="115443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Graphe</a:t>
            </a:r>
            <a:r>
              <a:rPr sz="3900" b="1" spc="-43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2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Flot</a:t>
            </a:r>
            <a:r>
              <a:rPr sz="3900" b="1" spc="-375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2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Contrôle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5856" y="2356605"/>
            <a:ext cx="2603500" cy="350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36800"/>
              </a:lnSpc>
              <a:spcBef>
                <a:spcPts val="100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r>
              <a:rPr sz="1400" b="1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400" b="1" spc="-1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45" dirty="0">
                <a:solidFill>
                  <a:srgbClr val="404040"/>
                </a:solidFill>
                <a:latin typeface="Courier New"/>
                <a:cs typeface="Courier New"/>
              </a:rPr>
              <a:t>computeGCD(int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400" b="1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404040"/>
                </a:solidFill>
                <a:latin typeface="Courier New"/>
                <a:cs typeface="Courier New"/>
              </a:rPr>
              <a:t>gcd</a:t>
            </a:r>
            <a:endParaRPr sz="140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615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while</a:t>
            </a:r>
            <a:r>
              <a:rPr sz="1400" b="1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Courier New"/>
                <a:cs typeface="Courier New"/>
              </a:rPr>
              <a:t>(x!=y){</a:t>
            </a:r>
            <a:endParaRPr sz="14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400" b="1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Courier New"/>
                <a:cs typeface="Courier New"/>
              </a:rPr>
              <a:t>(x&gt;y){</a:t>
            </a:r>
            <a:endParaRPr sz="1400">
              <a:latin typeface="Courier New"/>
              <a:cs typeface="Courier New"/>
            </a:endParaRPr>
          </a:p>
          <a:p>
            <a:pPr marL="14859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x= x</a:t>
            </a:r>
            <a:r>
              <a:rPr sz="1400" b="1" spc="-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– </a:t>
            </a:r>
            <a:r>
              <a:rPr sz="1400" b="1" spc="-35" dirty="0">
                <a:solidFill>
                  <a:srgbClr val="404040"/>
                </a:solidFill>
                <a:latin typeface="Courier New"/>
                <a:cs typeface="Courier New"/>
              </a:rPr>
              <a:t>y;</a:t>
            </a:r>
            <a:endParaRPr sz="14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515"/>
              </a:spcBef>
            </a:pPr>
            <a:r>
              <a:rPr sz="1400" b="1" spc="-10" dirty="0">
                <a:solidFill>
                  <a:srgbClr val="404040"/>
                </a:solidFill>
                <a:latin typeface="Courier New"/>
                <a:cs typeface="Courier New"/>
              </a:rPr>
              <a:t>}else{</a:t>
            </a:r>
            <a:endParaRPr sz="1400">
              <a:latin typeface="Courier New"/>
              <a:cs typeface="Courier New"/>
            </a:endParaRPr>
          </a:p>
          <a:p>
            <a:pPr marL="14859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y</a:t>
            </a:r>
            <a:r>
              <a:rPr sz="1400" b="1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b="1" spc="-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y</a:t>
            </a:r>
            <a:r>
              <a:rPr sz="1400" b="1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–</a:t>
            </a:r>
            <a:r>
              <a:rPr sz="1400" b="1" spc="-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404040"/>
                </a:solidFill>
                <a:latin typeface="Courier New"/>
                <a:cs typeface="Courier New"/>
              </a:rPr>
              <a:t>x;</a:t>
            </a:r>
            <a:endParaRPr sz="14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615"/>
              </a:spcBef>
            </a:pPr>
            <a:r>
              <a:rPr sz="1400" b="1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620"/>
              </a:spcBef>
            </a:pPr>
            <a:r>
              <a:rPr sz="1400" b="1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88900" marR="1358265">
              <a:lnSpc>
                <a:spcPts val="2300"/>
              </a:lnSpc>
              <a:spcBef>
                <a:spcPts val="80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gcd</a:t>
            </a:r>
            <a:r>
              <a:rPr sz="1400" b="1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b="1" spc="-25" dirty="0">
                <a:solidFill>
                  <a:srgbClr val="404040"/>
                </a:solidFill>
                <a:latin typeface="Courier New"/>
                <a:cs typeface="Courier New"/>
              </a:rPr>
              <a:t> x;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400" b="1" spc="-1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30" dirty="0">
                <a:solidFill>
                  <a:srgbClr val="404040"/>
                </a:solidFill>
                <a:latin typeface="Courier New"/>
                <a:cs typeface="Courier New"/>
              </a:rPr>
              <a:t>gcd;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6355" y="2435277"/>
            <a:ext cx="10541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x,</a:t>
            </a:r>
            <a:r>
              <a:rPr sz="1400" b="1" spc="-1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400" b="1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404040"/>
                </a:solidFill>
                <a:latin typeface="Courier New"/>
                <a:cs typeface="Courier New"/>
              </a:rPr>
              <a:t>y){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14894" y="2222498"/>
            <a:ext cx="2553335" cy="3962400"/>
            <a:chOff x="4914894" y="2222498"/>
            <a:chExt cx="2553335" cy="3962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9" y="3632200"/>
              <a:ext cx="4699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599" y="3632200"/>
              <a:ext cx="146068" cy="978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37249" y="36258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37250" y="36258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0" y="18206"/>
                  </a:lnTo>
                  <a:lnTo>
                    <a:pt x="158504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3" y="39057"/>
                  </a:lnTo>
                  <a:lnTo>
                    <a:pt x="402322" y="66045"/>
                  </a:lnTo>
                  <a:lnTo>
                    <a:pt x="424087" y="97900"/>
                  </a:lnTo>
                  <a:lnTo>
                    <a:pt x="431799" y="133349"/>
                  </a:lnTo>
                  <a:lnTo>
                    <a:pt x="424087" y="168799"/>
                  </a:lnTo>
                  <a:lnTo>
                    <a:pt x="402322" y="200654"/>
                  </a:lnTo>
                  <a:lnTo>
                    <a:pt x="368563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4" y="261936"/>
                  </a:lnTo>
                  <a:lnTo>
                    <a:pt x="106930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599" y="5880100"/>
              <a:ext cx="4699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599" y="5880100"/>
              <a:ext cx="146068" cy="978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37249" y="5873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37250" y="5873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0" y="18206"/>
                  </a:lnTo>
                  <a:lnTo>
                    <a:pt x="158504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3" y="39057"/>
                  </a:lnTo>
                  <a:lnTo>
                    <a:pt x="402322" y="66045"/>
                  </a:lnTo>
                  <a:lnTo>
                    <a:pt x="424087" y="97900"/>
                  </a:lnTo>
                  <a:lnTo>
                    <a:pt x="431799" y="133349"/>
                  </a:lnTo>
                  <a:lnTo>
                    <a:pt x="424087" y="168799"/>
                  </a:lnTo>
                  <a:lnTo>
                    <a:pt x="402322" y="200654"/>
                  </a:lnTo>
                  <a:lnTo>
                    <a:pt x="368563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4" y="261936"/>
                  </a:lnTo>
                  <a:lnTo>
                    <a:pt x="106930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3599" y="5067300"/>
              <a:ext cx="4699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599" y="5067300"/>
              <a:ext cx="146068" cy="9781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37249" y="50609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37250" y="50609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0" y="18206"/>
                  </a:lnTo>
                  <a:lnTo>
                    <a:pt x="158504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3" y="39057"/>
                  </a:lnTo>
                  <a:lnTo>
                    <a:pt x="402322" y="66045"/>
                  </a:lnTo>
                  <a:lnTo>
                    <a:pt x="424087" y="97900"/>
                  </a:lnTo>
                  <a:lnTo>
                    <a:pt x="431799" y="133349"/>
                  </a:lnTo>
                  <a:lnTo>
                    <a:pt x="424087" y="168799"/>
                  </a:lnTo>
                  <a:lnTo>
                    <a:pt x="402322" y="200654"/>
                  </a:lnTo>
                  <a:lnTo>
                    <a:pt x="368563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4" y="261936"/>
                  </a:lnTo>
                  <a:lnTo>
                    <a:pt x="106930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1273" y="2508039"/>
              <a:ext cx="102870" cy="381635"/>
            </a:xfrm>
            <a:custGeom>
              <a:avLst/>
              <a:gdLst/>
              <a:ahLst/>
              <a:cxnLst/>
              <a:rect l="l" t="t" r="r" b="b"/>
              <a:pathLst>
                <a:path w="102870" h="381635">
                  <a:moveTo>
                    <a:pt x="0" y="280664"/>
                  </a:moveTo>
                  <a:lnTo>
                    <a:pt x="54576" y="381210"/>
                  </a:lnTo>
                  <a:lnTo>
                    <a:pt x="84999" y="314995"/>
                  </a:lnTo>
                  <a:lnTo>
                    <a:pt x="46010" y="314995"/>
                  </a:lnTo>
                  <a:lnTo>
                    <a:pt x="0" y="280664"/>
                  </a:lnTo>
                  <a:close/>
                </a:path>
                <a:path w="102870" h="381635">
                  <a:moveTo>
                    <a:pt x="48229" y="0"/>
                  </a:moveTo>
                  <a:lnTo>
                    <a:pt x="35525" y="421"/>
                  </a:lnTo>
                  <a:lnTo>
                    <a:pt x="46010" y="314995"/>
                  </a:lnTo>
                  <a:lnTo>
                    <a:pt x="84999" y="314995"/>
                  </a:lnTo>
                  <a:lnTo>
                    <a:pt x="85192" y="314573"/>
                  </a:lnTo>
                  <a:lnTo>
                    <a:pt x="58714" y="314573"/>
                  </a:lnTo>
                  <a:lnTo>
                    <a:pt x="48229" y="0"/>
                  </a:lnTo>
                  <a:close/>
                </a:path>
                <a:path w="102870" h="381635">
                  <a:moveTo>
                    <a:pt x="102336" y="277260"/>
                  </a:moveTo>
                  <a:lnTo>
                    <a:pt x="58714" y="314573"/>
                  </a:lnTo>
                  <a:lnTo>
                    <a:pt x="85192" y="314573"/>
                  </a:lnTo>
                  <a:lnTo>
                    <a:pt x="102336" y="277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21250" y="5187949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1003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3599" y="2235199"/>
              <a:ext cx="4699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599" y="2235199"/>
              <a:ext cx="146068" cy="978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37249" y="2228849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37250" y="2228849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0" y="18206"/>
                  </a:lnTo>
                  <a:lnTo>
                    <a:pt x="158504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3" y="39057"/>
                  </a:lnTo>
                  <a:lnTo>
                    <a:pt x="402322" y="66045"/>
                  </a:lnTo>
                  <a:lnTo>
                    <a:pt x="424087" y="97900"/>
                  </a:lnTo>
                  <a:lnTo>
                    <a:pt x="431799" y="133349"/>
                  </a:lnTo>
                  <a:lnTo>
                    <a:pt x="424087" y="168799"/>
                  </a:lnTo>
                  <a:lnTo>
                    <a:pt x="402322" y="200654"/>
                  </a:lnTo>
                  <a:lnTo>
                    <a:pt x="368563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699"/>
                  </a:lnTo>
                  <a:lnTo>
                    <a:pt x="158504" y="261936"/>
                  </a:lnTo>
                  <a:lnTo>
                    <a:pt x="106930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5099" y="4356100"/>
              <a:ext cx="469900" cy="304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099" y="4356100"/>
              <a:ext cx="146068" cy="9781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508749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4" y="4763"/>
                  </a:lnTo>
                  <a:lnTo>
                    <a:pt x="106930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0" y="248493"/>
                  </a:lnTo>
                  <a:lnTo>
                    <a:pt x="158504" y="261936"/>
                  </a:lnTo>
                  <a:lnTo>
                    <a:pt x="215900" y="266700"/>
                  </a:lnTo>
                  <a:lnTo>
                    <a:pt x="273295" y="261936"/>
                  </a:lnTo>
                  <a:lnTo>
                    <a:pt x="324869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9" y="18206"/>
                  </a:lnTo>
                  <a:lnTo>
                    <a:pt x="273295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08749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7499" y="4356100"/>
              <a:ext cx="469900" cy="3048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7499" y="4356100"/>
              <a:ext cx="146067" cy="9781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91149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5" y="261936"/>
                  </a:lnTo>
                  <a:lnTo>
                    <a:pt x="324869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9" y="18206"/>
                  </a:lnTo>
                  <a:lnTo>
                    <a:pt x="273295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91149" y="43497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1" y="18206"/>
                  </a:lnTo>
                  <a:lnTo>
                    <a:pt x="158505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4" y="39057"/>
                  </a:lnTo>
                  <a:lnTo>
                    <a:pt x="402323" y="66045"/>
                  </a:lnTo>
                  <a:lnTo>
                    <a:pt x="424087" y="97900"/>
                  </a:lnTo>
                  <a:lnTo>
                    <a:pt x="431800" y="133349"/>
                  </a:lnTo>
                  <a:lnTo>
                    <a:pt x="424087" y="168799"/>
                  </a:lnTo>
                  <a:lnTo>
                    <a:pt x="402323" y="200654"/>
                  </a:lnTo>
                  <a:lnTo>
                    <a:pt x="368564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700"/>
                  </a:lnTo>
                  <a:lnTo>
                    <a:pt x="158505" y="261936"/>
                  </a:lnTo>
                  <a:lnTo>
                    <a:pt x="106931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32449" y="4629150"/>
              <a:ext cx="342900" cy="482600"/>
            </a:xfrm>
            <a:custGeom>
              <a:avLst/>
              <a:gdLst/>
              <a:ahLst/>
              <a:cxnLst/>
              <a:rect l="l" t="t" r="r" b="b"/>
              <a:pathLst>
                <a:path w="342900" h="482600">
                  <a:moveTo>
                    <a:pt x="0" y="0"/>
                  </a:moveTo>
                  <a:lnTo>
                    <a:pt x="342900" y="4826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27267" y="4625474"/>
              <a:ext cx="348615" cy="486409"/>
            </a:xfrm>
            <a:custGeom>
              <a:avLst/>
              <a:gdLst/>
              <a:ahLst/>
              <a:cxnLst/>
              <a:rect l="l" t="t" r="r" b="b"/>
              <a:pathLst>
                <a:path w="348614" h="486410">
                  <a:moveTo>
                    <a:pt x="10365" y="0"/>
                  </a:moveTo>
                  <a:lnTo>
                    <a:pt x="0" y="7352"/>
                  </a:lnTo>
                  <a:lnTo>
                    <a:pt x="304393" y="435756"/>
                  </a:lnTo>
                  <a:lnTo>
                    <a:pt x="247063" y="432464"/>
                  </a:lnTo>
                  <a:lnTo>
                    <a:pt x="348082" y="486275"/>
                  </a:lnTo>
                  <a:lnTo>
                    <a:pt x="330555" y="373242"/>
                  </a:lnTo>
                  <a:lnTo>
                    <a:pt x="314758" y="428404"/>
                  </a:lnTo>
                  <a:lnTo>
                    <a:pt x="10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05549" y="4629150"/>
              <a:ext cx="381000" cy="469900"/>
            </a:xfrm>
            <a:custGeom>
              <a:avLst/>
              <a:gdLst/>
              <a:ahLst/>
              <a:cxnLst/>
              <a:rect l="l" t="t" r="r" b="b"/>
              <a:pathLst>
                <a:path w="381000" h="469900">
                  <a:moveTo>
                    <a:pt x="381000" y="0"/>
                  </a:moveTo>
                  <a:lnTo>
                    <a:pt x="0" y="4699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05549" y="4625153"/>
              <a:ext cx="386080" cy="474345"/>
            </a:xfrm>
            <a:custGeom>
              <a:avLst/>
              <a:gdLst/>
              <a:ahLst/>
              <a:cxnLst/>
              <a:rect l="l" t="t" r="r" b="b"/>
              <a:pathLst>
                <a:path w="386079" h="474345">
                  <a:moveTo>
                    <a:pt x="376060" y="0"/>
                  </a:moveTo>
                  <a:lnTo>
                    <a:pt x="36934" y="418256"/>
                  </a:lnTo>
                  <a:lnTo>
                    <a:pt x="24673" y="362204"/>
                  </a:lnTo>
                  <a:lnTo>
                    <a:pt x="0" y="473896"/>
                  </a:lnTo>
                  <a:lnTo>
                    <a:pt x="104235" y="426603"/>
                  </a:lnTo>
                  <a:lnTo>
                    <a:pt x="46810" y="426251"/>
                  </a:lnTo>
                  <a:lnTo>
                    <a:pt x="385939" y="7994"/>
                  </a:lnTo>
                  <a:lnTo>
                    <a:pt x="376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0149" y="3905250"/>
              <a:ext cx="406400" cy="431800"/>
            </a:xfrm>
            <a:custGeom>
              <a:avLst/>
              <a:gdLst/>
              <a:ahLst/>
              <a:cxnLst/>
              <a:rect l="l" t="t" r="r" b="b"/>
              <a:pathLst>
                <a:path w="406400" h="431800">
                  <a:moveTo>
                    <a:pt x="0" y="0"/>
                  </a:moveTo>
                  <a:lnTo>
                    <a:pt x="406400" y="4318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75519" y="3900900"/>
              <a:ext cx="411480" cy="436245"/>
            </a:xfrm>
            <a:custGeom>
              <a:avLst/>
              <a:gdLst/>
              <a:ahLst/>
              <a:cxnLst/>
              <a:rect l="l" t="t" r="r" b="b"/>
              <a:pathLst>
                <a:path w="411479" h="436245">
                  <a:moveTo>
                    <a:pt x="9260" y="0"/>
                  </a:moveTo>
                  <a:lnTo>
                    <a:pt x="0" y="8699"/>
                  </a:lnTo>
                  <a:lnTo>
                    <a:pt x="360829" y="392082"/>
                  </a:lnTo>
                  <a:lnTo>
                    <a:pt x="303588" y="396662"/>
                  </a:lnTo>
                  <a:lnTo>
                    <a:pt x="411030" y="436149"/>
                  </a:lnTo>
                  <a:lnTo>
                    <a:pt x="397624" y="391433"/>
                  </a:lnTo>
                  <a:lnTo>
                    <a:pt x="368942" y="391433"/>
                  </a:lnTo>
                  <a:lnTo>
                    <a:pt x="397624" y="391431"/>
                  </a:lnTo>
                  <a:lnTo>
                    <a:pt x="395210" y="383381"/>
                  </a:lnTo>
                  <a:lnTo>
                    <a:pt x="370090" y="383381"/>
                  </a:lnTo>
                  <a:lnTo>
                    <a:pt x="9260" y="0"/>
                  </a:lnTo>
                  <a:close/>
                </a:path>
                <a:path w="411479" h="436245">
                  <a:moveTo>
                    <a:pt x="397624" y="391431"/>
                  </a:moveTo>
                  <a:lnTo>
                    <a:pt x="368942" y="391433"/>
                  </a:lnTo>
                  <a:lnTo>
                    <a:pt x="397624" y="391433"/>
                  </a:lnTo>
                  <a:close/>
                </a:path>
                <a:path w="411479" h="436245">
                  <a:moveTo>
                    <a:pt x="378181" y="326579"/>
                  </a:moveTo>
                  <a:lnTo>
                    <a:pt x="370090" y="383381"/>
                  </a:lnTo>
                  <a:lnTo>
                    <a:pt x="395210" y="383381"/>
                  </a:lnTo>
                  <a:lnTo>
                    <a:pt x="378181" y="326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07049" y="3905250"/>
              <a:ext cx="457200" cy="431800"/>
            </a:xfrm>
            <a:custGeom>
              <a:avLst/>
              <a:gdLst/>
              <a:ahLst/>
              <a:cxnLst/>
              <a:rect l="l" t="t" r="r" b="b"/>
              <a:pathLst>
                <a:path w="457200" h="431800">
                  <a:moveTo>
                    <a:pt x="457200" y="0"/>
                  </a:moveTo>
                  <a:lnTo>
                    <a:pt x="0" y="4318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46650" y="2965106"/>
              <a:ext cx="1122045" cy="1372235"/>
            </a:xfrm>
            <a:custGeom>
              <a:avLst/>
              <a:gdLst/>
              <a:ahLst/>
              <a:cxnLst/>
              <a:rect l="l" t="t" r="r" b="b"/>
              <a:pathLst>
                <a:path w="1122045" h="1372235">
                  <a:moveTo>
                    <a:pt x="990587" y="51142"/>
                  </a:moveTo>
                  <a:lnTo>
                    <a:pt x="888199" y="0"/>
                  </a:lnTo>
                  <a:lnTo>
                    <a:pt x="924077" y="44792"/>
                  </a:lnTo>
                  <a:lnTo>
                    <a:pt x="0" y="44792"/>
                  </a:lnTo>
                  <a:lnTo>
                    <a:pt x="0" y="57492"/>
                  </a:lnTo>
                  <a:lnTo>
                    <a:pt x="924077" y="57492"/>
                  </a:lnTo>
                  <a:lnTo>
                    <a:pt x="888199" y="102298"/>
                  </a:lnTo>
                  <a:lnTo>
                    <a:pt x="977887" y="57492"/>
                  </a:lnTo>
                  <a:lnTo>
                    <a:pt x="990587" y="51142"/>
                  </a:lnTo>
                  <a:close/>
                </a:path>
                <a:path w="1122045" h="1372235">
                  <a:moveTo>
                    <a:pt x="1121956" y="944765"/>
                  </a:moveTo>
                  <a:lnTo>
                    <a:pt x="1113231" y="935532"/>
                  </a:lnTo>
                  <a:lnTo>
                    <a:pt x="704367" y="1321676"/>
                  </a:lnTo>
                  <a:lnTo>
                    <a:pt x="699630" y="1264500"/>
                  </a:lnTo>
                  <a:lnTo>
                    <a:pt x="660400" y="1371942"/>
                  </a:lnTo>
                  <a:lnTo>
                    <a:pt x="769975" y="1338846"/>
                  </a:lnTo>
                  <a:lnTo>
                    <a:pt x="713105" y="1330909"/>
                  </a:lnTo>
                  <a:lnTo>
                    <a:pt x="722871" y="1321676"/>
                  </a:lnTo>
                  <a:lnTo>
                    <a:pt x="1121956" y="94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21250" y="3016250"/>
              <a:ext cx="25400" cy="2171700"/>
            </a:xfrm>
            <a:custGeom>
              <a:avLst/>
              <a:gdLst/>
              <a:ahLst/>
              <a:cxnLst/>
              <a:rect l="l" t="t" r="r" b="b"/>
              <a:pathLst>
                <a:path w="25400" h="2171700">
                  <a:moveTo>
                    <a:pt x="0" y="2171699"/>
                  </a:moveTo>
                  <a:lnTo>
                    <a:pt x="25399" y="0"/>
                  </a:lnTo>
                </a:path>
              </a:pathLst>
            </a:custGeom>
            <a:ln w="12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07149" y="3016250"/>
              <a:ext cx="1054100" cy="0"/>
            </a:xfrm>
            <a:custGeom>
              <a:avLst/>
              <a:gdLst/>
              <a:ahLst/>
              <a:cxnLst/>
              <a:rect l="l" t="t" r="r" b="b"/>
              <a:pathLst>
                <a:path w="1054100">
                  <a:moveTo>
                    <a:pt x="0" y="0"/>
                  </a:moveTo>
                  <a:lnTo>
                    <a:pt x="1054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48549" y="3016250"/>
              <a:ext cx="12700" cy="3022600"/>
            </a:xfrm>
            <a:custGeom>
              <a:avLst/>
              <a:gdLst/>
              <a:ahLst/>
              <a:cxnLst/>
              <a:rect l="l" t="t" r="r" b="b"/>
              <a:pathLst>
                <a:path w="12700" h="3022600">
                  <a:moveTo>
                    <a:pt x="12699" y="0"/>
                  </a:moveTo>
                  <a:lnTo>
                    <a:pt x="0" y="3022599"/>
                  </a:lnTo>
                </a:path>
              </a:pathLst>
            </a:custGeom>
            <a:ln w="12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94449" y="5987698"/>
              <a:ext cx="1054100" cy="102870"/>
            </a:xfrm>
            <a:custGeom>
              <a:avLst/>
              <a:gdLst/>
              <a:ahLst/>
              <a:cxnLst/>
              <a:rect l="l" t="t" r="r" b="b"/>
              <a:pathLst>
                <a:path w="1054100" h="102870">
                  <a:moveTo>
                    <a:pt x="102393" y="0"/>
                  </a:moveTo>
                  <a:lnTo>
                    <a:pt x="0" y="51153"/>
                  </a:lnTo>
                  <a:lnTo>
                    <a:pt x="102393" y="102304"/>
                  </a:lnTo>
                  <a:lnTo>
                    <a:pt x="66521" y="57503"/>
                  </a:lnTo>
                  <a:lnTo>
                    <a:pt x="1054100" y="57501"/>
                  </a:lnTo>
                  <a:lnTo>
                    <a:pt x="1054100" y="51153"/>
                  </a:lnTo>
                  <a:lnTo>
                    <a:pt x="61436" y="51153"/>
                  </a:lnTo>
                  <a:lnTo>
                    <a:pt x="1054100" y="51151"/>
                  </a:lnTo>
                  <a:lnTo>
                    <a:pt x="1054100" y="44803"/>
                  </a:lnTo>
                  <a:lnTo>
                    <a:pt x="66521" y="44803"/>
                  </a:lnTo>
                  <a:lnTo>
                    <a:pt x="102393" y="0"/>
                  </a:lnTo>
                  <a:close/>
                </a:path>
                <a:path w="1054100" h="102870">
                  <a:moveTo>
                    <a:pt x="1054100" y="51151"/>
                  </a:moveTo>
                  <a:lnTo>
                    <a:pt x="61436" y="51151"/>
                  </a:lnTo>
                  <a:lnTo>
                    <a:pt x="1054100" y="51153"/>
                  </a:lnTo>
                  <a:close/>
                </a:path>
                <a:path w="1054100" h="102870">
                  <a:moveTo>
                    <a:pt x="1054100" y="44801"/>
                  </a:moveTo>
                  <a:lnTo>
                    <a:pt x="66521" y="44803"/>
                  </a:lnTo>
                  <a:lnTo>
                    <a:pt x="1054100" y="448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599" y="2908299"/>
              <a:ext cx="4699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599" y="2908299"/>
              <a:ext cx="146068" cy="9781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937249" y="2901949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215900" y="0"/>
                  </a:moveTo>
                  <a:lnTo>
                    <a:pt x="158505" y="4763"/>
                  </a:lnTo>
                  <a:lnTo>
                    <a:pt x="106931" y="18206"/>
                  </a:lnTo>
                  <a:lnTo>
                    <a:pt x="63235" y="39057"/>
                  </a:lnTo>
                  <a:lnTo>
                    <a:pt x="29476" y="66045"/>
                  </a:lnTo>
                  <a:lnTo>
                    <a:pt x="7712" y="97900"/>
                  </a:lnTo>
                  <a:lnTo>
                    <a:pt x="0" y="133350"/>
                  </a:lnTo>
                  <a:lnTo>
                    <a:pt x="7712" y="168799"/>
                  </a:lnTo>
                  <a:lnTo>
                    <a:pt x="29476" y="200654"/>
                  </a:lnTo>
                  <a:lnTo>
                    <a:pt x="63235" y="227642"/>
                  </a:lnTo>
                  <a:lnTo>
                    <a:pt x="106931" y="248493"/>
                  </a:lnTo>
                  <a:lnTo>
                    <a:pt x="158505" y="261936"/>
                  </a:lnTo>
                  <a:lnTo>
                    <a:pt x="215900" y="266700"/>
                  </a:lnTo>
                  <a:lnTo>
                    <a:pt x="273294" y="261936"/>
                  </a:lnTo>
                  <a:lnTo>
                    <a:pt x="324868" y="248493"/>
                  </a:lnTo>
                  <a:lnTo>
                    <a:pt x="368564" y="227642"/>
                  </a:lnTo>
                  <a:lnTo>
                    <a:pt x="402323" y="200654"/>
                  </a:lnTo>
                  <a:lnTo>
                    <a:pt x="424087" y="168799"/>
                  </a:lnTo>
                  <a:lnTo>
                    <a:pt x="431800" y="133350"/>
                  </a:lnTo>
                  <a:lnTo>
                    <a:pt x="424087" y="97900"/>
                  </a:lnTo>
                  <a:lnTo>
                    <a:pt x="402323" y="66045"/>
                  </a:lnTo>
                  <a:lnTo>
                    <a:pt x="368564" y="39057"/>
                  </a:lnTo>
                  <a:lnTo>
                    <a:pt x="324868" y="18206"/>
                  </a:lnTo>
                  <a:lnTo>
                    <a:pt x="273294" y="4763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37250" y="2901950"/>
              <a:ext cx="431800" cy="266700"/>
            </a:xfrm>
            <a:custGeom>
              <a:avLst/>
              <a:gdLst/>
              <a:ahLst/>
              <a:cxnLst/>
              <a:rect l="l" t="t" r="r" b="b"/>
              <a:pathLst>
                <a:path w="431800" h="266700">
                  <a:moveTo>
                    <a:pt x="0" y="133349"/>
                  </a:moveTo>
                  <a:lnTo>
                    <a:pt x="29476" y="66045"/>
                  </a:lnTo>
                  <a:lnTo>
                    <a:pt x="63235" y="39057"/>
                  </a:lnTo>
                  <a:lnTo>
                    <a:pt x="106930" y="18206"/>
                  </a:lnTo>
                  <a:lnTo>
                    <a:pt x="158504" y="4763"/>
                  </a:lnTo>
                  <a:lnTo>
                    <a:pt x="215899" y="0"/>
                  </a:lnTo>
                  <a:lnTo>
                    <a:pt x="273294" y="4763"/>
                  </a:lnTo>
                  <a:lnTo>
                    <a:pt x="324868" y="18206"/>
                  </a:lnTo>
                  <a:lnTo>
                    <a:pt x="368563" y="39057"/>
                  </a:lnTo>
                  <a:lnTo>
                    <a:pt x="402322" y="66045"/>
                  </a:lnTo>
                  <a:lnTo>
                    <a:pt x="424087" y="97900"/>
                  </a:lnTo>
                  <a:lnTo>
                    <a:pt x="431799" y="133349"/>
                  </a:lnTo>
                  <a:lnTo>
                    <a:pt x="424087" y="168799"/>
                  </a:lnTo>
                  <a:lnTo>
                    <a:pt x="402322" y="200654"/>
                  </a:lnTo>
                  <a:lnTo>
                    <a:pt x="368563" y="227642"/>
                  </a:lnTo>
                  <a:lnTo>
                    <a:pt x="324868" y="248493"/>
                  </a:lnTo>
                  <a:lnTo>
                    <a:pt x="273294" y="261936"/>
                  </a:lnTo>
                  <a:lnTo>
                    <a:pt x="215899" y="266699"/>
                  </a:lnTo>
                  <a:lnTo>
                    <a:pt x="158504" y="261936"/>
                  </a:lnTo>
                  <a:lnTo>
                    <a:pt x="106930" y="248493"/>
                  </a:lnTo>
                  <a:lnTo>
                    <a:pt x="63235" y="227642"/>
                  </a:lnTo>
                  <a:lnTo>
                    <a:pt x="29476" y="200654"/>
                  </a:lnTo>
                  <a:lnTo>
                    <a:pt x="7712" y="168799"/>
                  </a:lnTo>
                  <a:lnTo>
                    <a:pt x="0" y="1333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153149" y="3181350"/>
              <a:ext cx="0" cy="444500"/>
            </a:xfrm>
            <a:custGeom>
              <a:avLst/>
              <a:gdLst/>
              <a:ahLst/>
              <a:cxnLst/>
              <a:rect l="l" t="t" r="r" b="b"/>
              <a:pathLst>
                <a:path h="444500">
                  <a:moveTo>
                    <a:pt x="0" y="0"/>
                  </a:moveTo>
                  <a:lnTo>
                    <a:pt x="0" y="44450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01953" y="3181350"/>
              <a:ext cx="102870" cy="444500"/>
            </a:xfrm>
            <a:custGeom>
              <a:avLst/>
              <a:gdLst/>
              <a:ahLst/>
              <a:cxnLst/>
              <a:rect l="l" t="t" r="r" b="b"/>
              <a:pathLst>
                <a:path w="102870" h="444500">
                  <a:moveTo>
                    <a:pt x="57552" y="0"/>
                  </a:moveTo>
                  <a:lnTo>
                    <a:pt x="44841" y="0"/>
                  </a:lnTo>
                  <a:lnTo>
                    <a:pt x="44841" y="378037"/>
                  </a:lnTo>
                  <a:lnTo>
                    <a:pt x="0" y="342195"/>
                  </a:lnTo>
                  <a:lnTo>
                    <a:pt x="51196" y="444500"/>
                  </a:lnTo>
                  <a:lnTo>
                    <a:pt x="102393" y="342195"/>
                  </a:lnTo>
                  <a:lnTo>
                    <a:pt x="57552" y="378037"/>
                  </a:lnTo>
                  <a:lnTo>
                    <a:pt x="57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311650" y="3778908"/>
            <a:ext cx="5530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Times New Roman"/>
                <a:cs typeface="Times New Roman"/>
              </a:rPr>
              <a:t>x&lt;=y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5" name="object 5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9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73819" y="3778908"/>
            <a:ext cx="5276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&gt;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68152" y="3778908"/>
            <a:ext cx="5276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89511" y="3226934"/>
            <a:ext cx="4889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Times New Roman"/>
                <a:cs typeface="Times New Roman"/>
              </a:rPr>
              <a:t>x!=y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62298" y="2787650"/>
            <a:ext cx="1524000" cy="2051050"/>
            <a:chOff x="3162298" y="2787650"/>
            <a:chExt cx="1524000" cy="2051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99" y="3162300"/>
              <a:ext cx="482600" cy="330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699" y="3162300"/>
              <a:ext cx="152731" cy="1086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89349" y="31559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89350" y="31559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3"/>
                  </a:lnTo>
                  <a:lnTo>
                    <a:pt x="30343" y="72335"/>
                  </a:lnTo>
                  <a:lnTo>
                    <a:pt x="65095" y="42776"/>
                  </a:lnTo>
                  <a:lnTo>
                    <a:pt x="110075" y="19940"/>
                  </a:lnTo>
                  <a:lnTo>
                    <a:pt x="163166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3" y="42776"/>
                  </a:lnTo>
                  <a:lnTo>
                    <a:pt x="414155" y="72335"/>
                  </a:lnTo>
                  <a:lnTo>
                    <a:pt x="436560" y="107223"/>
                  </a:lnTo>
                  <a:lnTo>
                    <a:pt x="444499" y="146049"/>
                  </a:lnTo>
                  <a:lnTo>
                    <a:pt x="436560" y="184875"/>
                  </a:lnTo>
                  <a:lnTo>
                    <a:pt x="414155" y="219763"/>
                  </a:lnTo>
                  <a:lnTo>
                    <a:pt x="379403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099"/>
                  </a:lnTo>
                  <a:lnTo>
                    <a:pt x="163166" y="286882"/>
                  </a:lnTo>
                  <a:lnTo>
                    <a:pt x="110075" y="272159"/>
                  </a:lnTo>
                  <a:lnTo>
                    <a:pt x="65095" y="249322"/>
                  </a:lnTo>
                  <a:lnTo>
                    <a:pt x="30343" y="219763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4999" y="3873500"/>
              <a:ext cx="495300" cy="330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4999" y="3873500"/>
              <a:ext cx="157276" cy="1095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68649" y="38671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68650" y="38671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199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099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3699" y="3873500"/>
              <a:ext cx="482600" cy="330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3699" y="3873500"/>
              <a:ext cx="152731" cy="1086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97349" y="3867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97350" y="3867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6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50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6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499" y="146049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50" y="292099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95699" y="4508500"/>
              <a:ext cx="482600" cy="330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5699" y="4508500"/>
              <a:ext cx="152731" cy="1086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89349" y="4502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3"/>
                  </a:lnTo>
                  <a:lnTo>
                    <a:pt x="65095" y="249322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2"/>
                  </a:lnTo>
                  <a:lnTo>
                    <a:pt x="414156" y="219763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89350" y="4502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5" y="19940"/>
                  </a:lnTo>
                  <a:lnTo>
                    <a:pt x="163166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3" y="42777"/>
                  </a:lnTo>
                  <a:lnTo>
                    <a:pt x="414155" y="72335"/>
                  </a:lnTo>
                  <a:lnTo>
                    <a:pt x="436560" y="107224"/>
                  </a:lnTo>
                  <a:lnTo>
                    <a:pt x="444499" y="146049"/>
                  </a:lnTo>
                  <a:lnTo>
                    <a:pt x="436560" y="184875"/>
                  </a:lnTo>
                  <a:lnTo>
                    <a:pt x="414155" y="219764"/>
                  </a:lnTo>
                  <a:lnTo>
                    <a:pt x="379403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100"/>
                  </a:lnTo>
                  <a:lnTo>
                    <a:pt x="163166" y="286882"/>
                  </a:lnTo>
                  <a:lnTo>
                    <a:pt x="110075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92614" y="2787649"/>
              <a:ext cx="1033144" cy="1745614"/>
            </a:xfrm>
            <a:custGeom>
              <a:avLst/>
              <a:gdLst/>
              <a:ahLst/>
              <a:cxnLst/>
              <a:rect l="l" t="t" r="r" b="b"/>
              <a:pathLst>
                <a:path w="1033145" h="1745614">
                  <a:moveTo>
                    <a:pt x="355333" y="1743748"/>
                  </a:moveTo>
                  <a:lnTo>
                    <a:pt x="322414" y="1634197"/>
                  </a:lnTo>
                  <a:lnTo>
                    <a:pt x="314350" y="1691005"/>
                  </a:lnTo>
                  <a:lnTo>
                    <a:pt x="9258" y="1367256"/>
                  </a:lnTo>
                  <a:lnTo>
                    <a:pt x="0" y="1375956"/>
                  </a:lnTo>
                  <a:lnTo>
                    <a:pt x="305104" y="1699704"/>
                  </a:lnTo>
                  <a:lnTo>
                    <a:pt x="247865" y="1704327"/>
                  </a:lnTo>
                  <a:lnTo>
                    <a:pt x="355333" y="1743748"/>
                  </a:lnTo>
                  <a:close/>
                </a:path>
                <a:path w="1033145" h="1745614">
                  <a:moveTo>
                    <a:pt x="360337" y="626211"/>
                  </a:moveTo>
                  <a:lnTo>
                    <a:pt x="350316" y="618401"/>
                  </a:lnTo>
                  <a:lnTo>
                    <a:pt x="40551" y="1014869"/>
                  </a:lnTo>
                  <a:lnTo>
                    <a:pt x="27279" y="959053"/>
                  </a:lnTo>
                  <a:lnTo>
                    <a:pt x="4635" y="1071168"/>
                  </a:lnTo>
                  <a:lnTo>
                    <a:pt x="107988" y="1022007"/>
                  </a:lnTo>
                  <a:lnTo>
                    <a:pt x="50571" y="1022692"/>
                  </a:lnTo>
                  <a:lnTo>
                    <a:pt x="360337" y="626211"/>
                  </a:lnTo>
                  <a:close/>
                </a:path>
                <a:path w="1033145" h="1745614">
                  <a:moveTo>
                    <a:pt x="563829" y="258330"/>
                  </a:moveTo>
                  <a:lnTo>
                    <a:pt x="518985" y="294170"/>
                  </a:lnTo>
                  <a:lnTo>
                    <a:pt x="518985" y="0"/>
                  </a:lnTo>
                  <a:lnTo>
                    <a:pt x="506272" y="0"/>
                  </a:lnTo>
                  <a:lnTo>
                    <a:pt x="506272" y="294170"/>
                  </a:lnTo>
                  <a:lnTo>
                    <a:pt x="461429" y="258330"/>
                  </a:lnTo>
                  <a:lnTo>
                    <a:pt x="512635" y="360629"/>
                  </a:lnTo>
                  <a:lnTo>
                    <a:pt x="563829" y="258330"/>
                  </a:lnTo>
                  <a:close/>
                </a:path>
                <a:path w="1033145" h="1745614">
                  <a:moveTo>
                    <a:pt x="1029703" y="1071168"/>
                  </a:moveTo>
                  <a:lnTo>
                    <a:pt x="1006856" y="959091"/>
                  </a:lnTo>
                  <a:lnTo>
                    <a:pt x="993686" y="1014933"/>
                  </a:lnTo>
                  <a:lnTo>
                    <a:pt x="682739" y="618388"/>
                  </a:lnTo>
                  <a:lnTo>
                    <a:pt x="672731" y="626224"/>
                  </a:lnTo>
                  <a:lnTo>
                    <a:pt x="983678" y="1022769"/>
                  </a:lnTo>
                  <a:lnTo>
                    <a:pt x="926261" y="1022184"/>
                  </a:lnTo>
                  <a:lnTo>
                    <a:pt x="1029703" y="1071168"/>
                  </a:lnTo>
                  <a:close/>
                </a:path>
                <a:path w="1033145" h="1745614">
                  <a:moveTo>
                    <a:pt x="1033068" y="1375956"/>
                  </a:moveTo>
                  <a:lnTo>
                    <a:pt x="1023797" y="1367256"/>
                  </a:lnTo>
                  <a:lnTo>
                    <a:pt x="718616" y="1692211"/>
                  </a:lnTo>
                  <a:lnTo>
                    <a:pt x="710463" y="1635417"/>
                  </a:lnTo>
                  <a:lnTo>
                    <a:pt x="677735" y="1745018"/>
                  </a:lnTo>
                  <a:lnTo>
                    <a:pt x="785126" y="1705419"/>
                  </a:lnTo>
                  <a:lnTo>
                    <a:pt x="727887" y="1700898"/>
                  </a:lnTo>
                  <a:lnTo>
                    <a:pt x="736041" y="1692211"/>
                  </a:lnTo>
                  <a:lnTo>
                    <a:pt x="1033068" y="1375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274014" y="5038738"/>
            <a:ext cx="1231900" cy="51054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75"/>
              </a:spcBef>
            </a:pPr>
            <a:r>
              <a:rPr sz="1600" spc="-35" dirty="0">
                <a:latin typeface="Times New Roman"/>
                <a:cs typeface="Times New Roman"/>
              </a:rPr>
              <a:t>Si-</a:t>
            </a:r>
            <a:r>
              <a:rPr sz="1600" spc="-30" dirty="0">
                <a:latin typeface="Times New Roman"/>
                <a:cs typeface="Times New Roman"/>
              </a:rPr>
              <a:t>Alors-</a:t>
            </a:r>
            <a:r>
              <a:rPr sz="1600" spc="-10" dirty="0">
                <a:latin typeface="Times New Roman"/>
                <a:cs typeface="Times New Roman"/>
              </a:rPr>
              <a:t>Sinon </a:t>
            </a:r>
            <a:r>
              <a:rPr sz="1600" spc="-50" dirty="0">
                <a:latin typeface="Times New Roman"/>
                <a:cs typeface="Times New Roman"/>
              </a:rPr>
              <a:t>(If-</a:t>
            </a:r>
            <a:r>
              <a:rPr sz="1600" spc="-20" dirty="0">
                <a:latin typeface="Times New Roman"/>
                <a:cs typeface="Times New Roman"/>
              </a:rPr>
              <a:t>Then-Else)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84310" y="2863850"/>
            <a:ext cx="836294" cy="1974850"/>
            <a:chOff x="5284310" y="2863850"/>
            <a:chExt cx="836294" cy="197485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73700" y="3162300"/>
              <a:ext cx="495300" cy="3175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73700" y="3162300"/>
              <a:ext cx="156206" cy="10447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467350" y="3155950"/>
              <a:ext cx="457200" cy="279400"/>
            </a:xfrm>
            <a:custGeom>
              <a:avLst/>
              <a:gdLst/>
              <a:ahLst/>
              <a:cxnLst/>
              <a:rect l="l" t="t" r="r" b="b"/>
              <a:pathLst>
                <a:path w="457200" h="279400">
                  <a:moveTo>
                    <a:pt x="228600" y="0"/>
                  </a:moveTo>
                  <a:lnTo>
                    <a:pt x="167829" y="4990"/>
                  </a:lnTo>
                  <a:lnTo>
                    <a:pt x="113221" y="19073"/>
                  </a:lnTo>
                  <a:lnTo>
                    <a:pt x="66955" y="40917"/>
                  </a:lnTo>
                  <a:lnTo>
                    <a:pt x="31210" y="69190"/>
                  </a:lnTo>
                  <a:lnTo>
                    <a:pt x="8165" y="102562"/>
                  </a:lnTo>
                  <a:lnTo>
                    <a:pt x="0" y="139700"/>
                  </a:lnTo>
                  <a:lnTo>
                    <a:pt x="8165" y="176837"/>
                  </a:lnTo>
                  <a:lnTo>
                    <a:pt x="31210" y="210209"/>
                  </a:lnTo>
                  <a:lnTo>
                    <a:pt x="66955" y="238482"/>
                  </a:lnTo>
                  <a:lnTo>
                    <a:pt x="113221" y="260326"/>
                  </a:lnTo>
                  <a:lnTo>
                    <a:pt x="167829" y="274409"/>
                  </a:lnTo>
                  <a:lnTo>
                    <a:pt x="228600" y="279400"/>
                  </a:lnTo>
                  <a:lnTo>
                    <a:pt x="289370" y="274409"/>
                  </a:lnTo>
                  <a:lnTo>
                    <a:pt x="343978" y="260326"/>
                  </a:lnTo>
                  <a:lnTo>
                    <a:pt x="390244" y="238482"/>
                  </a:lnTo>
                  <a:lnTo>
                    <a:pt x="425989" y="210209"/>
                  </a:lnTo>
                  <a:lnTo>
                    <a:pt x="449034" y="176837"/>
                  </a:lnTo>
                  <a:lnTo>
                    <a:pt x="457200" y="139700"/>
                  </a:lnTo>
                  <a:lnTo>
                    <a:pt x="449034" y="102562"/>
                  </a:lnTo>
                  <a:lnTo>
                    <a:pt x="425989" y="69190"/>
                  </a:lnTo>
                  <a:lnTo>
                    <a:pt x="390244" y="40917"/>
                  </a:lnTo>
                  <a:lnTo>
                    <a:pt x="343978" y="19073"/>
                  </a:lnTo>
                  <a:lnTo>
                    <a:pt x="289370" y="499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67350" y="3155950"/>
              <a:ext cx="457200" cy="279400"/>
            </a:xfrm>
            <a:custGeom>
              <a:avLst/>
              <a:gdLst/>
              <a:ahLst/>
              <a:cxnLst/>
              <a:rect l="l" t="t" r="r" b="b"/>
              <a:pathLst>
                <a:path w="457200" h="279400">
                  <a:moveTo>
                    <a:pt x="0" y="139700"/>
                  </a:moveTo>
                  <a:lnTo>
                    <a:pt x="31210" y="69190"/>
                  </a:lnTo>
                  <a:lnTo>
                    <a:pt x="66955" y="40917"/>
                  </a:lnTo>
                  <a:lnTo>
                    <a:pt x="113221" y="19073"/>
                  </a:lnTo>
                  <a:lnTo>
                    <a:pt x="167829" y="4990"/>
                  </a:lnTo>
                  <a:lnTo>
                    <a:pt x="228599" y="0"/>
                  </a:lnTo>
                  <a:lnTo>
                    <a:pt x="289370" y="4990"/>
                  </a:lnTo>
                  <a:lnTo>
                    <a:pt x="343978" y="19073"/>
                  </a:lnTo>
                  <a:lnTo>
                    <a:pt x="390244" y="40917"/>
                  </a:lnTo>
                  <a:lnTo>
                    <a:pt x="425989" y="69190"/>
                  </a:lnTo>
                  <a:lnTo>
                    <a:pt x="449034" y="102562"/>
                  </a:lnTo>
                  <a:lnTo>
                    <a:pt x="457200" y="139700"/>
                  </a:lnTo>
                  <a:lnTo>
                    <a:pt x="449034" y="176837"/>
                  </a:lnTo>
                  <a:lnTo>
                    <a:pt x="425989" y="210208"/>
                  </a:lnTo>
                  <a:lnTo>
                    <a:pt x="390244" y="238482"/>
                  </a:lnTo>
                  <a:lnTo>
                    <a:pt x="343978" y="260326"/>
                  </a:lnTo>
                  <a:lnTo>
                    <a:pt x="289370" y="274409"/>
                  </a:lnTo>
                  <a:lnTo>
                    <a:pt x="228599" y="279399"/>
                  </a:lnTo>
                  <a:lnTo>
                    <a:pt x="167829" y="274409"/>
                  </a:lnTo>
                  <a:lnTo>
                    <a:pt x="113221" y="260326"/>
                  </a:lnTo>
                  <a:lnTo>
                    <a:pt x="66955" y="238482"/>
                  </a:lnTo>
                  <a:lnTo>
                    <a:pt x="31210" y="210208"/>
                  </a:lnTo>
                  <a:lnTo>
                    <a:pt x="8165" y="176837"/>
                  </a:lnTo>
                  <a:lnTo>
                    <a:pt x="0" y="139700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73700" y="4508500"/>
              <a:ext cx="495300" cy="330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3700" y="4508500"/>
              <a:ext cx="157276" cy="10950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467350" y="45021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3"/>
                  </a:lnTo>
                  <a:lnTo>
                    <a:pt x="66955" y="249322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2"/>
                  </a:lnTo>
                  <a:lnTo>
                    <a:pt x="425989" y="219763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67350" y="45021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7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7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100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86400" y="3898900"/>
              <a:ext cx="482600" cy="317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86400" y="3898900"/>
              <a:ext cx="151690" cy="1036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480050" y="3892550"/>
              <a:ext cx="444500" cy="279400"/>
            </a:xfrm>
            <a:custGeom>
              <a:avLst/>
              <a:gdLst/>
              <a:ahLst/>
              <a:cxnLst/>
              <a:rect l="l" t="t" r="r" b="b"/>
              <a:pathLst>
                <a:path w="444500" h="279400">
                  <a:moveTo>
                    <a:pt x="222250" y="0"/>
                  </a:moveTo>
                  <a:lnTo>
                    <a:pt x="163167" y="4990"/>
                  </a:lnTo>
                  <a:lnTo>
                    <a:pt x="110076" y="19073"/>
                  </a:lnTo>
                  <a:lnTo>
                    <a:pt x="65095" y="40917"/>
                  </a:lnTo>
                  <a:lnTo>
                    <a:pt x="30343" y="69190"/>
                  </a:lnTo>
                  <a:lnTo>
                    <a:pt x="7938" y="102562"/>
                  </a:lnTo>
                  <a:lnTo>
                    <a:pt x="0" y="139700"/>
                  </a:lnTo>
                  <a:lnTo>
                    <a:pt x="7938" y="176837"/>
                  </a:lnTo>
                  <a:lnTo>
                    <a:pt x="30343" y="210209"/>
                  </a:lnTo>
                  <a:lnTo>
                    <a:pt x="65095" y="238482"/>
                  </a:lnTo>
                  <a:lnTo>
                    <a:pt x="110076" y="260326"/>
                  </a:lnTo>
                  <a:lnTo>
                    <a:pt x="163167" y="274409"/>
                  </a:lnTo>
                  <a:lnTo>
                    <a:pt x="222250" y="279400"/>
                  </a:lnTo>
                  <a:lnTo>
                    <a:pt x="281332" y="274409"/>
                  </a:lnTo>
                  <a:lnTo>
                    <a:pt x="334423" y="260326"/>
                  </a:lnTo>
                  <a:lnTo>
                    <a:pt x="379404" y="238482"/>
                  </a:lnTo>
                  <a:lnTo>
                    <a:pt x="414156" y="210209"/>
                  </a:lnTo>
                  <a:lnTo>
                    <a:pt x="436561" y="176837"/>
                  </a:lnTo>
                  <a:lnTo>
                    <a:pt x="444500" y="139700"/>
                  </a:lnTo>
                  <a:lnTo>
                    <a:pt x="436561" y="102562"/>
                  </a:lnTo>
                  <a:lnTo>
                    <a:pt x="414156" y="69190"/>
                  </a:lnTo>
                  <a:lnTo>
                    <a:pt x="379404" y="40917"/>
                  </a:lnTo>
                  <a:lnTo>
                    <a:pt x="334423" y="19073"/>
                  </a:lnTo>
                  <a:lnTo>
                    <a:pt x="281332" y="4990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80049" y="3892550"/>
              <a:ext cx="444500" cy="279400"/>
            </a:xfrm>
            <a:custGeom>
              <a:avLst/>
              <a:gdLst/>
              <a:ahLst/>
              <a:cxnLst/>
              <a:rect l="l" t="t" r="r" b="b"/>
              <a:pathLst>
                <a:path w="444500" h="279400">
                  <a:moveTo>
                    <a:pt x="0" y="139699"/>
                  </a:moveTo>
                  <a:lnTo>
                    <a:pt x="30343" y="69190"/>
                  </a:lnTo>
                  <a:lnTo>
                    <a:pt x="65095" y="40917"/>
                  </a:lnTo>
                  <a:lnTo>
                    <a:pt x="110076" y="19073"/>
                  </a:lnTo>
                  <a:lnTo>
                    <a:pt x="163167" y="4990"/>
                  </a:lnTo>
                  <a:lnTo>
                    <a:pt x="222250" y="0"/>
                  </a:lnTo>
                  <a:lnTo>
                    <a:pt x="281332" y="4990"/>
                  </a:lnTo>
                  <a:lnTo>
                    <a:pt x="334423" y="19073"/>
                  </a:lnTo>
                  <a:lnTo>
                    <a:pt x="379404" y="40917"/>
                  </a:lnTo>
                  <a:lnTo>
                    <a:pt x="414156" y="69190"/>
                  </a:lnTo>
                  <a:lnTo>
                    <a:pt x="436561" y="102562"/>
                  </a:lnTo>
                  <a:lnTo>
                    <a:pt x="444500" y="139699"/>
                  </a:lnTo>
                  <a:lnTo>
                    <a:pt x="436561" y="176837"/>
                  </a:lnTo>
                  <a:lnTo>
                    <a:pt x="414156" y="210208"/>
                  </a:lnTo>
                  <a:lnTo>
                    <a:pt x="379404" y="238482"/>
                  </a:lnTo>
                  <a:lnTo>
                    <a:pt x="334423" y="260326"/>
                  </a:lnTo>
                  <a:lnTo>
                    <a:pt x="281332" y="274409"/>
                  </a:lnTo>
                  <a:lnTo>
                    <a:pt x="222250" y="279399"/>
                  </a:lnTo>
                  <a:lnTo>
                    <a:pt x="163167" y="274409"/>
                  </a:lnTo>
                  <a:lnTo>
                    <a:pt x="110076" y="260326"/>
                  </a:lnTo>
                  <a:lnTo>
                    <a:pt x="65095" y="238482"/>
                  </a:lnTo>
                  <a:lnTo>
                    <a:pt x="30343" y="210208"/>
                  </a:lnTo>
                  <a:lnTo>
                    <a:pt x="7938" y="176837"/>
                  </a:lnTo>
                  <a:lnTo>
                    <a:pt x="0" y="13969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84305" y="2863849"/>
              <a:ext cx="836294" cy="1833880"/>
            </a:xfrm>
            <a:custGeom>
              <a:avLst/>
              <a:gdLst/>
              <a:ahLst/>
              <a:cxnLst/>
              <a:rect l="l" t="t" r="r" b="b"/>
              <a:pathLst>
                <a:path w="836295" h="1833879">
                  <a:moveTo>
                    <a:pt x="184315" y="1162050"/>
                  </a:moveTo>
                  <a:lnTo>
                    <a:pt x="12712" y="1162050"/>
                  </a:lnTo>
                  <a:lnTo>
                    <a:pt x="12712" y="438150"/>
                  </a:lnTo>
                  <a:lnTo>
                    <a:pt x="116522" y="438150"/>
                  </a:lnTo>
                  <a:lnTo>
                    <a:pt x="80645" y="482955"/>
                  </a:lnTo>
                  <a:lnTo>
                    <a:pt x="183045" y="431800"/>
                  </a:lnTo>
                  <a:lnTo>
                    <a:pt x="80645" y="380657"/>
                  </a:lnTo>
                  <a:lnTo>
                    <a:pt x="116522" y="425450"/>
                  </a:lnTo>
                  <a:lnTo>
                    <a:pt x="0" y="425450"/>
                  </a:lnTo>
                  <a:lnTo>
                    <a:pt x="0" y="1174750"/>
                  </a:lnTo>
                  <a:lnTo>
                    <a:pt x="184315" y="1174750"/>
                  </a:lnTo>
                  <a:lnTo>
                    <a:pt x="184315" y="1162050"/>
                  </a:lnTo>
                  <a:close/>
                </a:path>
                <a:path w="836295" h="1833879">
                  <a:moveTo>
                    <a:pt x="462838" y="911580"/>
                  </a:moveTo>
                  <a:lnTo>
                    <a:pt x="417995" y="947420"/>
                  </a:lnTo>
                  <a:lnTo>
                    <a:pt x="417995" y="584200"/>
                  </a:lnTo>
                  <a:lnTo>
                    <a:pt x="405282" y="584200"/>
                  </a:lnTo>
                  <a:lnTo>
                    <a:pt x="405282" y="947420"/>
                  </a:lnTo>
                  <a:lnTo>
                    <a:pt x="360438" y="911580"/>
                  </a:lnTo>
                  <a:lnTo>
                    <a:pt x="411645" y="1013891"/>
                  </a:lnTo>
                  <a:lnTo>
                    <a:pt x="462838" y="911580"/>
                  </a:lnTo>
                  <a:close/>
                </a:path>
                <a:path w="836295" h="1833879">
                  <a:moveTo>
                    <a:pt x="462838" y="173926"/>
                  </a:moveTo>
                  <a:lnTo>
                    <a:pt x="417995" y="209765"/>
                  </a:lnTo>
                  <a:lnTo>
                    <a:pt x="417995" y="0"/>
                  </a:lnTo>
                  <a:lnTo>
                    <a:pt x="405282" y="0"/>
                  </a:lnTo>
                  <a:lnTo>
                    <a:pt x="405282" y="209765"/>
                  </a:lnTo>
                  <a:lnTo>
                    <a:pt x="360438" y="173926"/>
                  </a:lnTo>
                  <a:lnTo>
                    <a:pt x="411645" y="276225"/>
                  </a:lnTo>
                  <a:lnTo>
                    <a:pt x="462838" y="173926"/>
                  </a:lnTo>
                  <a:close/>
                </a:path>
                <a:path w="836295" h="1833879">
                  <a:moveTo>
                    <a:pt x="835977" y="425450"/>
                  </a:moveTo>
                  <a:lnTo>
                    <a:pt x="652945" y="425450"/>
                  </a:lnTo>
                  <a:lnTo>
                    <a:pt x="652945" y="438150"/>
                  </a:lnTo>
                  <a:lnTo>
                    <a:pt x="823264" y="438150"/>
                  </a:lnTo>
                  <a:lnTo>
                    <a:pt x="823264" y="1775891"/>
                  </a:lnTo>
                  <a:lnTo>
                    <a:pt x="720737" y="1775891"/>
                  </a:lnTo>
                  <a:lnTo>
                    <a:pt x="756615" y="1731086"/>
                  </a:lnTo>
                  <a:lnTo>
                    <a:pt x="654215" y="1782241"/>
                  </a:lnTo>
                  <a:lnTo>
                    <a:pt x="756615" y="1833397"/>
                  </a:lnTo>
                  <a:lnTo>
                    <a:pt x="720737" y="1788591"/>
                  </a:lnTo>
                  <a:lnTo>
                    <a:pt x="835977" y="1788591"/>
                  </a:lnTo>
                  <a:lnTo>
                    <a:pt x="835977" y="425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028787" y="5067104"/>
            <a:ext cx="1310005" cy="51054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75"/>
              </a:spcBef>
            </a:pPr>
            <a:r>
              <a:rPr sz="1600" dirty="0">
                <a:latin typeface="Times New Roman"/>
                <a:cs typeface="Times New Roman"/>
              </a:rPr>
              <a:t>Boucle tant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que </a:t>
            </a:r>
            <a:r>
              <a:rPr sz="1600" dirty="0">
                <a:latin typeface="Times New Roman"/>
                <a:cs typeface="Times New Roman"/>
              </a:rPr>
              <a:t>(While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loop)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72666" y="5038738"/>
            <a:ext cx="802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Séquence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955798" y="2863850"/>
            <a:ext cx="495300" cy="1974850"/>
            <a:chOff x="1955798" y="2863850"/>
            <a:chExt cx="495300" cy="1974850"/>
          </a:xfrm>
        </p:grpSpPr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68499" y="3162300"/>
              <a:ext cx="482600" cy="3175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68499" y="3162300"/>
              <a:ext cx="151690" cy="10364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962149" y="3155950"/>
              <a:ext cx="444500" cy="279400"/>
            </a:xfrm>
            <a:custGeom>
              <a:avLst/>
              <a:gdLst/>
              <a:ahLst/>
              <a:cxnLst/>
              <a:rect l="l" t="t" r="r" b="b"/>
              <a:pathLst>
                <a:path w="444500" h="279400">
                  <a:moveTo>
                    <a:pt x="222250" y="0"/>
                  </a:moveTo>
                  <a:lnTo>
                    <a:pt x="163167" y="4990"/>
                  </a:lnTo>
                  <a:lnTo>
                    <a:pt x="110076" y="19073"/>
                  </a:lnTo>
                  <a:lnTo>
                    <a:pt x="65095" y="40917"/>
                  </a:lnTo>
                  <a:lnTo>
                    <a:pt x="30343" y="69190"/>
                  </a:lnTo>
                  <a:lnTo>
                    <a:pt x="7938" y="102562"/>
                  </a:lnTo>
                  <a:lnTo>
                    <a:pt x="0" y="139700"/>
                  </a:lnTo>
                  <a:lnTo>
                    <a:pt x="7938" y="176837"/>
                  </a:lnTo>
                  <a:lnTo>
                    <a:pt x="30343" y="210209"/>
                  </a:lnTo>
                  <a:lnTo>
                    <a:pt x="65095" y="238482"/>
                  </a:lnTo>
                  <a:lnTo>
                    <a:pt x="110076" y="260326"/>
                  </a:lnTo>
                  <a:lnTo>
                    <a:pt x="163167" y="274409"/>
                  </a:lnTo>
                  <a:lnTo>
                    <a:pt x="222250" y="279400"/>
                  </a:lnTo>
                  <a:lnTo>
                    <a:pt x="281332" y="274409"/>
                  </a:lnTo>
                  <a:lnTo>
                    <a:pt x="334423" y="260326"/>
                  </a:lnTo>
                  <a:lnTo>
                    <a:pt x="379404" y="238482"/>
                  </a:lnTo>
                  <a:lnTo>
                    <a:pt x="414156" y="210209"/>
                  </a:lnTo>
                  <a:lnTo>
                    <a:pt x="436561" y="176837"/>
                  </a:lnTo>
                  <a:lnTo>
                    <a:pt x="444500" y="139700"/>
                  </a:lnTo>
                  <a:lnTo>
                    <a:pt x="436561" y="102562"/>
                  </a:lnTo>
                  <a:lnTo>
                    <a:pt x="414156" y="69190"/>
                  </a:lnTo>
                  <a:lnTo>
                    <a:pt x="379404" y="40917"/>
                  </a:lnTo>
                  <a:lnTo>
                    <a:pt x="334423" y="19073"/>
                  </a:lnTo>
                  <a:lnTo>
                    <a:pt x="281332" y="4990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62149" y="3155950"/>
              <a:ext cx="444500" cy="279400"/>
            </a:xfrm>
            <a:custGeom>
              <a:avLst/>
              <a:gdLst/>
              <a:ahLst/>
              <a:cxnLst/>
              <a:rect l="l" t="t" r="r" b="b"/>
              <a:pathLst>
                <a:path w="444500" h="279400">
                  <a:moveTo>
                    <a:pt x="0" y="139700"/>
                  </a:moveTo>
                  <a:lnTo>
                    <a:pt x="30343" y="69190"/>
                  </a:lnTo>
                  <a:lnTo>
                    <a:pt x="65095" y="40917"/>
                  </a:lnTo>
                  <a:lnTo>
                    <a:pt x="110076" y="19073"/>
                  </a:lnTo>
                  <a:lnTo>
                    <a:pt x="163167" y="4990"/>
                  </a:lnTo>
                  <a:lnTo>
                    <a:pt x="222249" y="0"/>
                  </a:lnTo>
                  <a:lnTo>
                    <a:pt x="281332" y="4990"/>
                  </a:lnTo>
                  <a:lnTo>
                    <a:pt x="334423" y="19073"/>
                  </a:lnTo>
                  <a:lnTo>
                    <a:pt x="379404" y="40917"/>
                  </a:lnTo>
                  <a:lnTo>
                    <a:pt x="414156" y="69190"/>
                  </a:lnTo>
                  <a:lnTo>
                    <a:pt x="436561" y="102562"/>
                  </a:lnTo>
                  <a:lnTo>
                    <a:pt x="444500" y="139700"/>
                  </a:lnTo>
                  <a:lnTo>
                    <a:pt x="436561" y="176837"/>
                  </a:lnTo>
                  <a:lnTo>
                    <a:pt x="414156" y="210208"/>
                  </a:lnTo>
                  <a:lnTo>
                    <a:pt x="379404" y="238482"/>
                  </a:lnTo>
                  <a:lnTo>
                    <a:pt x="334423" y="260326"/>
                  </a:lnTo>
                  <a:lnTo>
                    <a:pt x="281332" y="274409"/>
                  </a:lnTo>
                  <a:lnTo>
                    <a:pt x="222249" y="279399"/>
                  </a:lnTo>
                  <a:lnTo>
                    <a:pt x="163167" y="274409"/>
                  </a:lnTo>
                  <a:lnTo>
                    <a:pt x="110076" y="260326"/>
                  </a:lnTo>
                  <a:lnTo>
                    <a:pt x="65095" y="238482"/>
                  </a:lnTo>
                  <a:lnTo>
                    <a:pt x="30343" y="210208"/>
                  </a:lnTo>
                  <a:lnTo>
                    <a:pt x="7938" y="176837"/>
                  </a:lnTo>
                  <a:lnTo>
                    <a:pt x="0" y="13970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68499" y="4508500"/>
              <a:ext cx="482600" cy="330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8499" y="4508500"/>
              <a:ext cx="152731" cy="10864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62149" y="4502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3"/>
                  </a:lnTo>
                  <a:lnTo>
                    <a:pt x="65095" y="249322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2"/>
                  </a:lnTo>
                  <a:lnTo>
                    <a:pt x="414156" y="219763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62149" y="4502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7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500" y="146049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100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968499" y="3835400"/>
              <a:ext cx="482600" cy="330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68499" y="3835400"/>
              <a:ext cx="152731" cy="10864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962149" y="38290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62149" y="38290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6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6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500" y="146049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3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100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3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27199" y="2863849"/>
              <a:ext cx="114935" cy="1627505"/>
            </a:xfrm>
            <a:custGeom>
              <a:avLst/>
              <a:gdLst/>
              <a:ahLst/>
              <a:cxnLst/>
              <a:rect l="l" t="t" r="r" b="b"/>
              <a:pathLst>
                <a:path w="114935" h="1627504">
                  <a:moveTo>
                    <a:pt x="102400" y="1524762"/>
                  </a:moveTo>
                  <a:lnTo>
                    <a:pt x="57429" y="1560449"/>
                  </a:lnTo>
                  <a:lnTo>
                    <a:pt x="58483" y="1257325"/>
                  </a:lnTo>
                  <a:lnTo>
                    <a:pt x="45770" y="1257287"/>
                  </a:lnTo>
                  <a:lnTo>
                    <a:pt x="44716" y="1560398"/>
                  </a:lnTo>
                  <a:lnTo>
                    <a:pt x="0" y="1524406"/>
                  </a:lnTo>
                  <a:lnTo>
                    <a:pt x="50850" y="1626882"/>
                  </a:lnTo>
                  <a:lnTo>
                    <a:pt x="102400" y="1524762"/>
                  </a:lnTo>
                  <a:close/>
                </a:path>
                <a:path w="114935" h="1627504">
                  <a:moveTo>
                    <a:pt x="114744" y="850201"/>
                  </a:moveTo>
                  <a:lnTo>
                    <a:pt x="69900" y="886040"/>
                  </a:lnTo>
                  <a:lnTo>
                    <a:pt x="69900" y="584200"/>
                  </a:lnTo>
                  <a:lnTo>
                    <a:pt x="57188" y="584200"/>
                  </a:lnTo>
                  <a:lnTo>
                    <a:pt x="57188" y="886040"/>
                  </a:lnTo>
                  <a:lnTo>
                    <a:pt x="12344" y="850201"/>
                  </a:lnTo>
                  <a:lnTo>
                    <a:pt x="63550" y="952500"/>
                  </a:lnTo>
                  <a:lnTo>
                    <a:pt x="114744" y="850201"/>
                  </a:lnTo>
                  <a:close/>
                </a:path>
                <a:path w="114935" h="1627504">
                  <a:moveTo>
                    <a:pt x="114744" y="173926"/>
                  </a:moveTo>
                  <a:lnTo>
                    <a:pt x="69900" y="209765"/>
                  </a:lnTo>
                  <a:lnTo>
                    <a:pt x="69900" y="0"/>
                  </a:lnTo>
                  <a:lnTo>
                    <a:pt x="57188" y="0"/>
                  </a:lnTo>
                  <a:lnTo>
                    <a:pt x="57188" y="209765"/>
                  </a:lnTo>
                  <a:lnTo>
                    <a:pt x="12344" y="173926"/>
                  </a:lnTo>
                  <a:lnTo>
                    <a:pt x="63550" y="276225"/>
                  </a:lnTo>
                  <a:lnTo>
                    <a:pt x="114744" y="1739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94747" y="5038738"/>
            <a:ext cx="1122045" cy="51054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75"/>
              </a:spcBef>
            </a:pPr>
            <a:r>
              <a:rPr sz="1600" spc="-30" dirty="0">
                <a:latin typeface="Times New Roman"/>
                <a:cs typeface="Times New Roman"/>
              </a:rPr>
              <a:t>Commutateur </a:t>
            </a:r>
            <a:r>
              <a:rPr sz="1600" spc="-10" dirty="0">
                <a:latin typeface="Times New Roman"/>
                <a:cs typeface="Times New Roman"/>
              </a:rPr>
              <a:t>(Switch)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743698" y="3047998"/>
            <a:ext cx="1651000" cy="1790700"/>
            <a:chOff x="6743698" y="3047998"/>
            <a:chExt cx="1651000" cy="1790700"/>
          </a:xfrm>
        </p:grpSpPr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40599" y="3060700"/>
              <a:ext cx="482600" cy="330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0599" y="3060700"/>
              <a:ext cx="152731" cy="10864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34249" y="30543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34250" y="30543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6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50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6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499" y="146049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3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50" y="292100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3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40599" y="4508500"/>
              <a:ext cx="482600" cy="330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0599" y="4508500"/>
              <a:ext cx="152731" cy="10864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334249" y="4502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3"/>
                  </a:lnTo>
                  <a:lnTo>
                    <a:pt x="65095" y="249322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2"/>
                  </a:lnTo>
                  <a:lnTo>
                    <a:pt x="414156" y="219763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34250" y="45021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50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7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499" y="146049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50" y="292100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56399" y="3797300"/>
              <a:ext cx="495300" cy="3302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56399" y="3797300"/>
              <a:ext cx="157276" cy="10950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750049" y="37909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8" y="5217"/>
                  </a:lnTo>
                  <a:lnTo>
                    <a:pt x="113220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0" y="272159"/>
                  </a:lnTo>
                  <a:lnTo>
                    <a:pt x="167828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3" y="249323"/>
                  </a:lnTo>
                  <a:lnTo>
                    <a:pt x="425988" y="219764"/>
                  </a:lnTo>
                  <a:lnTo>
                    <a:pt x="449032" y="184875"/>
                  </a:lnTo>
                  <a:lnTo>
                    <a:pt x="457198" y="146050"/>
                  </a:lnTo>
                  <a:lnTo>
                    <a:pt x="449032" y="107224"/>
                  </a:lnTo>
                  <a:lnTo>
                    <a:pt x="425988" y="72335"/>
                  </a:lnTo>
                  <a:lnTo>
                    <a:pt x="390243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50050" y="37909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0" y="19940"/>
                  </a:lnTo>
                  <a:lnTo>
                    <a:pt x="167828" y="5217"/>
                  </a:lnTo>
                  <a:lnTo>
                    <a:pt x="228600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8" y="72335"/>
                  </a:lnTo>
                  <a:lnTo>
                    <a:pt x="449033" y="107224"/>
                  </a:lnTo>
                  <a:lnTo>
                    <a:pt x="457199" y="146049"/>
                  </a:lnTo>
                  <a:lnTo>
                    <a:pt x="449033" y="184875"/>
                  </a:lnTo>
                  <a:lnTo>
                    <a:pt x="425988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600" y="292099"/>
                  </a:lnTo>
                  <a:lnTo>
                    <a:pt x="167828" y="286882"/>
                  </a:lnTo>
                  <a:lnTo>
                    <a:pt x="113220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12099" y="3797300"/>
              <a:ext cx="482600" cy="3302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12099" y="3797300"/>
              <a:ext cx="152731" cy="10864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905749" y="37909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905749" y="37909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6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6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500" y="146049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099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27899" y="3784600"/>
              <a:ext cx="495300" cy="330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27899" y="3784600"/>
              <a:ext cx="157276" cy="10950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321549" y="37782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1" y="286882"/>
                  </a:lnTo>
                  <a:lnTo>
                    <a:pt x="343979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9" y="19940"/>
                  </a:lnTo>
                  <a:lnTo>
                    <a:pt x="289371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21550" y="37782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50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1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199" y="146050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1" y="286882"/>
                  </a:lnTo>
                  <a:lnTo>
                    <a:pt x="228599" y="292099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5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973963" y="3304171"/>
              <a:ext cx="1159510" cy="1229360"/>
            </a:xfrm>
            <a:custGeom>
              <a:avLst/>
              <a:gdLst/>
              <a:ahLst/>
              <a:cxnLst/>
              <a:rect l="l" t="t" r="r" b="b"/>
              <a:pathLst>
                <a:path w="1159509" h="1229360">
                  <a:moveTo>
                    <a:pt x="418096" y="1227747"/>
                  </a:moveTo>
                  <a:lnTo>
                    <a:pt x="386435" y="1117828"/>
                  </a:lnTo>
                  <a:lnTo>
                    <a:pt x="377723" y="1174546"/>
                  </a:lnTo>
                  <a:lnTo>
                    <a:pt x="9359" y="774585"/>
                  </a:lnTo>
                  <a:lnTo>
                    <a:pt x="0" y="783183"/>
                  </a:lnTo>
                  <a:lnTo>
                    <a:pt x="368376" y="1183144"/>
                  </a:lnTo>
                  <a:lnTo>
                    <a:pt x="311086" y="1187107"/>
                  </a:lnTo>
                  <a:lnTo>
                    <a:pt x="418096" y="1227747"/>
                  </a:lnTo>
                  <a:close/>
                </a:path>
                <a:path w="1159509" h="1229360">
                  <a:moveTo>
                    <a:pt x="422871" y="8369"/>
                  </a:moveTo>
                  <a:lnTo>
                    <a:pt x="413321" y="0"/>
                  </a:lnTo>
                  <a:lnTo>
                    <a:pt x="43789" y="420649"/>
                  </a:lnTo>
                  <a:lnTo>
                    <a:pt x="33743" y="364159"/>
                  </a:lnTo>
                  <a:lnTo>
                    <a:pt x="4686" y="474789"/>
                  </a:lnTo>
                  <a:lnTo>
                    <a:pt x="110705" y="431647"/>
                  </a:lnTo>
                  <a:lnTo>
                    <a:pt x="53340" y="429031"/>
                  </a:lnTo>
                  <a:lnTo>
                    <a:pt x="60693" y="420649"/>
                  </a:lnTo>
                  <a:lnTo>
                    <a:pt x="422871" y="8369"/>
                  </a:lnTo>
                  <a:close/>
                </a:path>
                <a:path w="1159509" h="1229360">
                  <a:moveTo>
                    <a:pt x="627380" y="1083335"/>
                  </a:moveTo>
                  <a:lnTo>
                    <a:pt x="582536" y="1119174"/>
                  </a:lnTo>
                  <a:lnTo>
                    <a:pt x="582536" y="766178"/>
                  </a:lnTo>
                  <a:lnTo>
                    <a:pt x="569823" y="766178"/>
                  </a:lnTo>
                  <a:lnTo>
                    <a:pt x="569823" y="1119174"/>
                  </a:lnTo>
                  <a:lnTo>
                    <a:pt x="524979" y="1083335"/>
                  </a:lnTo>
                  <a:lnTo>
                    <a:pt x="576186" y="1185633"/>
                  </a:lnTo>
                  <a:lnTo>
                    <a:pt x="627380" y="1083335"/>
                  </a:lnTo>
                  <a:close/>
                </a:path>
                <a:path w="1159509" h="1229360">
                  <a:moveTo>
                    <a:pt x="627380" y="358152"/>
                  </a:moveTo>
                  <a:lnTo>
                    <a:pt x="582536" y="393992"/>
                  </a:lnTo>
                  <a:lnTo>
                    <a:pt x="582536" y="42278"/>
                  </a:lnTo>
                  <a:lnTo>
                    <a:pt x="569823" y="42278"/>
                  </a:lnTo>
                  <a:lnTo>
                    <a:pt x="569823" y="393992"/>
                  </a:lnTo>
                  <a:lnTo>
                    <a:pt x="524979" y="358152"/>
                  </a:lnTo>
                  <a:lnTo>
                    <a:pt x="576186" y="460463"/>
                  </a:lnTo>
                  <a:lnTo>
                    <a:pt x="627380" y="358152"/>
                  </a:lnTo>
                  <a:close/>
                </a:path>
                <a:path w="1159509" h="1229360">
                  <a:moveTo>
                    <a:pt x="1154696" y="476072"/>
                  </a:moveTo>
                  <a:lnTo>
                    <a:pt x="1125778" y="365391"/>
                  </a:lnTo>
                  <a:lnTo>
                    <a:pt x="1115669" y="421881"/>
                  </a:lnTo>
                  <a:lnTo>
                    <a:pt x="746061" y="0"/>
                  </a:lnTo>
                  <a:lnTo>
                    <a:pt x="736498" y="8369"/>
                  </a:lnTo>
                  <a:lnTo>
                    <a:pt x="1106106" y="430237"/>
                  </a:lnTo>
                  <a:lnTo>
                    <a:pt x="1048727" y="432777"/>
                  </a:lnTo>
                  <a:lnTo>
                    <a:pt x="1154696" y="476072"/>
                  </a:lnTo>
                  <a:close/>
                </a:path>
                <a:path w="1159509" h="1229360">
                  <a:moveTo>
                    <a:pt x="1159383" y="783170"/>
                  </a:moveTo>
                  <a:lnTo>
                    <a:pt x="1150010" y="774585"/>
                  </a:lnTo>
                  <a:lnTo>
                    <a:pt x="781570" y="1175766"/>
                  </a:lnTo>
                  <a:lnTo>
                    <a:pt x="772782" y="1119060"/>
                  </a:lnTo>
                  <a:lnTo>
                    <a:pt x="741286" y="1229029"/>
                  </a:lnTo>
                  <a:lnTo>
                    <a:pt x="848233" y="1188237"/>
                  </a:lnTo>
                  <a:lnTo>
                    <a:pt x="790943" y="1184351"/>
                  </a:lnTo>
                  <a:lnTo>
                    <a:pt x="1159383" y="7831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6" name="object 76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10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285" y="2631296"/>
            <a:ext cx="1582463" cy="33307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11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4316" y="2532582"/>
            <a:ext cx="5329996" cy="32287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12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0503" y="2970204"/>
            <a:ext cx="1718774" cy="20095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13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749" y="2159000"/>
            <a:ext cx="8035925" cy="3822700"/>
            <a:chOff x="1047749" y="2159000"/>
            <a:chExt cx="8035925" cy="3822700"/>
          </a:xfrm>
        </p:grpSpPr>
        <p:sp>
          <p:nvSpPr>
            <p:cNvPr id="3" name="object 3"/>
            <p:cNvSpPr/>
            <p:nvPr/>
          </p:nvSpPr>
          <p:spPr>
            <a:xfrm>
              <a:off x="1047749" y="2165350"/>
              <a:ext cx="8035925" cy="0"/>
            </a:xfrm>
            <a:custGeom>
              <a:avLst/>
              <a:gdLst/>
              <a:ahLst/>
              <a:cxnLst/>
              <a:rect l="l" t="t" r="r" b="b"/>
              <a:pathLst>
                <a:path w="8035925">
                  <a:moveTo>
                    <a:pt x="0" y="0"/>
                  </a:moveTo>
                  <a:lnTo>
                    <a:pt x="8035861" y="0"/>
                  </a:lnTo>
                </a:path>
              </a:pathLst>
            </a:custGeom>
            <a:ln w="12700">
              <a:solidFill>
                <a:srgbClr val="D348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8000" y="2209800"/>
              <a:ext cx="6184900" cy="37719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14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87" y="2646757"/>
            <a:ext cx="2318098" cy="26728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15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639" y="2450113"/>
            <a:ext cx="5250688" cy="3411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16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041" y="3091179"/>
            <a:ext cx="3518170" cy="17881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17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52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7300" y="2260600"/>
            <a:ext cx="5054600" cy="3721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2957" y="5949150"/>
            <a:ext cx="1397635" cy="2578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Ammann</a:t>
            </a:r>
            <a:r>
              <a:rPr sz="1500" spc="-1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&amp;</a:t>
            </a:r>
            <a:r>
              <a:rPr sz="1500" spc="-1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Offutt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18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4931" y="1243924"/>
            <a:ext cx="39554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19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8137" y="2092673"/>
            <a:ext cx="437769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Construire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2437" y="2536789"/>
            <a:ext cx="3602354" cy="103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 algn="ctr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fonction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suivante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factorial(int</a:t>
            </a:r>
            <a:r>
              <a:rPr sz="1900" spc="3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n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){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1637" y="3260066"/>
            <a:ext cx="1155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1.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52587" y="3719194"/>
          <a:ext cx="3764280" cy="231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marL="31750">
                        <a:lnSpc>
                          <a:spcPts val="1960"/>
                        </a:lnSpc>
                      </a:pPr>
                      <a:r>
                        <a:rPr sz="1900" spc="-25" dirty="0">
                          <a:solidFill>
                            <a:srgbClr val="D34817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1960"/>
                        </a:lnSpc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900" spc="1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i,</a:t>
                      </a:r>
                      <a:r>
                        <a:rPr sz="1900" spc="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result</a:t>
                      </a:r>
                      <a:r>
                        <a:rPr sz="1900" b="1" spc="22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spc="-6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1;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spc="-25" dirty="0">
                          <a:solidFill>
                            <a:srgbClr val="D34817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900" spc="-2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900" b="1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=2;</a:t>
                      </a:r>
                      <a:r>
                        <a:rPr sz="1900" spc="16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i&lt;=n;</a:t>
                      </a:r>
                      <a:r>
                        <a:rPr sz="1900" spc="7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++)</a:t>
                      </a:r>
                      <a:r>
                        <a:rPr sz="1900" spc="7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5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spc="-25" dirty="0">
                          <a:solidFill>
                            <a:srgbClr val="D34817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b="1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result</a:t>
                      </a:r>
                      <a:r>
                        <a:rPr sz="1900" b="1" spc="18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spc="-8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result</a:t>
                      </a:r>
                      <a:r>
                        <a:rPr sz="1900" spc="19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1900" spc="-7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i;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spc="-25" dirty="0">
                          <a:solidFill>
                            <a:srgbClr val="D34817"/>
                          </a:solidFill>
                          <a:latin typeface="Courier New"/>
                          <a:cs typeface="Courier New"/>
                        </a:rPr>
                        <a:t>5.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spc="-5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spc="-25" dirty="0">
                          <a:solidFill>
                            <a:srgbClr val="D34817"/>
                          </a:solidFill>
                          <a:latin typeface="Courier New"/>
                          <a:cs typeface="Courier New"/>
                        </a:rPr>
                        <a:t>6.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1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result;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25" dirty="0">
                          <a:solidFill>
                            <a:srgbClr val="D34817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900" spc="-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4931" y="1352957"/>
            <a:ext cx="39554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30" dirty="0">
                <a:latin typeface="Palatino Linotype"/>
                <a:cs typeface="Palatino Linotype"/>
              </a:rPr>
              <a:t>Principes</a:t>
            </a:r>
            <a:r>
              <a:rPr sz="3900" b="1" spc="-40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du</a:t>
            </a:r>
            <a:r>
              <a:rPr sz="3900" b="1" spc="-145" dirty="0">
                <a:latin typeface="Palatino Linotype"/>
                <a:cs typeface="Palatino Linotype"/>
              </a:rPr>
              <a:t> </a:t>
            </a:r>
            <a:r>
              <a:rPr sz="3900" b="1" spc="-25" dirty="0">
                <a:latin typeface="Palatino Linotype"/>
                <a:cs typeface="Palatino Linotype"/>
              </a:rPr>
              <a:t>CFG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20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2370" y="2153202"/>
            <a:ext cx="7106284" cy="3954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95"/>
              </a:spcBef>
            </a:pP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Construire</a:t>
            </a:r>
            <a:r>
              <a:rPr sz="21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1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contrôle de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1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fonction</a:t>
            </a:r>
            <a:r>
              <a:rPr sz="21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suivante</a:t>
            </a:r>
            <a:endParaRPr sz="2100">
              <a:latin typeface="Comic Sans MS"/>
              <a:cs typeface="Comic Sans MS"/>
            </a:endParaRPr>
          </a:p>
          <a:p>
            <a:pPr marL="278130" indent="-273050">
              <a:lnSpc>
                <a:spcPct val="100000"/>
              </a:lnSpc>
              <a:spcBef>
                <a:spcPts val="2675"/>
              </a:spcBef>
              <a:buClr>
                <a:srgbClr val="D34817"/>
              </a:buClr>
              <a:buSzPct val="94444"/>
              <a:buAutoNum type="arabicPeriod"/>
              <a:tabLst>
                <a:tab pos="278130" algn="l"/>
              </a:tabLst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r>
              <a:rPr sz="1800" spc="-1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800" spc="-1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compute(int){</a:t>
            </a:r>
            <a:endParaRPr sz="18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540"/>
              </a:spcBef>
              <a:buClr>
                <a:srgbClr val="D34817"/>
              </a:buClr>
              <a:buSzPct val="94444"/>
              <a:buAutoNum type="arabicPeriod"/>
              <a:tabLst>
                <a:tab pos="480695" algn="l"/>
              </a:tabLst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sum,</a:t>
            </a:r>
            <a:r>
              <a:rPr sz="1800" spc="-1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i;</a:t>
            </a:r>
            <a:endParaRPr sz="1800">
              <a:latin typeface="Courier New"/>
              <a:cs typeface="Courier New"/>
            </a:endParaRPr>
          </a:p>
          <a:p>
            <a:pPr marL="417195" indent="-404495">
              <a:lnSpc>
                <a:spcPct val="100000"/>
              </a:lnSpc>
              <a:spcBef>
                <a:spcPts val="439"/>
              </a:spcBef>
              <a:buClr>
                <a:srgbClr val="D34817"/>
              </a:buClr>
              <a:buSzPct val="94444"/>
              <a:buFont typeface="Courier New"/>
              <a:buAutoNum type="arabicPeriod"/>
              <a:tabLst>
                <a:tab pos="417195" algn="l"/>
              </a:tabLst>
            </a:pPr>
            <a:r>
              <a:rPr sz="1800" b="1" spc="-10" dirty="0">
                <a:solidFill>
                  <a:srgbClr val="404040"/>
                </a:solidFill>
                <a:latin typeface="Courier New"/>
                <a:cs typeface="Courier New"/>
              </a:rPr>
              <a:t>sum=0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417195" indent="-404495">
              <a:lnSpc>
                <a:spcPct val="100000"/>
              </a:lnSpc>
              <a:spcBef>
                <a:spcPts val="434"/>
              </a:spcBef>
              <a:buClr>
                <a:srgbClr val="D34817"/>
              </a:buClr>
              <a:buSzPct val="94444"/>
              <a:buAutoNum type="arabicPeriod"/>
              <a:tabLst>
                <a:tab pos="417195" algn="l"/>
              </a:tabLst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i=inf;</a:t>
            </a:r>
            <a:endParaRPr sz="18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439"/>
              </a:spcBef>
              <a:buClr>
                <a:srgbClr val="D34817"/>
              </a:buClr>
              <a:buSzPct val="94444"/>
              <a:buAutoNum type="arabicPeriod"/>
              <a:tabLst>
                <a:tab pos="480695" algn="l"/>
              </a:tabLst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while</a:t>
            </a:r>
            <a:r>
              <a:rPr sz="18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18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&lt;=sup)</a:t>
            </a:r>
            <a:r>
              <a:rPr sz="1800" spc="-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434"/>
              </a:spcBef>
              <a:buClr>
                <a:srgbClr val="D34817"/>
              </a:buClr>
              <a:buSzPct val="94444"/>
              <a:buFont typeface="Courier New"/>
              <a:buAutoNum type="arabicPeriod"/>
              <a:tabLst>
                <a:tab pos="748665" algn="l"/>
              </a:tabLst>
            </a:pPr>
            <a:r>
              <a:rPr sz="1800" b="1" spc="-10" dirty="0">
                <a:solidFill>
                  <a:srgbClr val="404040"/>
                </a:solidFill>
                <a:latin typeface="Courier New"/>
                <a:cs typeface="Courier New"/>
              </a:rPr>
              <a:t>sum=sum+a[i]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440"/>
              </a:spcBef>
              <a:buClr>
                <a:srgbClr val="D34817"/>
              </a:buClr>
              <a:buSzPct val="94444"/>
              <a:buAutoNum type="arabicPeriod"/>
              <a:tabLst>
                <a:tab pos="748665" algn="l"/>
              </a:tabLst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i=i+1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545465" algn="l"/>
              </a:tabLst>
            </a:pPr>
            <a:r>
              <a:rPr sz="1800" spc="-25" dirty="0">
                <a:solidFill>
                  <a:srgbClr val="D34817"/>
                </a:solidFill>
                <a:latin typeface="Courier New"/>
                <a:cs typeface="Courier New"/>
              </a:rPr>
              <a:t>8.</a:t>
            </a:r>
            <a:r>
              <a:rPr sz="1800" dirty="0">
                <a:solidFill>
                  <a:srgbClr val="D34817"/>
                </a:solidFill>
                <a:latin typeface="Courier New"/>
                <a:cs typeface="Courier New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440"/>
              </a:spcBef>
              <a:buClr>
                <a:srgbClr val="D34817"/>
              </a:buClr>
              <a:buSzPct val="97222"/>
              <a:buAutoNum type="arabicPeriod" startAt="9"/>
              <a:tabLst>
                <a:tab pos="480695" algn="l"/>
              </a:tabLst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8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urier New"/>
                <a:cs typeface="Courier New"/>
              </a:rPr>
              <a:t>sum;</a:t>
            </a:r>
            <a:endParaRPr sz="1800">
              <a:latin typeface="Courier New"/>
              <a:cs typeface="Courier New"/>
            </a:endParaRPr>
          </a:p>
          <a:p>
            <a:pPr marL="417195" indent="-412750">
              <a:lnSpc>
                <a:spcPct val="100000"/>
              </a:lnSpc>
              <a:spcBef>
                <a:spcPts val="434"/>
              </a:spcBef>
              <a:buClr>
                <a:srgbClr val="D34817"/>
              </a:buClr>
              <a:buSzPct val="97222"/>
              <a:buAutoNum type="arabicPeriod" startAt="9"/>
              <a:tabLst>
                <a:tab pos="417195" algn="l"/>
              </a:tabLst>
            </a:pP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635" rIns="0" bIns="0" rtlCol="0">
            <a:spAutoFit/>
          </a:bodyPr>
          <a:lstStyle/>
          <a:p>
            <a:pPr marL="1950085">
              <a:lnSpc>
                <a:spcPct val="100000"/>
              </a:lnSpc>
              <a:spcBef>
                <a:spcPts val="95"/>
              </a:spcBef>
            </a:pPr>
            <a:r>
              <a:rPr sz="3900" b="1" spc="-25" dirty="0">
                <a:latin typeface="Palatino Linotype"/>
                <a:cs typeface="Palatino Linotype"/>
              </a:rPr>
              <a:t>Chemin</a:t>
            </a:r>
            <a:r>
              <a:rPr sz="3900" b="1" spc="-35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21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Contrôle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21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934" y="2394932"/>
            <a:ext cx="7184390" cy="3662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Chemin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part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0" dirty="0">
                <a:solidFill>
                  <a:srgbClr val="404040"/>
                </a:solidFill>
                <a:latin typeface="Arial MT"/>
                <a:cs typeface="Arial MT"/>
              </a:rPr>
              <a:t>’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entrée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sortie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300">
              <a:latin typeface="Comic Sans MS"/>
              <a:cs typeface="Comic Sans MS"/>
            </a:endParaRPr>
          </a:p>
          <a:p>
            <a:pPr marL="12700" marR="5080" indent="12700">
              <a:lnSpc>
                <a:spcPts val="2700"/>
              </a:lnSpc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exécution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correspond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chemin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  <a:p>
            <a:pPr marL="1073785" algn="ctr">
              <a:lnSpc>
                <a:spcPts val="2730"/>
              </a:lnSpc>
              <a:spcBef>
                <a:spcPts val="960"/>
              </a:spcBef>
            </a:pPr>
            <a:r>
              <a:rPr sz="2300" dirty="0">
                <a:latin typeface="Courier New"/>
                <a:cs typeface="Courier New"/>
              </a:rPr>
              <a:t>If</a:t>
            </a:r>
            <a:r>
              <a:rPr sz="2300" spc="-15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(y</a:t>
            </a:r>
            <a:r>
              <a:rPr sz="2300" spc="-4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&lt;=</a:t>
            </a:r>
            <a:r>
              <a:rPr sz="2300" spc="-150" dirty="0">
                <a:latin typeface="Courier New"/>
                <a:cs typeface="Courier New"/>
              </a:rPr>
              <a:t> </a:t>
            </a:r>
            <a:r>
              <a:rPr sz="2300" spc="-25" dirty="0">
                <a:latin typeface="Courier New"/>
                <a:cs typeface="Courier New"/>
              </a:rPr>
              <a:t>0){</a:t>
            </a:r>
            <a:endParaRPr sz="2300">
              <a:latin typeface="Courier New"/>
              <a:cs typeface="Courier New"/>
            </a:endParaRPr>
          </a:p>
          <a:p>
            <a:pPr marL="1087120" algn="ctr">
              <a:lnSpc>
                <a:spcPts val="2700"/>
              </a:lnSpc>
            </a:pPr>
            <a:r>
              <a:rPr sz="2300" spc="-10" dirty="0">
                <a:latin typeface="Courier New"/>
                <a:cs typeface="Courier New"/>
              </a:rPr>
              <a:t>x=y+1;</a:t>
            </a:r>
            <a:endParaRPr sz="2300">
              <a:latin typeface="Courier New"/>
              <a:cs typeface="Courier New"/>
            </a:endParaRPr>
          </a:p>
          <a:p>
            <a:pPr marL="3093720">
              <a:lnSpc>
                <a:spcPts val="2700"/>
              </a:lnSpc>
            </a:pPr>
            <a:r>
              <a:rPr sz="2300" spc="-50" dirty="0"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093720">
              <a:lnSpc>
                <a:spcPts val="2700"/>
              </a:lnSpc>
            </a:pPr>
            <a:r>
              <a:rPr sz="2300" dirty="0">
                <a:latin typeface="Courier New"/>
                <a:cs typeface="Courier New"/>
              </a:rPr>
              <a:t>If</a:t>
            </a:r>
            <a:r>
              <a:rPr sz="2300" spc="-150" dirty="0">
                <a:latin typeface="Courier New"/>
                <a:cs typeface="Courier New"/>
              </a:rPr>
              <a:t> </a:t>
            </a:r>
            <a:r>
              <a:rPr sz="2300" spc="-10" dirty="0">
                <a:latin typeface="Courier New"/>
                <a:cs typeface="Courier New"/>
              </a:rPr>
              <a:t>(y&gt;0){</a:t>
            </a:r>
            <a:endParaRPr sz="2300">
              <a:latin typeface="Courier New"/>
              <a:cs typeface="Courier New"/>
            </a:endParaRPr>
          </a:p>
          <a:p>
            <a:pPr marL="3601720">
              <a:lnSpc>
                <a:spcPts val="2700"/>
              </a:lnSpc>
            </a:pPr>
            <a:r>
              <a:rPr sz="2300" dirty="0">
                <a:latin typeface="Courier New"/>
                <a:cs typeface="Courier New"/>
              </a:rPr>
              <a:t>x=y-</a:t>
            </a:r>
            <a:r>
              <a:rPr sz="2300" spc="-25" dirty="0">
                <a:latin typeface="Courier New"/>
                <a:cs typeface="Courier New"/>
              </a:rPr>
              <a:t>1;</a:t>
            </a:r>
            <a:endParaRPr sz="2300">
              <a:latin typeface="Courier New"/>
              <a:cs typeface="Courier New"/>
            </a:endParaRPr>
          </a:p>
          <a:p>
            <a:pPr marL="3093720">
              <a:lnSpc>
                <a:spcPts val="2730"/>
              </a:lnSpc>
            </a:pPr>
            <a:r>
              <a:rPr sz="2300" spc="-50" dirty="0"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1399" y="2159000"/>
            <a:ext cx="8048625" cy="812800"/>
            <a:chOff x="1041399" y="2159000"/>
            <a:chExt cx="8048625" cy="81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600" y="2540000"/>
              <a:ext cx="495300" cy="330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6600" y="2540000"/>
              <a:ext cx="157276" cy="1095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2000" y="2540000"/>
              <a:ext cx="342900" cy="431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2540000"/>
              <a:ext cx="131876" cy="1095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00250" y="25336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00250" y="25336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3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100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3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782" rIns="0" bIns="0" rtlCol="0">
            <a:spAutoFit/>
          </a:bodyPr>
          <a:lstStyle/>
          <a:p>
            <a:pPr marL="1950085">
              <a:lnSpc>
                <a:spcPct val="100000"/>
              </a:lnSpc>
              <a:spcBef>
                <a:spcPts val="95"/>
              </a:spcBef>
            </a:pPr>
            <a:r>
              <a:rPr sz="3900" b="1" spc="-25" dirty="0">
                <a:latin typeface="Palatino Linotype"/>
                <a:cs typeface="Palatino Linotype"/>
              </a:rPr>
              <a:t>Chemin</a:t>
            </a:r>
            <a:r>
              <a:rPr sz="3900" b="1" spc="-35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21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Contrôle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1558" y="2414920"/>
            <a:ext cx="3957320" cy="9848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ts val="2400"/>
              </a:lnSpc>
              <a:spcBef>
                <a:spcPts val="47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exécution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correspond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chemin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dans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1558" y="3937607"/>
            <a:ext cx="3693795" cy="6807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475"/>
              </a:spcBef>
            </a:pPr>
            <a:r>
              <a:rPr sz="2300" b="1" dirty="0">
                <a:solidFill>
                  <a:srgbClr val="FF0000"/>
                </a:solidFill>
                <a:latin typeface="Comic Sans MS"/>
                <a:cs typeface="Comic Sans MS"/>
              </a:rPr>
              <a:t>Lister</a:t>
            </a:r>
            <a:r>
              <a:rPr sz="2300" b="1" spc="-1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omic Sans MS"/>
                <a:cs typeface="Comic Sans MS"/>
              </a:rPr>
              <a:t>tous</a:t>
            </a:r>
            <a:r>
              <a:rPr sz="2300" b="1" spc="-1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omic Sans MS"/>
                <a:cs typeface="Comic Sans MS"/>
              </a:rPr>
              <a:t>les</a:t>
            </a:r>
            <a:r>
              <a:rPr sz="2300" b="1" spc="-1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omic Sans MS"/>
                <a:cs typeface="Comic Sans MS"/>
              </a:rPr>
              <a:t>chemins</a:t>
            </a:r>
            <a:r>
              <a:rPr sz="2300" b="1" spc="-1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b="1" spc="-25" dirty="0">
                <a:solidFill>
                  <a:srgbClr val="FF0000"/>
                </a:solidFill>
                <a:latin typeface="Comic Sans MS"/>
                <a:cs typeface="Comic Sans MS"/>
              </a:rPr>
              <a:t>de </a:t>
            </a:r>
            <a:r>
              <a:rPr sz="2300" b="1" spc="-10" dirty="0">
                <a:solidFill>
                  <a:srgbClr val="FF0000"/>
                </a:solidFill>
                <a:latin typeface="Comic Sans MS"/>
                <a:cs typeface="Comic Sans MS"/>
              </a:rPr>
              <a:t>contrôle</a:t>
            </a:r>
            <a:r>
              <a:rPr sz="2300" b="1" spc="-1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omic Sans MS"/>
                <a:cs typeface="Comic Sans MS"/>
              </a:rPr>
              <a:t>du</a:t>
            </a:r>
            <a:r>
              <a:rPr sz="2300" b="1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omic Sans MS"/>
                <a:cs typeface="Comic Sans MS"/>
              </a:rPr>
              <a:t>graphe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5535" y="2580755"/>
            <a:ext cx="11048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85900" y="3238500"/>
            <a:ext cx="508000" cy="444500"/>
            <a:chOff x="1485900" y="3238500"/>
            <a:chExt cx="508000" cy="44450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8599" y="3251199"/>
              <a:ext cx="495300" cy="330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8599" y="3251199"/>
              <a:ext cx="157276" cy="1095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999" y="3251199"/>
              <a:ext cx="355600" cy="431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3999" y="3251199"/>
              <a:ext cx="131876" cy="10950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92249" y="324484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92250" y="32448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50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50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099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5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15033" y="3293535"/>
            <a:ext cx="1206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b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93900" y="3873500"/>
            <a:ext cx="508000" cy="444500"/>
            <a:chOff x="1993900" y="3873500"/>
            <a:chExt cx="508000" cy="444500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6599" y="3886199"/>
              <a:ext cx="495300" cy="330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6599" y="3886199"/>
              <a:ext cx="157276" cy="1095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31999" y="3898899"/>
              <a:ext cx="342900" cy="4191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1999" y="3898899"/>
              <a:ext cx="131876" cy="9680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00249" y="387984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00250" y="38798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099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25722" y="3929838"/>
            <a:ext cx="11048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c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16223" y="2165350"/>
            <a:ext cx="875030" cy="2787650"/>
            <a:chOff x="1716223" y="2165350"/>
            <a:chExt cx="875030" cy="2787650"/>
          </a:xfrm>
        </p:grpSpPr>
        <p:sp>
          <p:nvSpPr>
            <p:cNvPr id="30" name="object 30"/>
            <p:cNvSpPr/>
            <p:nvPr/>
          </p:nvSpPr>
          <p:spPr>
            <a:xfrm>
              <a:off x="1716214" y="2165349"/>
              <a:ext cx="730250" cy="1765935"/>
            </a:xfrm>
            <a:custGeom>
              <a:avLst/>
              <a:gdLst/>
              <a:ahLst/>
              <a:cxnLst/>
              <a:rect l="l" t="t" r="r" b="b"/>
              <a:pathLst>
                <a:path w="730250" h="1765935">
                  <a:moveTo>
                    <a:pt x="355333" y="1756448"/>
                  </a:moveTo>
                  <a:lnTo>
                    <a:pt x="322414" y="1646897"/>
                  </a:lnTo>
                  <a:lnTo>
                    <a:pt x="314350" y="1703705"/>
                  </a:lnTo>
                  <a:lnTo>
                    <a:pt x="9258" y="1379956"/>
                  </a:lnTo>
                  <a:lnTo>
                    <a:pt x="0" y="1388656"/>
                  </a:lnTo>
                  <a:lnTo>
                    <a:pt x="305104" y="1712404"/>
                  </a:lnTo>
                  <a:lnTo>
                    <a:pt x="247865" y="1717027"/>
                  </a:lnTo>
                  <a:lnTo>
                    <a:pt x="355333" y="1756448"/>
                  </a:lnTo>
                  <a:close/>
                </a:path>
                <a:path w="730250" h="1765935">
                  <a:moveTo>
                    <a:pt x="360337" y="626211"/>
                  </a:moveTo>
                  <a:lnTo>
                    <a:pt x="350316" y="618401"/>
                  </a:lnTo>
                  <a:lnTo>
                    <a:pt x="40551" y="1014869"/>
                  </a:lnTo>
                  <a:lnTo>
                    <a:pt x="27279" y="959053"/>
                  </a:lnTo>
                  <a:lnTo>
                    <a:pt x="4635" y="1071168"/>
                  </a:lnTo>
                  <a:lnTo>
                    <a:pt x="107988" y="1022007"/>
                  </a:lnTo>
                  <a:lnTo>
                    <a:pt x="50571" y="1022692"/>
                  </a:lnTo>
                  <a:lnTo>
                    <a:pt x="360337" y="626211"/>
                  </a:lnTo>
                  <a:close/>
                </a:path>
                <a:path w="730250" h="1765935">
                  <a:moveTo>
                    <a:pt x="563829" y="258330"/>
                  </a:moveTo>
                  <a:lnTo>
                    <a:pt x="518985" y="294170"/>
                  </a:lnTo>
                  <a:lnTo>
                    <a:pt x="518985" y="0"/>
                  </a:lnTo>
                  <a:lnTo>
                    <a:pt x="506272" y="0"/>
                  </a:lnTo>
                  <a:lnTo>
                    <a:pt x="506272" y="294170"/>
                  </a:lnTo>
                  <a:lnTo>
                    <a:pt x="461429" y="258330"/>
                  </a:lnTo>
                  <a:lnTo>
                    <a:pt x="512635" y="360629"/>
                  </a:lnTo>
                  <a:lnTo>
                    <a:pt x="563829" y="258330"/>
                  </a:lnTo>
                  <a:close/>
                </a:path>
                <a:path w="730250" h="1765935">
                  <a:moveTo>
                    <a:pt x="729919" y="1663115"/>
                  </a:moveTo>
                  <a:lnTo>
                    <a:pt x="685114" y="1699006"/>
                  </a:lnTo>
                  <a:lnTo>
                    <a:pt x="684085" y="622312"/>
                  </a:lnTo>
                  <a:lnTo>
                    <a:pt x="671372" y="622312"/>
                  </a:lnTo>
                  <a:lnTo>
                    <a:pt x="672388" y="1699006"/>
                  </a:lnTo>
                  <a:lnTo>
                    <a:pt x="627532" y="1663217"/>
                  </a:lnTo>
                  <a:lnTo>
                    <a:pt x="678827" y="1765477"/>
                  </a:lnTo>
                  <a:lnTo>
                    <a:pt x="709460" y="1704098"/>
                  </a:lnTo>
                  <a:lnTo>
                    <a:pt x="678764" y="1704098"/>
                  </a:lnTo>
                  <a:lnTo>
                    <a:pt x="709472" y="1704086"/>
                  </a:lnTo>
                  <a:lnTo>
                    <a:pt x="712000" y="1699018"/>
                  </a:lnTo>
                  <a:lnTo>
                    <a:pt x="692188" y="1699018"/>
                  </a:lnTo>
                  <a:lnTo>
                    <a:pt x="712000" y="1699006"/>
                  </a:lnTo>
                  <a:lnTo>
                    <a:pt x="729919" y="16631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8199" y="4521200"/>
              <a:ext cx="482600" cy="330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08199" y="4521200"/>
              <a:ext cx="152731" cy="1086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20899" y="4521200"/>
              <a:ext cx="355600" cy="431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20899" y="4521200"/>
              <a:ext cx="140031" cy="1086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101849" y="45148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01850" y="45148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50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50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7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500" y="146050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50" y="292099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5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220889" y="4559941"/>
            <a:ext cx="1206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d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251200" y="5232400"/>
            <a:ext cx="495300" cy="431800"/>
            <a:chOff x="3251200" y="5232400"/>
            <a:chExt cx="495300" cy="431800"/>
          </a:xfrm>
        </p:grpSpPr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63900" y="5245099"/>
              <a:ext cx="482600" cy="330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63900" y="5245099"/>
              <a:ext cx="152731" cy="1086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76600" y="5245099"/>
              <a:ext cx="342900" cy="4191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76600" y="5245099"/>
              <a:ext cx="140031" cy="10864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257550" y="5238749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3"/>
                  </a:lnTo>
                  <a:lnTo>
                    <a:pt x="65095" y="249322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3" y="249322"/>
                  </a:lnTo>
                  <a:lnTo>
                    <a:pt x="414155" y="219763"/>
                  </a:lnTo>
                  <a:lnTo>
                    <a:pt x="436559" y="184875"/>
                  </a:lnTo>
                  <a:lnTo>
                    <a:pt x="444498" y="146050"/>
                  </a:lnTo>
                  <a:lnTo>
                    <a:pt x="436559" y="107224"/>
                  </a:lnTo>
                  <a:lnTo>
                    <a:pt x="414155" y="72335"/>
                  </a:lnTo>
                  <a:lnTo>
                    <a:pt x="379403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57550" y="52387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5" y="19940"/>
                  </a:lnTo>
                  <a:lnTo>
                    <a:pt x="163166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3" y="42777"/>
                  </a:lnTo>
                  <a:lnTo>
                    <a:pt x="414155" y="72335"/>
                  </a:lnTo>
                  <a:lnTo>
                    <a:pt x="436560" y="107224"/>
                  </a:lnTo>
                  <a:lnTo>
                    <a:pt x="444499" y="146049"/>
                  </a:lnTo>
                  <a:lnTo>
                    <a:pt x="436560" y="184875"/>
                  </a:lnTo>
                  <a:lnTo>
                    <a:pt x="414155" y="219764"/>
                  </a:lnTo>
                  <a:lnTo>
                    <a:pt x="379403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100"/>
                  </a:lnTo>
                  <a:lnTo>
                    <a:pt x="163166" y="286882"/>
                  </a:lnTo>
                  <a:lnTo>
                    <a:pt x="110075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375993" y="5280386"/>
            <a:ext cx="11048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095498" y="4146550"/>
            <a:ext cx="1395095" cy="2152650"/>
            <a:chOff x="2095498" y="4146550"/>
            <a:chExt cx="1395095" cy="2152650"/>
          </a:xfrm>
        </p:grpSpPr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08199" y="5867400"/>
              <a:ext cx="495300" cy="330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8199" y="5867400"/>
              <a:ext cx="157276" cy="10950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33599" y="5867400"/>
              <a:ext cx="317500" cy="4318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3599" y="5867400"/>
              <a:ext cx="131876" cy="10950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101849" y="58610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7"/>
                  </a:lnTo>
                  <a:lnTo>
                    <a:pt x="31210" y="72336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6"/>
                  </a:lnTo>
                  <a:lnTo>
                    <a:pt x="390244" y="42777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101850" y="58610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7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600" y="0"/>
                  </a:lnTo>
                  <a:lnTo>
                    <a:pt x="289371" y="5217"/>
                  </a:lnTo>
                  <a:lnTo>
                    <a:pt x="343978" y="19940"/>
                  </a:lnTo>
                  <a:lnTo>
                    <a:pt x="390244" y="42777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1" y="286883"/>
                  </a:lnTo>
                  <a:lnTo>
                    <a:pt x="228600" y="292100"/>
                  </a:lnTo>
                  <a:lnTo>
                    <a:pt x="167829" y="286883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279243" y="4146549"/>
              <a:ext cx="1211580" cy="1868170"/>
            </a:xfrm>
            <a:custGeom>
              <a:avLst/>
              <a:gdLst/>
              <a:ahLst/>
              <a:cxnLst/>
              <a:rect l="l" t="t" r="r" b="b"/>
              <a:pathLst>
                <a:path w="1211579" h="1868170">
                  <a:moveTo>
                    <a:pt x="102400" y="258330"/>
                  </a:moveTo>
                  <a:lnTo>
                    <a:pt x="57556" y="294170"/>
                  </a:lnTo>
                  <a:lnTo>
                    <a:pt x="57556" y="0"/>
                  </a:lnTo>
                  <a:lnTo>
                    <a:pt x="44843" y="0"/>
                  </a:lnTo>
                  <a:lnTo>
                    <a:pt x="44843" y="294170"/>
                  </a:lnTo>
                  <a:lnTo>
                    <a:pt x="0" y="258330"/>
                  </a:lnTo>
                  <a:lnTo>
                    <a:pt x="51206" y="360629"/>
                  </a:lnTo>
                  <a:lnTo>
                    <a:pt x="102400" y="258330"/>
                  </a:lnTo>
                  <a:close/>
                </a:path>
                <a:path w="1211579" h="1868170">
                  <a:moveTo>
                    <a:pt x="1039228" y="1136294"/>
                  </a:moveTo>
                  <a:lnTo>
                    <a:pt x="1019238" y="1104112"/>
                  </a:lnTo>
                  <a:lnTo>
                    <a:pt x="1014222" y="1096048"/>
                  </a:lnTo>
                  <a:lnTo>
                    <a:pt x="978865" y="1039101"/>
                  </a:lnTo>
                  <a:lnTo>
                    <a:pt x="985913" y="1096048"/>
                  </a:lnTo>
                  <a:lnTo>
                    <a:pt x="206933" y="616902"/>
                  </a:lnTo>
                  <a:lnTo>
                    <a:pt x="203593" y="622312"/>
                  </a:lnTo>
                  <a:lnTo>
                    <a:pt x="197243" y="622312"/>
                  </a:lnTo>
                  <a:lnTo>
                    <a:pt x="198259" y="1699006"/>
                  </a:lnTo>
                  <a:lnTo>
                    <a:pt x="153403" y="1663217"/>
                  </a:lnTo>
                  <a:lnTo>
                    <a:pt x="204698" y="1765477"/>
                  </a:lnTo>
                  <a:lnTo>
                    <a:pt x="237871" y="1699018"/>
                  </a:lnTo>
                  <a:lnTo>
                    <a:pt x="218059" y="1699018"/>
                  </a:lnTo>
                  <a:lnTo>
                    <a:pt x="237871" y="1699006"/>
                  </a:lnTo>
                  <a:lnTo>
                    <a:pt x="255790" y="1663115"/>
                  </a:lnTo>
                  <a:lnTo>
                    <a:pt x="210985" y="1699006"/>
                  </a:lnTo>
                  <a:lnTo>
                    <a:pt x="209956" y="633679"/>
                  </a:lnTo>
                  <a:lnTo>
                    <a:pt x="979246" y="1106855"/>
                  </a:lnTo>
                  <a:lnTo>
                    <a:pt x="925195" y="1126223"/>
                  </a:lnTo>
                  <a:lnTo>
                    <a:pt x="1039228" y="1136294"/>
                  </a:lnTo>
                  <a:close/>
                </a:path>
                <a:path w="1211579" h="1868170">
                  <a:moveTo>
                    <a:pt x="1211110" y="1389938"/>
                  </a:moveTo>
                  <a:lnTo>
                    <a:pt x="1205230" y="1378673"/>
                  </a:lnTo>
                  <a:lnTo>
                    <a:pt x="335851" y="1831352"/>
                  </a:lnTo>
                  <a:lnTo>
                    <a:pt x="346938" y="1775053"/>
                  </a:lnTo>
                  <a:lnTo>
                    <a:pt x="279806" y="1867700"/>
                  </a:lnTo>
                  <a:lnTo>
                    <a:pt x="394258" y="1865782"/>
                  </a:lnTo>
                  <a:lnTo>
                    <a:pt x="341731" y="1842617"/>
                  </a:lnTo>
                  <a:lnTo>
                    <a:pt x="348030" y="1839328"/>
                  </a:lnTo>
                  <a:lnTo>
                    <a:pt x="363359" y="1831352"/>
                  </a:lnTo>
                  <a:lnTo>
                    <a:pt x="1211110" y="1389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096959" y="2666176"/>
            <a:ext cx="1209040" cy="2089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730"/>
              </a:lnSpc>
              <a:spcBef>
                <a:spcPts val="95"/>
              </a:spcBef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(y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&lt;=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0){</a:t>
            </a:r>
            <a:endParaRPr sz="2300">
              <a:latin typeface="Calibri"/>
              <a:cs typeface="Calibri"/>
            </a:endParaRPr>
          </a:p>
          <a:p>
            <a:pPr marR="30480" algn="ctr">
              <a:lnSpc>
                <a:spcPts val="2700"/>
              </a:lnSpc>
            </a:pPr>
            <a:r>
              <a:rPr sz="2300" spc="-10" dirty="0">
                <a:latin typeface="Calibri"/>
                <a:cs typeface="Calibri"/>
              </a:rPr>
              <a:t>x=y+1;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00"/>
              </a:lnSpc>
            </a:pPr>
            <a:r>
              <a:rPr sz="2300" spc="-50" dirty="0">
                <a:latin typeface="Calibri"/>
                <a:cs typeface="Calibri"/>
              </a:rPr>
              <a:t>}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00"/>
              </a:lnSpc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(y&gt;0){</a:t>
            </a:r>
            <a:endParaRPr sz="2300">
              <a:latin typeface="Calibri"/>
              <a:cs typeface="Calibri"/>
            </a:endParaRPr>
          </a:p>
          <a:p>
            <a:pPr marL="203200">
              <a:lnSpc>
                <a:spcPts val="2700"/>
              </a:lnSpc>
            </a:pPr>
            <a:r>
              <a:rPr sz="2300" spc="-40" dirty="0">
                <a:latin typeface="Calibri"/>
                <a:cs typeface="Calibri"/>
              </a:rPr>
              <a:t>x=y-</a:t>
            </a:r>
            <a:r>
              <a:rPr sz="2300" spc="-25" dirty="0">
                <a:latin typeface="Calibri"/>
                <a:cs typeface="Calibri"/>
              </a:rPr>
              <a:t>1;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30"/>
              </a:lnSpc>
            </a:pPr>
            <a:r>
              <a:rPr sz="2300" spc="-50" dirty="0">
                <a:latin typeface="Calibri"/>
                <a:cs typeface="Calibri"/>
              </a:rPr>
              <a:t>}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21077" y="5929749"/>
            <a:ext cx="889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500" spc="-50" dirty="0">
                <a:latin typeface="Times New Roman"/>
                <a:cs typeface="Times New Roman"/>
              </a:rPr>
              <a:t>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1" name="object 61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22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84507" y="2830503"/>
            <a:ext cx="3886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0" dirty="0">
                <a:latin typeface="Calibri"/>
                <a:cs typeface="Calibri"/>
              </a:rPr>
              <a:t>y&lt;=0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11930" y="3252597"/>
            <a:ext cx="2997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Calibri"/>
                <a:cs typeface="Calibri"/>
              </a:rPr>
              <a:t>y&gt;0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58848" y="4781320"/>
            <a:ext cx="2997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Calibri"/>
                <a:cs typeface="Calibri"/>
              </a:rPr>
              <a:t>y&gt;0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64004" y="5237724"/>
            <a:ext cx="3886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0" dirty="0">
                <a:latin typeface="Calibri"/>
                <a:cs typeface="Calibri"/>
              </a:rPr>
              <a:t>y&lt;=0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1399" y="2159000"/>
            <a:ext cx="8048625" cy="812800"/>
            <a:chOff x="1041399" y="2159000"/>
            <a:chExt cx="8048625" cy="81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600" y="2540000"/>
              <a:ext cx="495300" cy="330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6600" y="2540000"/>
              <a:ext cx="157276" cy="1095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2000" y="2540000"/>
              <a:ext cx="342900" cy="431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2540000"/>
              <a:ext cx="131876" cy="1095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00250" y="25336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00250" y="25336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3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100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3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635" rIns="0" bIns="0" rtlCol="0">
            <a:spAutoFit/>
          </a:bodyPr>
          <a:lstStyle/>
          <a:p>
            <a:pPr marL="1950085">
              <a:lnSpc>
                <a:spcPct val="100000"/>
              </a:lnSpc>
              <a:spcBef>
                <a:spcPts val="95"/>
              </a:spcBef>
            </a:pPr>
            <a:r>
              <a:rPr sz="3900" b="1" spc="-25" dirty="0">
                <a:latin typeface="Palatino Linotype"/>
                <a:cs typeface="Palatino Linotype"/>
              </a:rPr>
              <a:t>Chemin</a:t>
            </a:r>
            <a:r>
              <a:rPr sz="3900" b="1" spc="-35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21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Contrôle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3914" y="2256059"/>
            <a:ext cx="47345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exécution</a:t>
            </a:r>
            <a:r>
              <a:rPr sz="1900" spc="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correspond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chemin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1900" spc="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9014" y="3321942"/>
            <a:ext cx="38887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5080" indent="-138430">
              <a:lnSpc>
                <a:spcPct val="105200"/>
              </a:lnSpc>
              <a:spcBef>
                <a:spcPts val="100"/>
              </a:spcBef>
              <a:buClr>
                <a:srgbClr val="D34817"/>
              </a:buClr>
              <a:buFont typeface="Calibri"/>
              <a:buChar char="◦"/>
              <a:tabLst>
                <a:tab pos="15240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Attention,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tout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chemin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n'est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pas 	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exécutable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9014" y="3997000"/>
            <a:ext cx="4190365" cy="173608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09600" marR="5080" indent="-596900">
              <a:lnSpc>
                <a:spcPct val="100800"/>
              </a:lnSpc>
              <a:spcBef>
                <a:spcPts val="80"/>
              </a:spcBef>
              <a:buClr>
                <a:srgbClr val="D34817"/>
              </a:buClr>
              <a:buAutoNum type="arabicPeriod"/>
              <a:tabLst>
                <a:tab pos="609600" algn="l"/>
              </a:tabLst>
            </a:pP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Pour</a:t>
            </a:r>
            <a:r>
              <a:rPr sz="19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chaque</a:t>
            </a:r>
            <a:r>
              <a:rPr sz="19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chemin</a:t>
            </a:r>
            <a:r>
              <a:rPr sz="1900" spc="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dire</a:t>
            </a:r>
            <a:r>
              <a:rPr sz="19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s’il</a:t>
            </a:r>
            <a:r>
              <a:rPr sz="1900" spc="1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omic Sans MS"/>
                <a:cs typeface="Comic Sans MS"/>
              </a:rPr>
              <a:t>est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exécutable</a:t>
            </a:r>
            <a:r>
              <a:rPr sz="1900" spc="1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ou</a:t>
            </a:r>
            <a:r>
              <a:rPr sz="19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omic Sans MS"/>
                <a:cs typeface="Comic Sans MS"/>
              </a:rPr>
              <a:t>non</a:t>
            </a:r>
            <a:endParaRPr sz="1900">
              <a:latin typeface="Comic Sans MS"/>
              <a:cs typeface="Comic Sans MS"/>
            </a:endParaRPr>
          </a:p>
          <a:p>
            <a:pPr marL="609600" marR="113030" indent="-596900">
              <a:lnSpc>
                <a:spcPct val="103000"/>
              </a:lnSpc>
              <a:spcBef>
                <a:spcPts val="1845"/>
              </a:spcBef>
              <a:buClr>
                <a:srgbClr val="D34817"/>
              </a:buClr>
              <a:buAutoNum type="arabicPeriod"/>
              <a:tabLst>
                <a:tab pos="609600" algn="l"/>
              </a:tabLst>
            </a:pP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Trouver</a:t>
            </a:r>
            <a:r>
              <a:rPr sz="1900" spc="1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des</a:t>
            </a:r>
            <a:r>
              <a:rPr sz="1900" spc="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données</a:t>
            </a:r>
            <a:r>
              <a:rPr sz="1900" spc="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190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omic Sans MS"/>
                <a:cs typeface="Comic Sans MS"/>
              </a:rPr>
              <a:t>test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permettant</a:t>
            </a:r>
            <a:r>
              <a:rPr sz="1900" spc="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d’exécuter</a:t>
            </a:r>
            <a:r>
              <a:rPr sz="1900" spc="1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omic Sans MS"/>
                <a:cs typeface="Comic Sans MS"/>
              </a:rPr>
              <a:t>chaque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chemin</a:t>
            </a:r>
            <a:r>
              <a:rPr sz="1900" spc="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19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contrôle</a:t>
            </a:r>
            <a:r>
              <a:rPr sz="19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omic Sans MS"/>
                <a:cs typeface="Comic Sans MS"/>
              </a:rPr>
              <a:t>exécutable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5535" y="2580755"/>
            <a:ext cx="11048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85900" y="3238500"/>
            <a:ext cx="508000" cy="444500"/>
            <a:chOff x="1485900" y="3238500"/>
            <a:chExt cx="508000" cy="44450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8599" y="3251199"/>
              <a:ext cx="495300" cy="330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8599" y="3251199"/>
              <a:ext cx="157276" cy="1095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999" y="3251199"/>
              <a:ext cx="355600" cy="43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3999" y="3251199"/>
              <a:ext cx="131876" cy="1095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92249" y="324484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92250" y="32448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50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50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099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5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15033" y="3293535"/>
            <a:ext cx="1206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b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93900" y="3873500"/>
            <a:ext cx="508000" cy="444500"/>
            <a:chOff x="1993900" y="3873500"/>
            <a:chExt cx="508000" cy="44450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6599" y="3886199"/>
              <a:ext cx="495300" cy="330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6599" y="3886199"/>
              <a:ext cx="157276" cy="1095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31999" y="3898899"/>
              <a:ext cx="342900" cy="4191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1999" y="3898899"/>
              <a:ext cx="131876" cy="9680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000249" y="387984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6"/>
                  </a:lnTo>
                  <a:lnTo>
                    <a:pt x="31210" y="72335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5"/>
                  </a:lnTo>
                  <a:lnTo>
                    <a:pt x="390244" y="42776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00250" y="38798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6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599" y="0"/>
                  </a:lnTo>
                  <a:lnTo>
                    <a:pt x="289370" y="5217"/>
                  </a:lnTo>
                  <a:lnTo>
                    <a:pt x="343978" y="19940"/>
                  </a:lnTo>
                  <a:lnTo>
                    <a:pt x="390244" y="42776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0" y="286882"/>
                  </a:lnTo>
                  <a:lnTo>
                    <a:pt x="228599" y="292099"/>
                  </a:lnTo>
                  <a:lnTo>
                    <a:pt x="167829" y="286882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25722" y="3929838"/>
            <a:ext cx="11048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c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16223" y="2165350"/>
            <a:ext cx="875030" cy="2787650"/>
            <a:chOff x="1716223" y="2165350"/>
            <a:chExt cx="875030" cy="2787650"/>
          </a:xfrm>
        </p:grpSpPr>
        <p:sp>
          <p:nvSpPr>
            <p:cNvPr id="31" name="object 31"/>
            <p:cNvSpPr/>
            <p:nvPr/>
          </p:nvSpPr>
          <p:spPr>
            <a:xfrm>
              <a:off x="1716214" y="2165349"/>
              <a:ext cx="730250" cy="1765935"/>
            </a:xfrm>
            <a:custGeom>
              <a:avLst/>
              <a:gdLst/>
              <a:ahLst/>
              <a:cxnLst/>
              <a:rect l="l" t="t" r="r" b="b"/>
              <a:pathLst>
                <a:path w="730250" h="1765935">
                  <a:moveTo>
                    <a:pt x="355333" y="1756448"/>
                  </a:moveTo>
                  <a:lnTo>
                    <a:pt x="322414" y="1646897"/>
                  </a:lnTo>
                  <a:lnTo>
                    <a:pt x="314350" y="1703705"/>
                  </a:lnTo>
                  <a:lnTo>
                    <a:pt x="9258" y="1379956"/>
                  </a:lnTo>
                  <a:lnTo>
                    <a:pt x="0" y="1388656"/>
                  </a:lnTo>
                  <a:lnTo>
                    <a:pt x="305104" y="1712404"/>
                  </a:lnTo>
                  <a:lnTo>
                    <a:pt x="247865" y="1717027"/>
                  </a:lnTo>
                  <a:lnTo>
                    <a:pt x="355333" y="1756448"/>
                  </a:lnTo>
                  <a:close/>
                </a:path>
                <a:path w="730250" h="1765935">
                  <a:moveTo>
                    <a:pt x="360337" y="626211"/>
                  </a:moveTo>
                  <a:lnTo>
                    <a:pt x="350316" y="618401"/>
                  </a:lnTo>
                  <a:lnTo>
                    <a:pt x="40551" y="1014869"/>
                  </a:lnTo>
                  <a:lnTo>
                    <a:pt x="27279" y="959053"/>
                  </a:lnTo>
                  <a:lnTo>
                    <a:pt x="4635" y="1071168"/>
                  </a:lnTo>
                  <a:lnTo>
                    <a:pt x="107988" y="1022007"/>
                  </a:lnTo>
                  <a:lnTo>
                    <a:pt x="50571" y="1022692"/>
                  </a:lnTo>
                  <a:lnTo>
                    <a:pt x="360337" y="626211"/>
                  </a:lnTo>
                  <a:close/>
                </a:path>
                <a:path w="730250" h="1765935">
                  <a:moveTo>
                    <a:pt x="563829" y="258330"/>
                  </a:moveTo>
                  <a:lnTo>
                    <a:pt x="518985" y="294170"/>
                  </a:lnTo>
                  <a:lnTo>
                    <a:pt x="518985" y="0"/>
                  </a:lnTo>
                  <a:lnTo>
                    <a:pt x="506272" y="0"/>
                  </a:lnTo>
                  <a:lnTo>
                    <a:pt x="506272" y="294170"/>
                  </a:lnTo>
                  <a:lnTo>
                    <a:pt x="461429" y="258330"/>
                  </a:lnTo>
                  <a:lnTo>
                    <a:pt x="512635" y="360629"/>
                  </a:lnTo>
                  <a:lnTo>
                    <a:pt x="563829" y="258330"/>
                  </a:lnTo>
                  <a:close/>
                </a:path>
                <a:path w="730250" h="1765935">
                  <a:moveTo>
                    <a:pt x="729919" y="1663115"/>
                  </a:moveTo>
                  <a:lnTo>
                    <a:pt x="685114" y="1699006"/>
                  </a:lnTo>
                  <a:lnTo>
                    <a:pt x="684085" y="622312"/>
                  </a:lnTo>
                  <a:lnTo>
                    <a:pt x="671372" y="622312"/>
                  </a:lnTo>
                  <a:lnTo>
                    <a:pt x="672388" y="1699006"/>
                  </a:lnTo>
                  <a:lnTo>
                    <a:pt x="627532" y="1663217"/>
                  </a:lnTo>
                  <a:lnTo>
                    <a:pt x="678827" y="1765477"/>
                  </a:lnTo>
                  <a:lnTo>
                    <a:pt x="709460" y="1704098"/>
                  </a:lnTo>
                  <a:lnTo>
                    <a:pt x="678764" y="1704098"/>
                  </a:lnTo>
                  <a:lnTo>
                    <a:pt x="709472" y="1704086"/>
                  </a:lnTo>
                  <a:lnTo>
                    <a:pt x="712000" y="1699018"/>
                  </a:lnTo>
                  <a:lnTo>
                    <a:pt x="692188" y="1699018"/>
                  </a:lnTo>
                  <a:lnTo>
                    <a:pt x="712000" y="1699006"/>
                  </a:lnTo>
                  <a:lnTo>
                    <a:pt x="729919" y="16631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8199" y="4521200"/>
              <a:ext cx="482600" cy="330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08199" y="4521200"/>
              <a:ext cx="152731" cy="10864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20899" y="4521200"/>
              <a:ext cx="355600" cy="431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20899" y="4521200"/>
              <a:ext cx="140031" cy="1086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101849" y="45148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4"/>
                  </a:lnTo>
                  <a:lnTo>
                    <a:pt x="65095" y="249323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4" y="249323"/>
                  </a:lnTo>
                  <a:lnTo>
                    <a:pt x="414156" y="219764"/>
                  </a:lnTo>
                  <a:lnTo>
                    <a:pt x="436561" y="184875"/>
                  </a:lnTo>
                  <a:lnTo>
                    <a:pt x="444500" y="146050"/>
                  </a:lnTo>
                  <a:lnTo>
                    <a:pt x="436561" y="107224"/>
                  </a:lnTo>
                  <a:lnTo>
                    <a:pt x="414156" y="72335"/>
                  </a:lnTo>
                  <a:lnTo>
                    <a:pt x="379404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01850" y="45148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50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6" y="19940"/>
                  </a:lnTo>
                  <a:lnTo>
                    <a:pt x="163167" y="5217"/>
                  </a:lnTo>
                  <a:lnTo>
                    <a:pt x="222250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4" y="42777"/>
                  </a:lnTo>
                  <a:lnTo>
                    <a:pt x="414156" y="72335"/>
                  </a:lnTo>
                  <a:lnTo>
                    <a:pt x="436561" y="107224"/>
                  </a:lnTo>
                  <a:lnTo>
                    <a:pt x="444500" y="146050"/>
                  </a:lnTo>
                  <a:lnTo>
                    <a:pt x="436561" y="184875"/>
                  </a:lnTo>
                  <a:lnTo>
                    <a:pt x="414156" y="219764"/>
                  </a:lnTo>
                  <a:lnTo>
                    <a:pt x="379404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50" y="292099"/>
                  </a:lnTo>
                  <a:lnTo>
                    <a:pt x="163167" y="286882"/>
                  </a:lnTo>
                  <a:lnTo>
                    <a:pt x="110076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5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220889" y="4559941"/>
            <a:ext cx="1206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d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251200" y="5232400"/>
            <a:ext cx="495300" cy="431800"/>
            <a:chOff x="3251200" y="5232400"/>
            <a:chExt cx="495300" cy="431800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63900" y="5245099"/>
              <a:ext cx="482600" cy="330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63900" y="5245099"/>
              <a:ext cx="152731" cy="1086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76600" y="5245099"/>
              <a:ext cx="342900" cy="4191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76600" y="5245099"/>
              <a:ext cx="140031" cy="10864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257550" y="5238749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222250" y="0"/>
                  </a:moveTo>
                  <a:lnTo>
                    <a:pt x="163167" y="5217"/>
                  </a:lnTo>
                  <a:lnTo>
                    <a:pt x="110076" y="19940"/>
                  </a:lnTo>
                  <a:lnTo>
                    <a:pt x="65095" y="42776"/>
                  </a:lnTo>
                  <a:lnTo>
                    <a:pt x="30343" y="72335"/>
                  </a:lnTo>
                  <a:lnTo>
                    <a:pt x="7938" y="107224"/>
                  </a:lnTo>
                  <a:lnTo>
                    <a:pt x="0" y="146050"/>
                  </a:lnTo>
                  <a:lnTo>
                    <a:pt x="7938" y="184875"/>
                  </a:lnTo>
                  <a:lnTo>
                    <a:pt x="30343" y="219763"/>
                  </a:lnTo>
                  <a:lnTo>
                    <a:pt x="65095" y="249322"/>
                  </a:lnTo>
                  <a:lnTo>
                    <a:pt x="110076" y="272159"/>
                  </a:lnTo>
                  <a:lnTo>
                    <a:pt x="163167" y="286882"/>
                  </a:lnTo>
                  <a:lnTo>
                    <a:pt x="222250" y="292100"/>
                  </a:lnTo>
                  <a:lnTo>
                    <a:pt x="281332" y="286882"/>
                  </a:lnTo>
                  <a:lnTo>
                    <a:pt x="334423" y="272159"/>
                  </a:lnTo>
                  <a:lnTo>
                    <a:pt x="379403" y="249322"/>
                  </a:lnTo>
                  <a:lnTo>
                    <a:pt x="414155" y="219763"/>
                  </a:lnTo>
                  <a:lnTo>
                    <a:pt x="436559" y="184875"/>
                  </a:lnTo>
                  <a:lnTo>
                    <a:pt x="444498" y="146050"/>
                  </a:lnTo>
                  <a:lnTo>
                    <a:pt x="436559" y="107224"/>
                  </a:lnTo>
                  <a:lnTo>
                    <a:pt x="414155" y="72335"/>
                  </a:lnTo>
                  <a:lnTo>
                    <a:pt x="379403" y="42776"/>
                  </a:lnTo>
                  <a:lnTo>
                    <a:pt x="334423" y="19940"/>
                  </a:lnTo>
                  <a:lnTo>
                    <a:pt x="281332" y="5217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57550" y="5238750"/>
              <a:ext cx="444500" cy="292100"/>
            </a:xfrm>
            <a:custGeom>
              <a:avLst/>
              <a:gdLst/>
              <a:ahLst/>
              <a:cxnLst/>
              <a:rect l="l" t="t" r="r" b="b"/>
              <a:pathLst>
                <a:path w="444500" h="292100">
                  <a:moveTo>
                    <a:pt x="0" y="146049"/>
                  </a:moveTo>
                  <a:lnTo>
                    <a:pt x="7938" y="107224"/>
                  </a:lnTo>
                  <a:lnTo>
                    <a:pt x="30343" y="72335"/>
                  </a:lnTo>
                  <a:lnTo>
                    <a:pt x="65095" y="42777"/>
                  </a:lnTo>
                  <a:lnTo>
                    <a:pt x="110075" y="19940"/>
                  </a:lnTo>
                  <a:lnTo>
                    <a:pt x="163166" y="5217"/>
                  </a:lnTo>
                  <a:lnTo>
                    <a:pt x="222249" y="0"/>
                  </a:lnTo>
                  <a:lnTo>
                    <a:pt x="281332" y="5217"/>
                  </a:lnTo>
                  <a:lnTo>
                    <a:pt x="334423" y="19940"/>
                  </a:lnTo>
                  <a:lnTo>
                    <a:pt x="379403" y="42777"/>
                  </a:lnTo>
                  <a:lnTo>
                    <a:pt x="414155" y="72335"/>
                  </a:lnTo>
                  <a:lnTo>
                    <a:pt x="436560" y="107224"/>
                  </a:lnTo>
                  <a:lnTo>
                    <a:pt x="444499" y="146049"/>
                  </a:lnTo>
                  <a:lnTo>
                    <a:pt x="436560" y="184875"/>
                  </a:lnTo>
                  <a:lnTo>
                    <a:pt x="414155" y="219764"/>
                  </a:lnTo>
                  <a:lnTo>
                    <a:pt x="379403" y="249322"/>
                  </a:lnTo>
                  <a:lnTo>
                    <a:pt x="334423" y="272159"/>
                  </a:lnTo>
                  <a:lnTo>
                    <a:pt x="281332" y="286882"/>
                  </a:lnTo>
                  <a:lnTo>
                    <a:pt x="222249" y="292100"/>
                  </a:lnTo>
                  <a:lnTo>
                    <a:pt x="163166" y="286882"/>
                  </a:lnTo>
                  <a:lnTo>
                    <a:pt x="110075" y="272159"/>
                  </a:lnTo>
                  <a:lnTo>
                    <a:pt x="65095" y="249322"/>
                  </a:lnTo>
                  <a:lnTo>
                    <a:pt x="30343" y="219764"/>
                  </a:lnTo>
                  <a:lnTo>
                    <a:pt x="7938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375993" y="5280386"/>
            <a:ext cx="11048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095498" y="4146550"/>
            <a:ext cx="1395095" cy="2152650"/>
            <a:chOff x="2095498" y="4146550"/>
            <a:chExt cx="1395095" cy="2152650"/>
          </a:xfrm>
        </p:grpSpPr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08199" y="5867400"/>
              <a:ext cx="495300" cy="330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8199" y="5867400"/>
              <a:ext cx="157276" cy="10950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33599" y="5867400"/>
              <a:ext cx="317500" cy="4318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3599" y="5867400"/>
              <a:ext cx="131876" cy="10950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101849" y="58610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228600" y="0"/>
                  </a:moveTo>
                  <a:lnTo>
                    <a:pt x="167829" y="5217"/>
                  </a:lnTo>
                  <a:lnTo>
                    <a:pt x="113221" y="19940"/>
                  </a:lnTo>
                  <a:lnTo>
                    <a:pt x="66955" y="42777"/>
                  </a:lnTo>
                  <a:lnTo>
                    <a:pt x="31210" y="72336"/>
                  </a:lnTo>
                  <a:lnTo>
                    <a:pt x="8165" y="107224"/>
                  </a:lnTo>
                  <a:lnTo>
                    <a:pt x="0" y="146050"/>
                  </a:lnTo>
                  <a:lnTo>
                    <a:pt x="8165" y="184875"/>
                  </a:lnTo>
                  <a:lnTo>
                    <a:pt x="31210" y="219764"/>
                  </a:lnTo>
                  <a:lnTo>
                    <a:pt x="66955" y="249323"/>
                  </a:lnTo>
                  <a:lnTo>
                    <a:pt x="113221" y="272159"/>
                  </a:lnTo>
                  <a:lnTo>
                    <a:pt x="167829" y="286882"/>
                  </a:lnTo>
                  <a:lnTo>
                    <a:pt x="228600" y="292100"/>
                  </a:lnTo>
                  <a:lnTo>
                    <a:pt x="289370" y="286882"/>
                  </a:lnTo>
                  <a:lnTo>
                    <a:pt x="343978" y="272159"/>
                  </a:lnTo>
                  <a:lnTo>
                    <a:pt x="390244" y="249323"/>
                  </a:lnTo>
                  <a:lnTo>
                    <a:pt x="425989" y="219764"/>
                  </a:lnTo>
                  <a:lnTo>
                    <a:pt x="449034" y="184875"/>
                  </a:lnTo>
                  <a:lnTo>
                    <a:pt x="457200" y="146050"/>
                  </a:lnTo>
                  <a:lnTo>
                    <a:pt x="449034" y="107224"/>
                  </a:lnTo>
                  <a:lnTo>
                    <a:pt x="425989" y="72336"/>
                  </a:lnTo>
                  <a:lnTo>
                    <a:pt x="390244" y="42777"/>
                  </a:lnTo>
                  <a:lnTo>
                    <a:pt x="343978" y="19940"/>
                  </a:lnTo>
                  <a:lnTo>
                    <a:pt x="289370" y="52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01850" y="5861050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0" y="146049"/>
                  </a:moveTo>
                  <a:lnTo>
                    <a:pt x="8165" y="107224"/>
                  </a:lnTo>
                  <a:lnTo>
                    <a:pt x="31210" y="72335"/>
                  </a:lnTo>
                  <a:lnTo>
                    <a:pt x="66955" y="42777"/>
                  </a:lnTo>
                  <a:lnTo>
                    <a:pt x="113221" y="19940"/>
                  </a:lnTo>
                  <a:lnTo>
                    <a:pt x="167829" y="5217"/>
                  </a:lnTo>
                  <a:lnTo>
                    <a:pt x="228600" y="0"/>
                  </a:lnTo>
                  <a:lnTo>
                    <a:pt x="289371" y="5217"/>
                  </a:lnTo>
                  <a:lnTo>
                    <a:pt x="343978" y="19940"/>
                  </a:lnTo>
                  <a:lnTo>
                    <a:pt x="390244" y="42777"/>
                  </a:lnTo>
                  <a:lnTo>
                    <a:pt x="425989" y="72335"/>
                  </a:lnTo>
                  <a:lnTo>
                    <a:pt x="449034" y="107224"/>
                  </a:lnTo>
                  <a:lnTo>
                    <a:pt x="457200" y="146049"/>
                  </a:lnTo>
                  <a:lnTo>
                    <a:pt x="449034" y="184875"/>
                  </a:lnTo>
                  <a:lnTo>
                    <a:pt x="425989" y="219764"/>
                  </a:lnTo>
                  <a:lnTo>
                    <a:pt x="390244" y="249322"/>
                  </a:lnTo>
                  <a:lnTo>
                    <a:pt x="343978" y="272159"/>
                  </a:lnTo>
                  <a:lnTo>
                    <a:pt x="289371" y="286883"/>
                  </a:lnTo>
                  <a:lnTo>
                    <a:pt x="228600" y="292100"/>
                  </a:lnTo>
                  <a:lnTo>
                    <a:pt x="167829" y="286883"/>
                  </a:lnTo>
                  <a:lnTo>
                    <a:pt x="113221" y="272159"/>
                  </a:lnTo>
                  <a:lnTo>
                    <a:pt x="66955" y="249322"/>
                  </a:lnTo>
                  <a:lnTo>
                    <a:pt x="31210" y="219764"/>
                  </a:lnTo>
                  <a:lnTo>
                    <a:pt x="8165" y="184875"/>
                  </a:lnTo>
                  <a:lnTo>
                    <a:pt x="0" y="146049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279243" y="4146549"/>
              <a:ext cx="1211580" cy="1868170"/>
            </a:xfrm>
            <a:custGeom>
              <a:avLst/>
              <a:gdLst/>
              <a:ahLst/>
              <a:cxnLst/>
              <a:rect l="l" t="t" r="r" b="b"/>
              <a:pathLst>
                <a:path w="1211579" h="1868170">
                  <a:moveTo>
                    <a:pt x="102400" y="258330"/>
                  </a:moveTo>
                  <a:lnTo>
                    <a:pt x="57556" y="294170"/>
                  </a:lnTo>
                  <a:lnTo>
                    <a:pt x="57556" y="0"/>
                  </a:lnTo>
                  <a:lnTo>
                    <a:pt x="44843" y="0"/>
                  </a:lnTo>
                  <a:lnTo>
                    <a:pt x="44843" y="294170"/>
                  </a:lnTo>
                  <a:lnTo>
                    <a:pt x="0" y="258330"/>
                  </a:lnTo>
                  <a:lnTo>
                    <a:pt x="51206" y="360629"/>
                  </a:lnTo>
                  <a:lnTo>
                    <a:pt x="102400" y="258330"/>
                  </a:lnTo>
                  <a:close/>
                </a:path>
                <a:path w="1211579" h="1868170">
                  <a:moveTo>
                    <a:pt x="1039228" y="1136294"/>
                  </a:moveTo>
                  <a:lnTo>
                    <a:pt x="1019238" y="1104112"/>
                  </a:lnTo>
                  <a:lnTo>
                    <a:pt x="1014222" y="1096048"/>
                  </a:lnTo>
                  <a:lnTo>
                    <a:pt x="978865" y="1039101"/>
                  </a:lnTo>
                  <a:lnTo>
                    <a:pt x="985913" y="1096048"/>
                  </a:lnTo>
                  <a:lnTo>
                    <a:pt x="206933" y="616902"/>
                  </a:lnTo>
                  <a:lnTo>
                    <a:pt x="203593" y="622312"/>
                  </a:lnTo>
                  <a:lnTo>
                    <a:pt x="197243" y="622312"/>
                  </a:lnTo>
                  <a:lnTo>
                    <a:pt x="198259" y="1699006"/>
                  </a:lnTo>
                  <a:lnTo>
                    <a:pt x="153403" y="1663217"/>
                  </a:lnTo>
                  <a:lnTo>
                    <a:pt x="204698" y="1765477"/>
                  </a:lnTo>
                  <a:lnTo>
                    <a:pt x="237871" y="1699018"/>
                  </a:lnTo>
                  <a:lnTo>
                    <a:pt x="218059" y="1699018"/>
                  </a:lnTo>
                  <a:lnTo>
                    <a:pt x="237871" y="1699006"/>
                  </a:lnTo>
                  <a:lnTo>
                    <a:pt x="255790" y="1663115"/>
                  </a:lnTo>
                  <a:lnTo>
                    <a:pt x="210985" y="1699006"/>
                  </a:lnTo>
                  <a:lnTo>
                    <a:pt x="209956" y="633679"/>
                  </a:lnTo>
                  <a:lnTo>
                    <a:pt x="979246" y="1106855"/>
                  </a:lnTo>
                  <a:lnTo>
                    <a:pt x="925195" y="1126223"/>
                  </a:lnTo>
                  <a:lnTo>
                    <a:pt x="1039228" y="1136294"/>
                  </a:lnTo>
                  <a:close/>
                </a:path>
                <a:path w="1211579" h="1868170">
                  <a:moveTo>
                    <a:pt x="1211110" y="1389938"/>
                  </a:moveTo>
                  <a:lnTo>
                    <a:pt x="1205230" y="1378673"/>
                  </a:lnTo>
                  <a:lnTo>
                    <a:pt x="335851" y="1831352"/>
                  </a:lnTo>
                  <a:lnTo>
                    <a:pt x="346938" y="1775053"/>
                  </a:lnTo>
                  <a:lnTo>
                    <a:pt x="279806" y="1867700"/>
                  </a:lnTo>
                  <a:lnTo>
                    <a:pt x="394258" y="1865782"/>
                  </a:lnTo>
                  <a:lnTo>
                    <a:pt x="341731" y="1842617"/>
                  </a:lnTo>
                  <a:lnTo>
                    <a:pt x="348030" y="1839328"/>
                  </a:lnTo>
                  <a:lnTo>
                    <a:pt x="363359" y="1831352"/>
                  </a:lnTo>
                  <a:lnTo>
                    <a:pt x="1211110" y="1389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096959" y="2666176"/>
            <a:ext cx="1209040" cy="2089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730"/>
              </a:lnSpc>
              <a:spcBef>
                <a:spcPts val="95"/>
              </a:spcBef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(y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&lt;=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0){</a:t>
            </a:r>
            <a:endParaRPr sz="2300">
              <a:latin typeface="Calibri"/>
              <a:cs typeface="Calibri"/>
            </a:endParaRPr>
          </a:p>
          <a:p>
            <a:pPr marR="30480" algn="ctr">
              <a:lnSpc>
                <a:spcPts val="2700"/>
              </a:lnSpc>
            </a:pPr>
            <a:r>
              <a:rPr sz="2300" spc="-10" dirty="0">
                <a:latin typeface="Calibri"/>
                <a:cs typeface="Calibri"/>
              </a:rPr>
              <a:t>x=y+1;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00"/>
              </a:lnSpc>
            </a:pPr>
            <a:r>
              <a:rPr sz="2300" spc="-50" dirty="0">
                <a:latin typeface="Calibri"/>
                <a:cs typeface="Calibri"/>
              </a:rPr>
              <a:t>}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00"/>
              </a:lnSpc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(y&gt;0){</a:t>
            </a:r>
            <a:endParaRPr sz="2300">
              <a:latin typeface="Calibri"/>
              <a:cs typeface="Calibri"/>
            </a:endParaRPr>
          </a:p>
          <a:p>
            <a:pPr marL="203200">
              <a:lnSpc>
                <a:spcPts val="2700"/>
              </a:lnSpc>
            </a:pPr>
            <a:r>
              <a:rPr sz="2300" spc="-40" dirty="0">
                <a:latin typeface="Calibri"/>
                <a:cs typeface="Calibri"/>
              </a:rPr>
              <a:t>x=y-</a:t>
            </a:r>
            <a:r>
              <a:rPr sz="2300" spc="-25" dirty="0">
                <a:latin typeface="Calibri"/>
                <a:cs typeface="Calibri"/>
              </a:rPr>
              <a:t>1;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30"/>
              </a:lnSpc>
            </a:pPr>
            <a:r>
              <a:rPr sz="2300" spc="-50" dirty="0">
                <a:latin typeface="Calibri"/>
                <a:cs typeface="Calibri"/>
              </a:rPr>
              <a:t>}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21077" y="5929749"/>
            <a:ext cx="889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500" spc="-50" dirty="0">
                <a:latin typeface="Times New Roman"/>
                <a:cs typeface="Times New Roman"/>
              </a:rPr>
              <a:t>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2" name="object 62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23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84507" y="2830503"/>
            <a:ext cx="3886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0" dirty="0">
                <a:latin typeface="Calibri"/>
                <a:cs typeface="Calibri"/>
              </a:rPr>
              <a:t>y&lt;=0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11930" y="3252597"/>
            <a:ext cx="2997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Calibri"/>
                <a:cs typeface="Calibri"/>
              </a:rPr>
              <a:t>y&gt;0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758848" y="4781320"/>
            <a:ext cx="2997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Calibri"/>
                <a:cs typeface="Calibri"/>
              </a:rPr>
              <a:t>y&gt;0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964004" y="5237724"/>
            <a:ext cx="3886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0" dirty="0">
                <a:latin typeface="Calibri"/>
                <a:cs typeface="Calibri"/>
              </a:rPr>
              <a:t>y&lt;=0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830" y="1373400"/>
            <a:ext cx="484632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Critère</a:t>
            </a:r>
            <a:r>
              <a:rPr sz="3900" b="1" spc="-42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21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Couverture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24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130" y="2212207"/>
            <a:ext cx="8208645" cy="327406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12700" algn="just">
              <a:lnSpc>
                <a:spcPct val="117700"/>
              </a:lnSpc>
              <a:spcBef>
                <a:spcPts val="15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55" dirty="0">
                <a:solidFill>
                  <a:srgbClr val="404040"/>
                </a:solidFill>
                <a:latin typeface="Comic Sans MS"/>
                <a:cs typeface="Comic Sans MS"/>
              </a:rPr>
              <a:t>critère</a:t>
            </a:r>
            <a:r>
              <a:rPr sz="2300" b="1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ensemble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règles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définies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sous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certaines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hypothèses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décrivent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propriétés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qu'un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jeu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tests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doit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satisfaire</a:t>
            </a:r>
            <a:endParaRPr sz="2300">
              <a:latin typeface="Comic Sans MS"/>
              <a:cs typeface="Comic Sans MS"/>
            </a:endParaRPr>
          </a:p>
          <a:p>
            <a:pPr marL="12700" marR="760095" indent="12700">
              <a:lnSpc>
                <a:spcPct val="117700"/>
              </a:lnSpc>
              <a:spcBef>
                <a:spcPts val="184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r>
              <a:rPr sz="2300" b="1" spc="-4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mesure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utilisée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génie </a:t>
            </a:r>
            <a:r>
              <a:rPr sz="2300" b="1" spc="-30" dirty="0">
                <a:solidFill>
                  <a:srgbClr val="404040"/>
                </a:solidFill>
                <a:latin typeface="Comic Sans MS"/>
                <a:cs typeface="Comic Sans MS"/>
              </a:rPr>
              <a:t>logiciel</a:t>
            </a:r>
            <a:r>
              <a:rPr sz="2300" b="1" spc="-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décrire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taux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r>
              <a:rPr sz="2300" b="1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source</a:t>
            </a:r>
            <a:r>
              <a:rPr sz="2300" b="1" spc="-3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testé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d'un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endParaRPr sz="2300">
              <a:latin typeface="Comic Sans MS"/>
              <a:cs typeface="Comic Sans MS"/>
            </a:endParaRPr>
          </a:p>
          <a:p>
            <a:pPr marL="672465" indent="-570865">
              <a:lnSpc>
                <a:spcPct val="100000"/>
              </a:lnSpc>
              <a:spcBef>
                <a:spcPts val="1435"/>
              </a:spcBef>
              <a:buClr>
                <a:srgbClr val="D34817"/>
              </a:buClr>
              <a:buFont typeface="Calibri"/>
              <a:buChar char="◦"/>
              <a:tabLst>
                <a:tab pos="672465" algn="l"/>
              </a:tabLst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Mesure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qualité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effectués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830" y="1373400"/>
            <a:ext cx="484632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Critère</a:t>
            </a:r>
            <a:r>
              <a:rPr sz="3900" b="1" spc="-42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21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Couverture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25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6772" y="2148167"/>
            <a:ext cx="8046720" cy="314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48789">
              <a:lnSpc>
                <a:spcPct val="126699"/>
              </a:lnSpc>
              <a:spcBef>
                <a:spcPts val="10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existe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nombreux</a:t>
            </a:r>
            <a:r>
              <a:rPr sz="23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critères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couvertures 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Exemples</a:t>
            </a:r>
            <a:r>
              <a:rPr sz="2300" u="sng" spc="-1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de</a:t>
            </a:r>
            <a:r>
              <a:rPr sz="2300" u="sng" spc="-1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critères</a:t>
            </a:r>
            <a:r>
              <a:rPr sz="2300" u="sng" spc="-17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de</a:t>
            </a:r>
            <a:r>
              <a:rPr sz="2300" u="sng" spc="-1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couverture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omic Sans MS"/>
              <a:cs typeface="Comic Sans MS"/>
            </a:endParaRPr>
          </a:p>
          <a:p>
            <a:pPr marL="88900" marR="5080" indent="469900">
              <a:lnSpc>
                <a:spcPts val="2400"/>
              </a:lnSpc>
              <a:buAutoNum type="arabicPeriod"/>
              <a:tabLst>
                <a:tab pos="558800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b="1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fonctions</a:t>
            </a:r>
            <a:r>
              <a:rPr sz="2300" b="1" spc="-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50" i="1" spc="-45" dirty="0">
                <a:solidFill>
                  <a:srgbClr val="404040"/>
                </a:solidFill>
                <a:latin typeface="Comic Sans MS"/>
                <a:cs typeface="Comic Sans MS"/>
              </a:rPr>
              <a:t>Function</a:t>
            </a:r>
            <a:r>
              <a:rPr sz="2350" i="1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Coverage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 fonction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a-t-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elle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été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appelée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?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85"/>
              </a:spcBef>
              <a:buClr>
                <a:srgbClr val="404040"/>
              </a:buClr>
              <a:buFont typeface="Comic Sans MS"/>
              <a:buAutoNum type="arabicPeriod"/>
            </a:pPr>
            <a:endParaRPr sz="2300">
              <a:latin typeface="Comic Sans MS"/>
              <a:cs typeface="Comic Sans MS"/>
            </a:endParaRPr>
          </a:p>
          <a:p>
            <a:pPr marL="88900" marR="386080" indent="469900">
              <a:lnSpc>
                <a:spcPts val="2400"/>
              </a:lnSpc>
              <a:buAutoNum type="arabicPeriod"/>
              <a:tabLst>
                <a:tab pos="558800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b="1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instructions</a:t>
            </a:r>
            <a:r>
              <a:rPr sz="2300" b="1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Statement</a:t>
            </a:r>
            <a:r>
              <a:rPr sz="2350" i="1" spc="-3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Coverage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-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ligne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a-t-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elle</a:t>
            </a:r>
            <a:r>
              <a:rPr sz="2300" spc="-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été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exécutée</a:t>
            </a:r>
            <a:r>
              <a:rPr sz="2300" spc="-3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vérifiée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?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830" y="1373400"/>
            <a:ext cx="484632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Critère</a:t>
            </a:r>
            <a:r>
              <a:rPr sz="3900" b="1" spc="-42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21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Couverture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26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062" y="2261391"/>
            <a:ext cx="8008620" cy="376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2595">
              <a:lnSpc>
                <a:spcPct val="126699"/>
              </a:lnSpc>
              <a:spcBef>
                <a:spcPts val="10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existe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nombreux</a:t>
            </a:r>
            <a:r>
              <a:rPr sz="23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critères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couvertures 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Exemples</a:t>
            </a:r>
            <a:r>
              <a:rPr sz="2300" u="sng" spc="-1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de</a:t>
            </a:r>
            <a:r>
              <a:rPr sz="2300" u="sng" spc="-1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critères</a:t>
            </a:r>
            <a:r>
              <a:rPr sz="2300" u="sng" spc="-17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de</a:t>
            </a:r>
            <a:r>
              <a:rPr sz="2300" u="sng" spc="-1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couverture</a:t>
            </a:r>
            <a:endParaRPr sz="2300">
              <a:latin typeface="Comic Sans MS"/>
              <a:cs typeface="Comic Sans MS"/>
            </a:endParaRPr>
          </a:p>
          <a:p>
            <a:pPr marL="88900" marR="43180" indent="469900" algn="just">
              <a:lnSpc>
                <a:spcPct val="88500"/>
              </a:lnSpc>
              <a:spcBef>
                <a:spcPts val="3110"/>
              </a:spcBef>
              <a:buAutoNum type="arabicPeriod" startAt="3"/>
              <a:tabLst>
                <a:tab pos="558800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b="1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points</a:t>
            </a:r>
            <a:r>
              <a:rPr sz="2300" b="1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b="1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50" i="1" spc="-35" dirty="0">
                <a:solidFill>
                  <a:srgbClr val="404040"/>
                </a:solidFill>
                <a:latin typeface="Comic Sans MS"/>
                <a:cs typeface="Comic Sans MS"/>
              </a:rPr>
              <a:t>Condition</a:t>
            </a:r>
            <a:r>
              <a:rPr sz="2350" i="1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40" dirty="0">
                <a:solidFill>
                  <a:srgbClr val="404040"/>
                </a:solidFill>
                <a:latin typeface="Comic Sans MS"/>
                <a:cs typeface="Comic Sans MS"/>
              </a:rPr>
              <a:t>Coverage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-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point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décision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a-t-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été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exécuté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vérifié ?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(Le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point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teste-t-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qu'il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faut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?)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Clr>
                <a:srgbClr val="404040"/>
              </a:buClr>
              <a:buFont typeface="Comic Sans MS"/>
              <a:buAutoNum type="arabicPeriod" startAt="3"/>
            </a:pPr>
            <a:endParaRPr sz="2300">
              <a:latin typeface="Comic Sans MS"/>
              <a:cs typeface="Comic Sans MS"/>
            </a:endParaRPr>
          </a:p>
          <a:p>
            <a:pPr marL="88900" marR="5080" indent="469900">
              <a:lnSpc>
                <a:spcPct val="88500"/>
              </a:lnSpc>
              <a:buAutoNum type="arabicPeriod" startAt="3"/>
              <a:tabLst>
                <a:tab pos="558800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b="1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chemins</a:t>
            </a:r>
            <a:r>
              <a:rPr sz="2300" b="1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d'exécution</a:t>
            </a:r>
            <a:r>
              <a:rPr sz="2300" b="1" spc="-3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Path</a:t>
            </a:r>
            <a:r>
              <a:rPr sz="2350" i="1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Coverage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-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chemin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d’excution</a:t>
            </a:r>
            <a:r>
              <a:rPr sz="2300" spc="-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possible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a-t-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été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exécuté</a:t>
            </a:r>
            <a:r>
              <a:rPr sz="2300" spc="-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vérifié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?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11" rIns="0" bIns="0" rtlCol="0">
            <a:spAutoFit/>
          </a:bodyPr>
          <a:lstStyle/>
          <a:p>
            <a:pPr marL="1650364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4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Nœuds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27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7359" y="2194890"/>
            <a:ext cx="8145145" cy="27997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704215" indent="12700">
              <a:lnSpc>
                <a:spcPts val="2400"/>
              </a:lnSpc>
              <a:spcBef>
                <a:spcPts val="47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Exige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couvrir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tous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nœuds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CFG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(toutes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les instructions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code)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2300">
              <a:latin typeface="Comic Sans MS"/>
              <a:cs typeface="Comic Sans MS"/>
            </a:endParaRPr>
          </a:p>
          <a:p>
            <a:pPr marL="12700" marR="5080" indent="12700">
              <a:lnSpc>
                <a:spcPts val="2500"/>
              </a:lnSpc>
              <a:spcBef>
                <a:spcPts val="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Important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car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impossible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découvrir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anomalies</a:t>
            </a:r>
            <a:r>
              <a:rPr sz="2300" spc="-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si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instructions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contenant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exécutées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Comic Sans MS"/>
              <a:cs typeface="Comic Sans MS"/>
            </a:endParaRPr>
          </a:p>
          <a:p>
            <a:pPr marL="63500">
              <a:lnSpc>
                <a:spcPct val="100000"/>
              </a:lnSpc>
            </a:pP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Taux</a:t>
            </a:r>
            <a:r>
              <a:rPr sz="2300" b="1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=|{nœuds</a:t>
            </a:r>
            <a:r>
              <a:rPr sz="2300" spc="-2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couverts}|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/|{nœuds}|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11" rIns="0" bIns="0" rtlCol="0">
            <a:spAutoFit/>
          </a:bodyPr>
          <a:lstStyle/>
          <a:p>
            <a:pPr marL="1650364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4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Nœuds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28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49" y="2194890"/>
            <a:ext cx="8091170" cy="29013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88900" marR="72390" indent="12700">
              <a:lnSpc>
                <a:spcPts val="2400"/>
              </a:lnSpc>
              <a:spcBef>
                <a:spcPts val="47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pratique,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plusieurs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entrées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(données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test)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exécutent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mêmes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instructions</a:t>
            </a:r>
            <a:endParaRPr sz="2300">
              <a:latin typeface="Comic Sans MS"/>
              <a:cs typeface="Comic Sans MS"/>
            </a:endParaRPr>
          </a:p>
          <a:p>
            <a:pPr marL="2602865" marR="5080" indent="-1625600">
              <a:lnSpc>
                <a:spcPts val="2500"/>
              </a:lnSpc>
              <a:spcBef>
                <a:spcPts val="1714"/>
              </a:spcBef>
            </a:pP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Pouvons-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nous</a:t>
            </a:r>
            <a:r>
              <a:rPr sz="2300" spc="-3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minimiser</a:t>
            </a:r>
            <a:r>
              <a:rPr sz="2300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les</a:t>
            </a:r>
            <a:r>
              <a:rPr sz="2300" spc="-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cas</a:t>
            </a:r>
            <a:r>
              <a:rPr sz="2300" spc="-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3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test</a:t>
            </a:r>
            <a:r>
              <a:rPr sz="2300" spc="-1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à</a:t>
            </a:r>
            <a:r>
              <a:rPr sz="23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utiliser</a:t>
            </a:r>
            <a:r>
              <a:rPr sz="2300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pour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couvrir</a:t>
            </a:r>
            <a:r>
              <a:rPr sz="2300" spc="-1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tous</a:t>
            </a:r>
            <a:r>
              <a:rPr sz="2300" spc="-1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les</a:t>
            </a:r>
            <a:r>
              <a:rPr sz="2300" spc="-1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nœuds?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765"/>
              </a:spcBef>
            </a:pPr>
            <a:endParaRPr sz="2300">
              <a:latin typeface="Comic Sans MS"/>
              <a:cs typeface="Comic Sans MS"/>
            </a:endParaRPr>
          </a:p>
          <a:p>
            <a:pPr marL="88900" marR="116839" indent="-76200">
              <a:lnSpc>
                <a:spcPts val="2400"/>
              </a:lnSpc>
            </a:pP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Incomplétude</a:t>
            </a:r>
            <a:r>
              <a:rPr sz="2300" b="1" u="sng" spc="-3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2300" b="1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taux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100%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nœuds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signifie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tous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latin typeface="Comic Sans MS"/>
                <a:cs typeface="Comic Sans MS"/>
              </a:rPr>
              <a:t>les</a:t>
            </a:r>
            <a:r>
              <a:rPr sz="2300" spc="-25" dirty="0">
                <a:latin typeface="Comic Sans MS"/>
                <a:cs typeface="Comic Sans MS"/>
              </a:rPr>
              <a:t> cas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11" rIns="0" bIns="0" rtlCol="0">
            <a:spAutoFit/>
          </a:bodyPr>
          <a:lstStyle/>
          <a:p>
            <a:pPr marL="1711325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4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Nœuds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49" y="2245646"/>
            <a:ext cx="733425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1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1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100" spc="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instructions</a:t>
            </a:r>
            <a:r>
              <a:rPr sz="21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peut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mener</a:t>
            </a:r>
            <a:r>
              <a:rPr sz="21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1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l’incomplétude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49" y="2875023"/>
            <a:ext cx="1727200" cy="29819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800" b="1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(x</a:t>
            </a:r>
            <a:r>
              <a:rPr sz="1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&lt;</a:t>
            </a:r>
            <a:r>
              <a:rPr sz="1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0){</a:t>
            </a:r>
            <a:endParaRPr sz="18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x</a:t>
            </a:r>
            <a:r>
              <a:rPr sz="18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-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800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urier New"/>
                <a:cs typeface="Courier New"/>
              </a:rPr>
              <a:t>1/x;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----------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800" b="1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(x</a:t>
            </a:r>
            <a:r>
              <a:rPr sz="1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&lt;</a:t>
            </a:r>
            <a:r>
              <a:rPr sz="1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0){</a:t>
            </a:r>
            <a:endParaRPr sz="18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x</a:t>
            </a:r>
            <a:r>
              <a:rPr sz="18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-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1800" i="1" spc="-10" dirty="0">
                <a:solidFill>
                  <a:srgbClr val="FF0000"/>
                </a:solidFill>
                <a:latin typeface="Courier New"/>
                <a:cs typeface="Courier New"/>
              </a:rPr>
              <a:t>else</a:t>
            </a:r>
            <a:endParaRPr sz="18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235"/>
              </a:spcBef>
            </a:pPr>
            <a:r>
              <a:rPr sz="1800" i="1" spc="-10" dirty="0">
                <a:solidFill>
                  <a:srgbClr val="FF0000"/>
                </a:solidFill>
                <a:latin typeface="Courier New"/>
                <a:cs typeface="Courier New"/>
              </a:rPr>
              <a:t>null;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800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urier New"/>
                <a:cs typeface="Courier New"/>
              </a:rPr>
              <a:t>1/x;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700" y="3390899"/>
            <a:ext cx="5626100" cy="2514600"/>
            <a:chOff x="3822700" y="3390899"/>
            <a:chExt cx="5626100" cy="25146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0800" y="3403600"/>
              <a:ext cx="5588000" cy="2501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54450" y="3397250"/>
              <a:ext cx="5549900" cy="2463800"/>
            </a:xfrm>
            <a:custGeom>
              <a:avLst/>
              <a:gdLst/>
              <a:ahLst/>
              <a:cxnLst/>
              <a:rect l="l" t="t" r="r" b="b"/>
              <a:pathLst>
                <a:path w="5549900" h="2463800">
                  <a:moveTo>
                    <a:pt x="5549900" y="0"/>
                  </a:moveTo>
                  <a:lnTo>
                    <a:pt x="0" y="0"/>
                  </a:lnTo>
                  <a:lnTo>
                    <a:pt x="0" y="2463800"/>
                  </a:lnTo>
                  <a:lnTo>
                    <a:pt x="5549900" y="2463800"/>
                  </a:lnTo>
                  <a:lnTo>
                    <a:pt x="554990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54450" y="3397250"/>
              <a:ext cx="5549900" cy="2463800"/>
            </a:xfrm>
            <a:custGeom>
              <a:avLst/>
              <a:gdLst/>
              <a:ahLst/>
              <a:cxnLst/>
              <a:rect l="l" t="t" r="r" b="b"/>
              <a:pathLst>
                <a:path w="5549900" h="2463800">
                  <a:moveTo>
                    <a:pt x="0" y="0"/>
                  </a:moveTo>
                  <a:lnTo>
                    <a:pt x="5549899" y="0"/>
                  </a:lnTo>
                  <a:lnTo>
                    <a:pt x="5549899" y="2463800"/>
                  </a:lnTo>
                  <a:lnTo>
                    <a:pt x="0" y="2463800"/>
                  </a:lnTo>
                  <a:lnTo>
                    <a:pt x="0" y="0"/>
                  </a:lnTo>
                  <a:close/>
                </a:path>
              </a:pathLst>
            </a:custGeom>
            <a:ln w="127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22700" y="3390900"/>
              <a:ext cx="5575300" cy="2451100"/>
            </a:xfrm>
            <a:custGeom>
              <a:avLst/>
              <a:gdLst/>
              <a:ahLst/>
              <a:cxnLst/>
              <a:rect l="l" t="t" r="r" b="b"/>
              <a:pathLst>
                <a:path w="5575300" h="2451100">
                  <a:moveTo>
                    <a:pt x="5575300" y="0"/>
                  </a:moveTo>
                  <a:lnTo>
                    <a:pt x="0" y="0"/>
                  </a:lnTo>
                  <a:lnTo>
                    <a:pt x="0" y="2451100"/>
                  </a:lnTo>
                  <a:lnTo>
                    <a:pt x="5575300" y="2451100"/>
                  </a:lnTo>
                  <a:lnTo>
                    <a:pt x="557530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22700" y="3403358"/>
            <a:ext cx="5575300" cy="2383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omic Sans MS"/>
                <a:cs typeface="Comic Sans MS"/>
              </a:rPr>
              <a:t>Un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cas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x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&lt;</a:t>
            </a:r>
            <a:r>
              <a:rPr sz="1900" spc="-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0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couvre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toutes</a:t>
            </a:r>
            <a:r>
              <a:rPr sz="1900" spc="7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les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instructions.</a:t>
            </a:r>
            <a:endParaRPr sz="1900">
              <a:latin typeface="Comic Sans MS"/>
              <a:cs typeface="Comic Sans MS"/>
            </a:endParaRPr>
          </a:p>
          <a:p>
            <a:pPr marL="67310" marR="521970">
              <a:lnSpc>
                <a:spcPct val="100800"/>
              </a:lnSpc>
              <a:spcBef>
                <a:spcPts val="2400"/>
              </a:spcBef>
            </a:pPr>
            <a:r>
              <a:rPr sz="1900" dirty="0">
                <a:latin typeface="Comic Sans MS"/>
                <a:cs typeface="Comic Sans MS"/>
              </a:rPr>
              <a:t>Mais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cas</a:t>
            </a:r>
            <a:r>
              <a:rPr sz="1900" spc="-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x</a:t>
            </a:r>
            <a:r>
              <a:rPr sz="1900" spc="-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&gt;=</a:t>
            </a:r>
            <a:r>
              <a:rPr sz="1900" spc="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0</a:t>
            </a:r>
            <a:r>
              <a:rPr sz="1900" spc="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n’est</a:t>
            </a:r>
            <a:r>
              <a:rPr sz="1900" spc="9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pas</a:t>
            </a:r>
            <a:r>
              <a:rPr sz="1900" spc="-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pris</a:t>
            </a:r>
            <a:r>
              <a:rPr sz="1900" spc="1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en </a:t>
            </a:r>
            <a:r>
              <a:rPr sz="1900" spc="-10" dirty="0">
                <a:latin typeface="Comic Sans MS"/>
                <a:cs typeface="Comic Sans MS"/>
              </a:rPr>
              <a:t>compte. </a:t>
            </a:r>
            <a:r>
              <a:rPr sz="1900" dirty="0">
                <a:latin typeface="Comic Sans MS"/>
                <a:cs typeface="Comic Sans MS"/>
              </a:rPr>
              <a:t>Le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code</a:t>
            </a:r>
            <a:r>
              <a:rPr sz="1900" spc="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implicite</a:t>
            </a:r>
            <a:r>
              <a:rPr sz="1900" spc="1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(en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italique</a:t>
            </a:r>
            <a:r>
              <a:rPr sz="1900" spc="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et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rouge)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n’est </a:t>
            </a:r>
            <a:r>
              <a:rPr sz="1900" dirty="0">
                <a:latin typeface="Comic Sans MS"/>
                <a:cs typeface="Comic Sans MS"/>
              </a:rPr>
              <a:t>pas</a:t>
            </a:r>
            <a:r>
              <a:rPr sz="1900" spc="-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couvert</a:t>
            </a:r>
            <a:endParaRPr sz="1900">
              <a:latin typeface="Comic Sans MS"/>
              <a:cs typeface="Comic Sans MS"/>
            </a:endParaRPr>
          </a:p>
          <a:p>
            <a:pPr marL="67310" marR="443230">
              <a:lnSpc>
                <a:spcPct val="100800"/>
              </a:lnSpc>
              <a:spcBef>
                <a:spcPts val="2395"/>
              </a:spcBef>
            </a:pPr>
            <a:r>
              <a:rPr sz="1900" dirty="0">
                <a:latin typeface="Comic Sans MS"/>
                <a:cs typeface="Comic Sans MS"/>
              </a:rPr>
              <a:t>Ne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rien</a:t>
            </a:r>
            <a:r>
              <a:rPr sz="1900" spc="10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faire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pour</a:t>
            </a:r>
            <a:r>
              <a:rPr sz="1900" spc="-1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cas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x</a:t>
            </a:r>
            <a:r>
              <a:rPr sz="1900" spc="-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&gt;=</a:t>
            </a:r>
            <a:r>
              <a:rPr sz="1900" spc="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0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peut</a:t>
            </a:r>
            <a:r>
              <a:rPr sz="1900" spc="10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s’avérer </a:t>
            </a:r>
            <a:r>
              <a:rPr sz="1900" dirty="0">
                <a:latin typeface="Comic Sans MS"/>
                <a:cs typeface="Comic Sans MS"/>
              </a:rPr>
              <a:t>faux,</a:t>
            </a:r>
            <a:r>
              <a:rPr sz="1900" spc="-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voire</a:t>
            </a:r>
            <a:r>
              <a:rPr sz="1900" spc="10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dangereux</a:t>
            </a:r>
            <a:r>
              <a:rPr sz="1900" spc="1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et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devrait</a:t>
            </a:r>
            <a:r>
              <a:rPr sz="1900" spc="1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être</a:t>
            </a:r>
            <a:r>
              <a:rPr sz="1900" spc="1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testé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29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11" rIns="0" bIns="0" rtlCol="0">
            <a:spAutoFit/>
          </a:bodyPr>
          <a:lstStyle/>
          <a:p>
            <a:pPr marL="1739264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9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6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Arêtes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30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49" y="2216655"/>
            <a:ext cx="7998459" cy="281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0565" indent="12700">
              <a:lnSpc>
                <a:spcPct val="108600"/>
              </a:lnSpc>
              <a:spcBef>
                <a:spcPts val="100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Exige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visiter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au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moins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fois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toutes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arêtes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du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300">
              <a:latin typeface="Comic Sans MS"/>
              <a:cs typeface="Comic Sans MS"/>
            </a:endParaRPr>
          </a:p>
          <a:p>
            <a:pPr marL="241300" marR="5080" indent="-139700">
              <a:lnSpc>
                <a:spcPct val="112200"/>
              </a:lnSpc>
              <a:buChar char="◦"/>
              <a:tabLst>
                <a:tab pos="241300" algn="l"/>
                <a:tab pos="672465" algn="l"/>
              </a:tabLst>
            </a:pPr>
            <a:r>
              <a:rPr sz="2600" dirty="0">
                <a:solidFill>
                  <a:srgbClr val="D34817"/>
                </a:solidFill>
                <a:latin typeface="Calibri"/>
                <a:cs typeface="Calibri"/>
              </a:rPr>
              <a:t>	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Exercer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toutes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conditions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gouvernent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r>
              <a:rPr sz="2300" spc="-22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avec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vraies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fausses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300">
              <a:latin typeface="Comic Sans MS"/>
              <a:cs typeface="Comic Sans MS"/>
            </a:endParaRPr>
          </a:p>
          <a:p>
            <a:pPr marL="63500">
              <a:lnSpc>
                <a:spcPct val="100000"/>
              </a:lnSpc>
            </a:pP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Taux</a:t>
            </a:r>
            <a:r>
              <a:rPr sz="2300" b="1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=|{Arêtes</a:t>
            </a:r>
            <a:r>
              <a:rPr sz="2300" spc="-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couvertes}|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/|{Arêtes}|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5168" y="6322010"/>
            <a:ext cx="2038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5118" y="6349563"/>
            <a:ext cx="1784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25" dirty="0">
                <a:latin typeface="Times New Roman"/>
                <a:cs typeface="Times New Roman"/>
              </a:rPr>
              <a:t>31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440" rIns="0" bIns="0" rtlCol="0">
            <a:spAutoFit/>
          </a:bodyPr>
          <a:lstStyle/>
          <a:p>
            <a:pPr marL="3351529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Exercice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062" y="2218671"/>
            <a:ext cx="3403600" cy="42386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900" b="1" dirty="0">
                <a:solidFill>
                  <a:srgbClr val="404040"/>
                </a:solidFill>
                <a:latin typeface="Comic Sans MS"/>
                <a:cs typeface="Comic Sans MS"/>
              </a:rPr>
              <a:t>int</a:t>
            </a:r>
            <a:r>
              <a:rPr sz="1900" b="1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mic Sans MS"/>
                <a:cs typeface="Comic Sans MS"/>
              </a:rPr>
              <a:t>puissance(int</a:t>
            </a:r>
            <a:r>
              <a:rPr sz="1900" b="1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mic Sans MS"/>
                <a:cs typeface="Comic Sans MS"/>
              </a:rPr>
              <a:t>X,</a:t>
            </a:r>
            <a:r>
              <a:rPr sz="1900" b="1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mic Sans MS"/>
                <a:cs typeface="Comic Sans MS"/>
              </a:rPr>
              <a:t>int</a:t>
            </a:r>
            <a:r>
              <a:rPr sz="1900" b="1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mic Sans MS"/>
                <a:cs typeface="Comic Sans MS"/>
              </a:rPr>
              <a:t>N)</a:t>
            </a:r>
            <a:r>
              <a:rPr sz="1900" b="1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spc="-50" dirty="0">
                <a:solidFill>
                  <a:srgbClr val="404040"/>
                </a:solidFill>
                <a:latin typeface="Comic Sans MS"/>
                <a:cs typeface="Comic Sans MS"/>
              </a:rPr>
              <a:t>{</a:t>
            </a:r>
            <a:endParaRPr sz="1900">
              <a:latin typeface="Comic Sans MS"/>
              <a:cs typeface="Comic Sans MS"/>
            </a:endParaRPr>
          </a:p>
          <a:p>
            <a:pPr marL="749300" marR="1595755">
              <a:lnSpc>
                <a:spcPct val="109600"/>
              </a:lnSpc>
              <a:spcBef>
                <a:spcPts val="100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int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1;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int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N;</a:t>
            </a:r>
            <a:endParaRPr sz="1900">
              <a:latin typeface="Comic Sans MS"/>
              <a:cs typeface="Comic Sans MS"/>
            </a:endParaRPr>
          </a:p>
          <a:p>
            <a:pPr marL="749300">
              <a:lnSpc>
                <a:spcPct val="100000"/>
              </a:lnSpc>
              <a:spcBef>
                <a:spcPts val="320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while(P</a:t>
            </a:r>
            <a:r>
              <a:rPr sz="1900" spc="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&gt;=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1)</a:t>
            </a:r>
            <a:r>
              <a:rPr sz="19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mic Sans MS"/>
                <a:cs typeface="Comic Sans MS"/>
              </a:rPr>
              <a:t>{</a:t>
            </a:r>
            <a:endParaRPr sz="1900">
              <a:latin typeface="Comic Sans MS"/>
              <a:cs typeface="Comic Sans MS"/>
            </a:endParaRPr>
          </a:p>
          <a:p>
            <a:pPr marL="1485900">
              <a:lnSpc>
                <a:spcPct val="100000"/>
              </a:lnSpc>
              <a:spcBef>
                <a:spcPts val="215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if(P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mod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!=</a:t>
            </a:r>
            <a:r>
              <a:rPr sz="19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0)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mic Sans MS"/>
                <a:cs typeface="Comic Sans MS"/>
              </a:rPr>
              <a:t>{</a:t>
            </a:r>
            <a:endParaRPr sz="1900">
              <a:latin typeface="Comic Sans MS"/>
              <a:cs typeface="Comic Sans MS"/>
            </a:endParaRPr>
          </a:p>
          <a:p>
            <a:pPr marL="2222500" marR="33020">
              <a:lnSpc>
                <a:spcPct val="109600"/>
              </a:lnSpc>
              <a:spcBef>
                <a:spcPts val="100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1;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*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X;</a:t>
            </a:r>
            <a:endParaRPr sz="1900">
              <a:latin typeface="Comic Sans MS"/>
              <a:cs typeface="Comic Sans MS"/>
            </a:endParaRPr>
          </a:p>
          <a:p>
            <a:pPr marL="1485900">
              <a:lnSpc>
                <a:spcPct val="100000"/>
              </a:lnSpc>
              <a:spcBef>
                <a:spcPts val="320"/>
              </a:spcBef>
            </a:pPr>
            <a:r>
              <a:rPr sz="1900" spc="-50" dirty="0">
                <a:solidFill>
                  <a:srgbClr val="404040"/>
                </a:solidFill>
                <a:latin typeface="Comic Sans MS"/>
                <a:cs typeface="Comic Sans MS"/>
              </a:rPr>
              <a:t>}</a:t>
            </a:r>
            <a:endParaRPr sz="1900">
              <a:latin typeface="Comic Sans MS"/>
              <a:cs typeface="Comic Sans MS"/>
            </a:endParaRPr>
          </a:p>
          <a:p>
            <a:pPr marL="1485900" marR="784860">
              <a:lnSpc>
                <a:spcPts val="2600"/>
              </a:lnSpc>
              <a:spcBef>
                <a:spcPts val="35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*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S;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P/2;</a:t>
            </a:r>
            <a:endParaRPr sz="1900">
              <a:latin typeface="Comic Sans MS"/>
              <a:cs typeface="Comic Sans MS"/>
            </a:endParaRPr>
          </a:p>
          <a:p>
            <a:pPr marL="749300">
              <a:lnSpc>
                <a:spcPct val="100000"/>
              </a:lnSpc>
              <a:spcBef>
                <a:spcPts val="75"/>
              </a:spcBef>
            </a:pPr>
            <a:r>
              <a:rPr sz="1900" spc="-50" dirty="0">
                <a:solidFill>
                  <a:srgbClr val="404040"/>
                </a:solidFill>
                <a:latin typeface="Comic Sans MS"/>
                <a:cs typeface="Comic Sans MS"/>
              </a:rPr>
              <a:t>}</a:t>
            </a:r>
            <a:endParaRPr sz="1900">
              <a:latin typeface="Comic Sans MS"/>
              <a:cs typeface="Comic Sans MS"/>
            </a:endParaRPr>
          </a:p>
          <a:p>
            <a:pPr marL="749300">
              <a:lnSpc>
                <a:spcPct val="100000"/>
              </a:lnSpc>
              <a:spcBef>
                <a:spcPts val="320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return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S;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900" spc="-50" dirty="0">
                <a:solidFill>
                  <a:srgbClr val="404040"/>
                </a:solidFill>
                <a:latin typeface="Comic Sans MS"/>
                <a:cs typeface="Comic Sans MS"/>
              </a:rPr>
              <a:t>}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8484" y="2427577"/>
            <a:ext cx="4080510" cy="34721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0" marR="229870" indent="-368300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381000" algn="l"/>
              </a:tabLst>
            </a:pP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Construire</a:t>
            </a:r>
            <a:r>
              <a:rPr sz="2300" spc="-15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le</a:t>
            </a:r>
            <a:r>
              <a:rPr sz="2300" spc="-10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graphe</a:t>
            </a:r>
            <a:r>
              <a:rPr sz="2300" spc="-8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de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contrôle</a:t>
            </a:r>
            <a:r>
              <a:rPr sz="2300" spc="-15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la</a:t>
            </a:r>
            <a:r>
              <a:rPr sz="2300" spc="3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fonction</a:t>
            </a:r>
            <a:r>
              <a:rPr sz="2300" spc="-1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ci-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contre</a:t>
            </a:r>
            <a:endParaRPr sz="2300">
              <a:latin typeface="Comic Sans MS"/>
              <a:cs typeface="Comic Sans MS"/>
            </a:endParaRPr>
          </a:p>
          <a:p>
            <a:pPr marL="381000" marR="96520" indent="-368300">
              <a:lnSpc>
                <a:spcPts val="2700"/>
              </a:lnSpc>
              <a:spcBef>
                <a:spcPts val="2775"/>
              </a:spcBef>
              <a:buFont typeface="Arial MT"/>
              <a:buChar char="•"/>
              <a:tabLst>
                <a:tab pos="381000" algn="l"/>
              </a:tabLst>
            </a:pP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Donner</a:t>
            </a:r>
            <a:r>
              <a:rPr sz="2300" spc="-1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un</a:t>
            </a:r>
            <a:r>
              <a:rPr sz="2300" spc="-9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jeu</a:t>
            </a:r>
            <a:r>
              <a:rPr sz="2300" spc="-8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test</a:t>
            </a:r>
            <a:r>
              <a:rPr sz="2300" spc="-7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pour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couvrir</a:t>
            </a:r>
            <a:r>
              <a:rPr sz="2300" spc="-13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tous</a:t>
            </a:r>
            <a:r>
              <a:rPr sz="2300" spc="-14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les</a:t>
            </a:r>
            <a:r>
              <a:rPr sz="2300" spc="-14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nœuds</a:t>
            </a:r>
            <a:endParaRPr sz="2300">
              <a:latin typeface="Comic Sans MS"/>
              <a:cs typeface="Comic Sans MS"/>
            </a:endParaRPr>
          </a:p>
          <a:p>
            <a:pPr marL="381000" marR="5080" indent="-368300">
              <a:lnSpc>
                <a:spcPts val="2700"/>
              </a:lnSpc>
              <a:spcBef>
                <a:spcPts val="2690"/>
              </a:spcBef>
              <a:buFont typeface="Arial MT"/>
              <a:buChar char="•"/>
              <a:tabLst>
                <a:tab pos="381000" algn="l"/>
              </a:tabLst>
            </a:pP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Donner</a:t>
            </a:r>
            <a:r>
              <a:rPr sz="2300" spc="-1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un</a:t>
            </a:r>
            <a:r>
              <a:rPr sz="2300" spc="-9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jeu</a:t>
            </a:r>
            <a:r>
              <a:rPr sz="2300" spc="-8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test</a:t>
            </a:r>
            <a:r>
              <a:rPr sz="2300" spc="-7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pour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couvrir</a:t>
            </a:r>
            <a:r>
              <a:rPr sz="2300" spc="-10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toutes</a:t>
            </a:r>
            <a:r>
              <a:rPr sz="2300" spc="-21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les</a:t>
            </a:r>
            <a:r>
              <a:rPr sz="2300" spc="-114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branches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(arêtes</a:t>
            </a:r>
            <a:r>
              <a:rPr sz="2300" spc="-204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ou</a:t>
            </a:r>
            <a:r>
              <a:rPr sz="2300" spc="-114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arcs)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440" rIns="0" bIns="0" rtlCol="0">
            <a:spAutoFit/>
          </a:bodyPr>
          <a:lstStyle/>
          <a:p>
            <a:pPr marL="1269365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5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Conditions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32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0502" y="5530553"/>
            <a:ext cx="448246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25" dirty="0">
                <a:solidFill>
                  <a:srgbClr val="FF0000"/>
                </a:solidFill>
                <a:latin typeface="Tahoma"/>
                <a:cs typeface="Tahoma"/>
              </a:rPr>
              <a:t>Comparer</a:t>
            </a:r>
            <a:r>
              <a:rPr sz="2300" spc="-1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0000"/>
                </a:solidFill>
                <a:latin typeface="Tahoma"/>
                <a:cs typeface="Tahoma"/>
              </a:rPr>
              <a:t>ces</a:t>
            </a:r>
            <a:r>
              <a:rPr sz="23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0000"/>
                </a:solidFill>
                <a:latin typeface="Tahoma"/>
                <a:cs typeface="Tahoma"/>
              </a:rPr>
              <a:t>deux</a:t>
            </a:r>
            <a:r>
              <a:rPr sz="23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0000"/>
                </a:solidFill>
                <a:latin typeface="Tahoma"/>
                <a:cs typeface="Tahoma"/>
              </a:rPr>
              <a:t>bouts</a:t>
            </a:r>
            <a:r>
              <a:rPr sz="2300" spc="-1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0000"/>
                </a:solidFill>
                <a:latin typeface="Tahoma"/>
                <a:cs typeface="Tahoma"/>
              </a:rPr>
              <a:t>de</a:t>
            </a:r>
            <a:r>
              <a:rPr sz="2300" spc="-1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ahoma"/>
                <a:cs typeface="Tahoma"/>
              </a:rPr>
              <a:t>code?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2000" y="3225800"/>
            <a:ext cx="2400300" cy="168910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26670" rIns="0" bIns="0" rtlCol="0">
            <a:spAutoFit/>
          </a:bodyPr>
          <a:lstStyle/>
          <a:p>
            <a:pPr marL="257810" marR="865505" indent="-190500">
              <a:lnSpc>
                <a:spcPts val="2700"/>
              </a:lnSpc>
              <a:spcBef>
                <a:spcPts val="210"/>
              </a:spcBef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(c1</a:t>
            </a:r>
            <a:r>
              <a:rPr sz="2300" spc="-1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&amp;&amp;</a:t>
            </a:r>
            <a:r>
              <a:rPr sz="2300" spc="-10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c2) st;</a:t>
            </a:r>
            <a:endParaRPr sz="2300">
              <a:latin typeface="Calibri"/>
              <a:cs typeface="Calibri"/>
            </a:endParaRPr>
          </a:p>
          <a:p>
            <a:pPr marL="67310">
              <a:lnSpc>
                <a:spcPts val="2585"/>
              </a:lnSpc>
            </a:pPr>
            <a:r>
              <a:rPr sz="2300" spc="-20" dirty="0">
                <a:latin typeface="Calibri"/>
                <a:cs typeface="Calibri"/>
              </a:rPr>
              <a:t>else</a:t>
            </a:r>
            <a:endParaRPr sz="2300">
              <a:latin typeface="Calibri"/>
              <a:cs typeface="Calibri"/>
            </a:endParaRPr>
          </a:p>
          <a:p>
            <a:pPr marL="257810">
              <a:lnSpc>
                <a:spcPts val="2730"/>
              </a:lnSpc>
            </a:pPr>
            <a:r>
              <a:rPr sz="2300" spc="-25" dirty="0">
                <a:latin typeface="Calibri"/>
                <a:cs typeface="Calibri"/>
              </a:rPr>
              <a:t>sf;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400" y="2590800"/>
            <a:ext cx="3111500" cy="256540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3970" rIns="0" bIns="0" rtlCol="0">
            <a:spAutoFit/>
          </a:bodyPr>
          <a:lstStyle/>
          <a:p>
            <a:pPr marL="75565">
              <a:lnSpc>
                <a:spcPts val="2730"/>
              </a:lnSpc>
              <a:spcBef>
                <a:spcPts val="110"/>
              </a:spcBef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(c1)</a:t>
            </a:r>
            <a:endParaRPr sz="2300">
              <a:latin typeface="Calibri"/>
              <a:cs typeface="Calibri"/>
            </a:endParaRPr>
          </a:p>
          <a:p>
            <a:pPr marL="405765">
              <a:lnSpc>
                <a:spcPts val="2700"/>
              </a:lnSpc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(c2)</a:t>
            </a:r>
            <a:endParaRPr sz="2300">
              <a:latin typeface="Calibri"/>
              <a:cs typeface="Calibri"/>
            </a:endParaRPr>
          </a:p>
          <a:p>
            <a:pPr marL="469265" marR="2148840" indent="190500">
              <a:lnSpc>
                <a:spcPts val="2700"/>
              </a:lnSpc>
              <a:spcBef>
                <a:spcPts val="110"/>
              </a:spcBef>
            </a:pPr>
            <a:r>
              <a:rPr sz="2300" spc="-25" dirty="0">
                <a:latin typeface="Calibri"/>
                <a:cs typeface="Calibri"/>
              </a:rPr>
              <a:t>st; </a:t>
            </a:r>
            <a:r>
              <a:rPr sz="2300" spc="-20" dirty="0">
                <a:latin typeface="Calibri"/>
                <a:cs typeface="Calibri"/>
              </a:rPr>
              <a:t>else</a:t>
            </a:r>
            <a:endParaRPr sz="2300">
              <a:latin typeface="Calibri"/>
              <a:cs typeface="Calibri"/>
            </a:endParaRPr>
          </a:p>
          <a:p>
            <a:pPr marL="723265">
              <a:lnSpc>
                <a:spcPts val="2585"/>
              </a:lnSpc>
            </a:pPr>
            <a:r>
              <a:rPr sz="2300" spc="-25" dirty="0">
                <a:latin typeface="Calibri"/>
                <a:cs typeface="Calibri"/>
              </a:rPr>
              <a:t>sf;</a:t>
            </a:r>
            <a:endParaRPr sz="2300">
              <a:latin typeface="Calibri"/>
              <a:cs typeface="Calibri"/>
            </a:endParaRPr>
          </a:p>
          <a:p>
            <a:pPr marR="2564765" algn="r">
              <a:lnSpc>
                <a:spcPts val="2730"/>
              </a:lnSpc>
            </a:pPr>
            <a:r>
              <a:rPr sz="2300" spc="-20" dirty="0">
                <a:latin typeface="Calibri"/>
                <a:cs typeface="Calibri"/>
              </a:rPr>
              <a:t>else</a:t>
            </a:r>
            <a:endParaRPr sz="2300">
              <a:latin typeface="Calibri"/>
              <a:cs typeface="Calibri"/>
            </a:endParaRPr>
          </a:p>
          <a:p>
            <a:pPr marR="2555875" algn="r">
              <a:lnSpc>
                <a:spcPct val="100000"/>
              </a:lnSpc>
              <a:spcBef>
                <a:spcPts val="35"/>
              </a:spcBef>
            </a:pPr>
            <a:r>
              <a:rPr sz="2300" spc="-25" dirty="0">
                <a:latin typeface="Calibri"/>
                <a:cs typeface="Calibri"/>
              </a:rPr>
              <a:t>sf;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440" rIns="0" bIns="0" rtlCol="0">
            <a:spAutoFit/>
          </a:bodyPr>
          <a:lstStyle/>
          <a:p>
            <a:pPr marL="1116330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5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Conditions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33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6638" y="3852570"/>
            <a:ext cx="6606540" cy="22117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Deux</a:t>
            </a:r>
            <a:r>
              <a:rPr sz="2300" spc="-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programmes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équivalents</a:t>
            </a:r>
            <a:endParaRPr sz="2300">
              <a:latin typeface="Comic Sans MS"/>
              <a:cs typeface="Comic Sans MS"/>
            </a:endParaRPr>
          </a:p>
          <a:p>
            <a:pPr marL="227329" indent="-138430">
              <a:lnSpc>
                <a:spcPct val="100000"/>
              </a:lnSpc>
              <a:spcBef>
                <a:spcPts val="140"/>
              </a:spcBef>
              <a:buClr>
                <a:srgbClr val="D34817"/>
              </a:buClr>
              <a:buFont typeface="Calibri"/>
              <a:buChar char="◦"/>
              <a:tabLst>
                <a:tab pos="227329" algn="l"/>
              </a:tabLst>
            </a:pP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Lequel</a:t>
            </a:r>
            <a:r>
              <a:rPr sz="19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écririez</a:t>
            </a:r>
            <a:r>
              <a:rPr sz="1900" spc="1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omic Sans MS"/>
                <a:cs typeface="Comic Sans MS"/>
              </a:rPr>
              <a:t>vous?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arêtes</a:t>
            </a:r>
            <a:endParaRPr sz="2300">
              <a:latin typeface="Comic Sans MS"/>
              <a:cs typeface="Comic Sans MS"/>
            </a:endParaRPr>
          </a:p>
          <a:p>
            <a:pPr marL="227329" indent="-138430">
              <a:lnSpc>
                <a:spcPct val="100000"/>
              </a:lnSpc>
              <a:spcBef>
                <a:spcPts val="140"/>
              </a:spcBef>
              <a:buClr>
                <a:srgbClr val="D34817"/>
              </a:buClr>
              <a:buFont typeface="Calibri"/>
              <a:buChar char="◦"/>
              <a:tabLst>
                <a:tab pos="227329" algn="l"/>
                <a:tab pos="40760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19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couvrirait</a:t>
            </a:r>
            <a:r>
              <a:rPr sz="1900" spc="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obligatoirement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	les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arêtes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“masquées”,</a:t>
            </a:r>
            <a:endParaRPr sz="1900">
              <a:latin typeface="Comic Sans MS"/>
              <a:cs typeface="Comic Sans MS"/>
            </a:endParaRPr>
          </a:p>
          <a:p>
            <a:pPr marL="227329" indent="-138430">
              <a:lnSpc>
                <a:spcPct val="100000"/>
              </a:lnSpc>
              <a:spcBef>
                <a:spcPts val="215"/>
              </a:spcBef>
              <a:buClr>
                <a:srgbClr val="D34817"/>
              </a:buClr>
              <a:buFont typeface="Calibri"/>
              <a:buChar char="◦"/>
              <a:tabLst>
                <a:tab pos="227329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ex.: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C2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false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peut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être</a:t>
            </a:r>
            <a:r>
              <a:rPr sz="1900" spc="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conditions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peut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faire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2100" y="2324100"/>
            <a:ext cx="2006600" cy="119380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43180" rIns="0" bIns="0" rtlCol="0">
            <a:spAutoFit/>
          </a:bodyPr>
          <a:lstStyle/>
          <a:p>
            <a:pPr marL="194945" marR="996315" indent="-127000">
              <a:lnSpc>
                <a:spcPts val="1700"/>
              </a:lnSpc>
              <a:spcBef>
                <a:spcPts val="340"/>
              </a:spcBef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(c1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&amp;&amp;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c2) st;</a:t>
            </a:r>
            <a:endParaRPr sz="1500">
              <a:latin typeface="Calibri"/>
              <a:cs typeface="Calibri"/>
            </a:endParaRPr>
          </a:p>
          <a:p>
            <a:pPr marL="67945">
              <a:lnSpc>
                <a:spcPts val="1655"/>
              </a:lnSpc>
            </a:pPr>
            <a:r>
              <a:rPr sz="1500" spc="-20" dirty="0">
                <a:latin typeface="Calibri"/>
                <a:cs typeface="Calibri"/>
              </a:rPr>
              <a:t>else</a:t>
            </a:r>
            <a:endParaRPr sz="15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sz="1500" spc="-25" dirty="0">
                <a:latin typeface="Calibri"/>
                <a:cs typeface="Calibri"/>
              </a:rPr>
              <a:t>sf;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4600" y="2298700"/>
            <a:ext cx="2590800" cy="163830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29209" rIns="0" bIns="0" rtlCol="0">
            <a:spAutoFit/>
          </a:bodyPr>
          <a:lstStyle/>
          <a:p>
            <a:pPr marR="2001520" algn="ctr">
              <a:lnSpc>
                <a:spcPts val="1750"/>
              </a:lnSpc>
              <a:spcBef>
                <a:spcPts val="229"/>
              </a:spcBef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(c1)</a:t>
            </a:r>
            <a:endParaRPr sz="1500">
              <a:latin typeface="Calibri"/>
              <a:cs typeface="Calibri"/>
            </a:endParaRPr>
          </a:p>
          <a:p>
            <a:pPr marL="287020" marR="1856739" algn="ctr">
              <a:lnSpc>
                <a:spcPct val="97100"/>
              </a:lnSpc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(c2) </a:t>
            </a:r>
            <a:r>
              <a:rPr sz="1500" spc="-25" dirty="0">
                <a:latin typeface="Calibri"/>
                <a:cs typeface="Calibri"/>
              </a:rPr>
              <a:t>st; </a:t>
            </a:r>
            <a:r>
              <a:rPr sz="1500" spc="-20" dirty="0">
                <a:latin typeface="Calibri"/>
                <a:cs typeface="Calibri"/>
              </a:rPr>
              <a:t>else</a:t>
            </a:r>
            <a:endParaRPr sz="1500">
              <a:latin typeface="Calibri"/>
              <a:cs typeface="Calibri"/>
            </a:endParaRPr>
          </a:p>
          <a:p>
            <a:pPr marR="1410970" algn="ctr">
              <a:lnSpc>
                <a:spcPts val="1700"/>
              </a:lnSpc>
            </a:pPr>
            <a:r>
              <a:rPr sz="1500" spc="-25" dirty="0">
                <a:latin typeface="Calibri"/>
                <a:cs typeface="Calibri"/>
              </a:rPr>
              <a:t>sf;</a:t>
            </a:r>
            <a:endParaRPr sz="1500">
              <a:latin typeface="Calibri"/>
              <a:cs typeface="Calibri"/>
            </a:endParaRPr>
          </a:p>
          <a:p>
            <a:pPr marR="2213610" algn="r">
              <a:lnSpc>
                <a:spcPts val="1750"/>
              </a:lnSpc>
            </a:pPr>
            <a:r>
              <a:rPr sz="1500" spc="-20" dirty="0">
                <a:latin typeface="Calibri"/>
                <a:cs typeface="Calibri"/>
              </a:rPr>
              <a:t>else</a:t>
            </a:r>
            <a:endParaRPr sz="1500">
              <a:latin typeface="Calibri"/>
              <a:cs typeface="Calibri"/>
            </a:endParaRPr>
          </a:p>
          <a:p>
            <a:pPr marR="2193925" algn="r">
              <a:lnSpc>
                <a:spcPts val="1750"/>
              </a:lnSpc>
            </a:pPr>
            <a:r>
              <a:rPr sz="1500" spc="-25" dirty="0">
                <a:latin typeface="Calibri"/>
                <a:cs typeface="Calibri"/>
              </a:rPr>
              <a:t>sf;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2741" y="1404066"/>
            <a:ext cx="599884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5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Conditions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34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2410" y="2134723"/>
            <a:ext cx="826643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Exige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b="1" spc="-22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condition</a:t>
            </a:r>
            <a:r>
              <a:rPr sz="2300" b="1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atomique</a:t>
            </a:r>
            <a:r>
              <a:rPr sz="2300" b="1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(condition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contenant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2410" y="2233803"/>
            <a:ext cx="7573009" cy="2357755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aucun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opérateur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logique)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soit</a:t>
            </a:r>
            <a:r>
              <a:rPr sz="2300" b="1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évaluée</a:t>
            </a:r>
            <a:r>
              <a:rPr sz="2300" b="1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b="1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Vrai</a:t>
            </a:r>
            <a:r>
              <a:rPr sz="2300" b="1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b="1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Faux</a:t>
            </a:r>
            <a:endParaRPr sz="2300">
              <a:latin typeface="Comic Sans MS"/>
              <a:cs typeface="Comic Sans MS"/>
            </a:endParaRPr>
          </a:p>
          <a:p>
            <a:pPr marL="12700" marR="5080" indent="177800">
              <a:lnSpc>
                <a:spcPts val="2400"/>
              </a:lnSpc>
              <a:spcBef>
                <a:spcPts val="2115"/>
              </a:spcBef>
            </a:pPr>
            <a:r>
              <a:rPr sz="2350" i="1" spc="-40" dirty="0">
                <a:solidFill>
                  <a:srgbClr val="404040"/>
                </a:solidFill>
                <a:latin typeface="Comic Sans MS"/>
                <a:cs typeface="Comic Sans MS"/>
              </a:rPr>
              <a:t>Quelles</a:t>
            </a:r>
            <a:r>
              <a:rPr sz="2350" i="1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conditions</a:t>
            </a:r>
            <a:r>
              <a:rPr sz="2300" b="1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atomiques</a:t>
            </a:r>
            <a:r>
              <a:rPr sz="2300" b="1" spc="-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50" i="1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25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r>
              <a:rPr sz="2350" i="1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ont</a:t>
            </a:r>
            <a:r>
              <a:rPr sz="2350" i="1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25" dirty="0">
                <a:solidFill>
                  <a:srgbClr val="404040"/>
                </a:solidFill>
                <a:latin typeface="Comic Sans MS"/>
                <a:cs typeface="Comic Sans MS"/>
              </a:rPr>
              <a:t>été</a:t>
            </a:r>
            <a:r>
              <a:rPr sz="2350" i="1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évaluées </a:t>
            </a:r>
            <a:r>
              <a:rPr sz="2350" i="1" spc="-40" dirty="0">
                <a:solidFill>
                  <a:srgbClr val="404040"/>
                </a:solidFill>
                <a:latin typeface="Comic Sans MS"/>
                <a:cs typeface="Comic Sans MS"/>
              </a:rPr>
              <a:t>"vraies"</a:t>
            </a:r>
            <a:r>
              <a:rPr sz="2350" i="1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2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50" i="1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35" dirty="0">
                <a:solidFill>
                  <a:srgbClr val="404040"/>
                </a:solidFill>
                <a:latin typeface="Comic Sans MS"/>
                <a:cs typeface="Comic Sans MS"/>
              </a:rPr>
              <a:t>"fausses"</a:t>
            </a:r>
            <a:r>
              <a:rPr sz="2350" i="1" spc="-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?</a:t>
            </a:r>
            <a:endParaRPr sz="2300">
              <a:latin typeface="Comic Sans MS"/>
              <a:cs typeface="Comic Sans MS"/>
            </a:endParaRPr>
          </a:p>
          <a:p>
            <a:pPr marL="2133600" marR="279400" indent="-876300">
              <a:lnSpc>
                <a:spcPts val="2600"/>
              </a:lnSpc>
              <a:spcBef>
                <a:spcPts val="1935"/>
              </a:spcBef>
            </a:pP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La</a:t>
            </a:r>
            <a:r>
              <a:rPr sz="23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couverture</a:t>
            </a:r>
            <a:r>
              <a:rPr sz="2300" spc="-22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des</a:t>
            </a:r>
            <a:r>
              <a:rPr sz="2300" spc="-1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conditions</a:t>
            </a:r>
            <a:r>
              <a:rPr sz="2300" spc="-1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n’implique</a:t>
            </a:r>
            <a:r>
              <a:rPr sz="23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pas</a:t>
            </a:r>
            <a:r>
              <a:rPr sz="2300" spc="-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Comic Sans MS"/>
                <a:cs typeface="Comic Sans MS"/>
              </a:rPr>
              <a:t>la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couverture</a:t>
            </a:r>
            <a:r>
              <a:rPr sz="2300" spc="-22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300" spc="-1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toutes</a:t>
            </a:r>
            <a:r>
              <a:rPr sz="2300" spc="-1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les</a:t>
            </a:r>
            <a:r>
              <a:rPr sz="2300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arêtes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7753" y="5131665"/>
            <a:ext cx="1044575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50"/>
              </a:lnSpc>
              <a:spcBef>
                <a:spcPts val="95"/>
              </a:spcBef>
            </a:pPr>
            <a:r>
              <a:rPr sz="1500" dirty="0">
                <a:latin typeface="Calibri"/>
                <a:cs typeface="Calibri"/>
              </a:rPr>
              <a:t>If(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||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b)</a:t>
            </a:r>
            <a:endParaRPr sz="1500">
              <a:latin typeface="Calibri"/>
              <a:cs typeface="Calibri"/>
            </a:endParaRPr>
          </a:p>
          <a:p>
            <a:pPr marL="533400">
              <a:lnSpc>
                <a:spcPts val="1550"/>
              </a:lnSpc>
            </a:pPr>
            <a:r>
              <a:rPr sz="1500" spc="-10" dirty="0">
                <a:latin typeface="Calibri"/>
                <a:cs typeface="Calibri"/>
              </a:rPr>
              <a:t>//instr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600"/>
              </a:lnSpc>
            </a:pPr>
            <a:r>
              <a:rPr sz="1500" spc="-20" dirty="0">
                <a:latin typeface="Calibri"/>
                <a:cs typeface="Calibri"/>
              </a:rPr>
              <a:t>else</a:t>
            </a:r>
            <a:endParaRPr sz="1500">
              <a:latin typeface="Calibri"/>
              <a:cs typeface="Calibri"/>
            </a:endParaRPr>
          </a:p>
          <a:p>
            <a:pPr marL="533400">
              <a:lnSpc>
                <a:spcPts val="1700"/>
              </a:lnSpc>
            </a:pPr>
            <a:r>
              <a:rPr sz="1500" spc="-10" dirty="0">
                <a:latin typeface="Calibri"/>
                <a:cs typeface="Calibri"/>
              </a:rPr>
              <a:t>//instr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7781" y="5374333"/>
            <a:ext cx="1129665" cy="7766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455"/>
              </a:spcBef>
            </a:pPr>
            <a:r>
              <a:rPr sz="2600" spc="-55" dirty="0">
                <a:solidFill>
                  <a:srgbClr val="800000"/>
                </a:solidFill>
                <a:latin typeface="Calibri"/>
                <a:cs typeface="Calibri"/>
              </a:rPr>
              <a:t>a=T,</a:t>
            </a:r>
            <a:r>
              <a:rPr sz="2600" spc="-7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Calibri"/>
                <a:cs typeface="Calibri"/>
              </a:rPr>
              <a:t>b=F </a:t>
            </a:r>
            <a:r>
              <a:rPr sz="2600" spc="-60" dirty="0">
                <a:solidFill>
                  <a:srgbClr val="800000"/>
                </a:solidFill>
                <a:latin typeface="Calibri"/>
                <a:cs typeface="Calibri"/>
              </a:rPr>
              <a:t>a=F,</a:t>
            </a:r>
            <a:r>
              <a:rPr sz="2600" spc="-8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Calibri"/>
                <a:cs typeface="Calibri"/>
              </a:rPr>
              <a:t>b=T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2605" y="1373400"/>
            <a:ext cx="552958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5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Chemins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35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807" y="2145312"/>
            <a:ext cx="8235950" cy="3776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474345" indent="12700">
              <a:lnSpc>
                <a:spcPct val="99600"/>
              </a:lnSpc>
              <a:spcBef>
                <a:spcPts val="110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Exige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chemin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(conduisant</a:t>
            </a:r>
            <a:r>
              <a:rPr sz="2300" spc="-2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nœud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initial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nœud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final)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soit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traversé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3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pratique,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chemins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trop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grand,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sinon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infini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3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</a:pP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Certains</a:t>
            </a:r>
            <a:r>
              <a:rPr sz="2300" spc="-2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chemins</a:t>
            </a:r>
            <a:r>
              <a:rPr sz="2300" spc="-2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sont</a:t>
            </a:r>
            <a:r>
              <a:rPr sz="23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infaisables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3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Important</a:t>
            </a:r>
            <a:r>
              <a:rPr sz="2300" spc="-2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déterminer</a:t>
            </a:r>
            <a:r>
              <a:rPr sz="2300" spc="-2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“chemins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critiques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»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6503" y="1404066"/>
            <a:ext cx="53905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4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chemins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36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7347" y="2165753"/>
            <a:ext cx="4022090" cy="3814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0" marR="170815" indent="-368300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381000" algn="l"/>
              </a:tabLst>
            </a:pP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Construire</a:t>
            </a:r>
            <a:r>
              <a:rPr sz="2300" spc="-15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le</a:t>
            </a:r>
            <a:r>
              <a:rPr sz="2300" spc="-10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graphe</a:t>
            </a:r>
            <a:r>
              <a:rPr sz="2300" spc="-8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de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contrôle</a:t>
            </a:r>
            <a:r>
              <a:rPr sz="2300" spc="-15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la</a:t>
            </a:r>
            <a:r>
              <a:rPr sz="2300" spc="3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fonction</a:t>
            </a:r>
            <a:r>
              <a:rPr sz="2300" spc="-1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ci-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contre</a:t>
            </a:r>
            <a:endParaRPr sz="2300">
              <a:latin typeface="Comic Sans MS"/>
              <a:cs typeface="Comic Sans MS"/>
            </a:endParaRPr>
          </a:p>
          <a:p>
            <a:pPr marL="379730" marR="548640" indent="-367030" algn="just">
              <a:lnSpc>
                <a:spcPts val="2700"/>
              </a:lnSpc>
              <a:spcBef>
                <a:spcPts val="2775"/>
              </a:spcBef>
              <a:buFont typeface="Arial MT"/>
              <a:buChar char="•"/>
              <a:tabLst>
                <a:tab pos="381000" algn="l"/>
              </a:tabLst>
            </a:pP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Donner</a:t>
            </a:r>
            <a:r>
              <a:rPr sz="2300" spc="-16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une</a:t>
            </a:r>
            <a:r>
              <a:rPr sz="2300" spc="-14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jeu</a:t>
            </a:r>
            <a:r>
              <a:rPr sz="2300" spc="-6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test 	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pour</a:t>
            </a:r>
            <a:r>
              <a:rPr sz="2300" spc="-17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couvrir</a:t>
            </a:r>
            <a:r>
              <a:rPr sz="2300" spc="-11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toutes</a:t>
            </a:r>
            <a:r>
              <a:rPr sz="2300" spc="-16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les 	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arêtes</a:t>
            </a:r>
            <a:endParaRPr sz="2300">
              <a:latin typeface="Comic Sans MS"/>
              <a:cs typeface="Comic Sans MS"/>
            </a:endParaRPr>
          </a:p>
          <a:p>
            <a:pPr marL="379730" marR="5080" indent="-367030" algn="just">
              <a:lnSpc>
                <a:spcPts val="2700"/>
              </a:lnSpc>
              <a:spcBef>
                <a:spcPts val="2690"/>
              </a:spcBef>
              <a:buFont typeface="Arial MT"/>
              <a:buChar char="•"/>
              <a:tabLst>
                <a:tab pos="381000" algn="l"/>
              </a:tabLst>
            </a:pP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Donner</a:t>
            </a:r>
            <a:r>
              <a:rPr sz="2300" spc="-16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jeu</a:t>
            </a:r>
            <a:r>
              <a:rPr sz="2300" spc="-7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r>
              <a:rPr sz="2300" spc="-13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test</a:t>
            </a:r>
            <a:r>
              <a:rPr sz="2300" spc="-6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pour 	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couvrir</a:t>
            </a:r>
            <a:r>
              <a:rPr sz="2300" spc="-16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tous</a:t>
            </a:r>
            <a:r>
              <a:rPr sz="2300" spc="-114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les</a:t>
            </a:r>
            <a:r>
              <a:rPr sz="2300" spc="-11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chemins</a:t>
            </a:r>
            <a:r>
              <a:rPr sz="2300" spc="-15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de 	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contrôle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b="1" dirty="0">
                <a:latin typeface="Courier New"/>
                <a:cs typeface="Courier New"/>
              </a:rPr>
              <a:t>if</a:t>
            </a:r>
            <a:r>
              <a:rPr b="1" spc="25" dirty="0">
                <a:latin typeface="Courier New"/>
                <a:cs typeface="Courier New"/>
              </a:rPr>
              <a:t> </a:t>
            </a:r>
            <a:r>
              <a:rPr dirty="0"/>
              <a:t>(x!=</a:t>
            </a:r>
            <a:r>
              <a:rPr spc="125" dirty="0"/>
              <a:t> </a:t>
            </a:r>
            <a:r>
              <a:rPr spc="-25" dirty="0"/>
              <a:t>0)</a:t>
            </a:r>
          </a:p>
          <a:p>
            <a:pPr marL="749300">
              <a:lnSpc>
                <a:spcPct val="100000"/>
              </a:lnSpc>
              <a:spcBef>
                <a:spcPts val="920"/>
              </a:spcBef>
            </a:pPr>
            <a:r>
              <a:rPr dirty="0"/>
              <a:t>y</a:t>
            </a:r>
            <a:r>
              <a:rPr spc="20" dirty="0"/>
              <a:t> </a:t>
            </a:r>
            <a:r>
              <a:rPr dirty="0"/>
              <a:t>=</a:t>
            </a:r>
            <a:r>
              <a:rPr spc="20" dirty="0"/>
              <a:t> </a:t>
            </a:r>
            <a:r>
              <a:rPr spc="-25" dirty="0"/>
              <a:t>5;</a:t>
            </a: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b="1" spc="-20" dirty="0">
                <a:latin typeface="Courier New"/>
                <a:cs typeface="Courier New"/>
              </a:rPr>
              <a:t>else</a:t>
            </a:r>
          </a:p>
          <a:p>
            <a:pPr marL="749300">
              <a:lnSpc>
                <a:spcPct val="100000"/>
              </a:lnSpc>
              <a:spcBef>
                <a:spcPts val="920"/>
              </a:spcBef>
            </a:pPr>
            <a:r>
              <a:rPr dirty="0"/>
              <a:t>z</a:t>
            </a:r>
            <a:r>
              <a:rPr spc="20" dirty="0"/>
              <a:t> </a:t>
            </a:r>
            <a:r>
              <a:rPr dirty="0"/>
              <a:t>=</a:t>
            </a:r>
            <a:r>
              <a:rPr spc="20" dirty="0"/>
              <a:t> </a:t>
            </a:r>
            <a:r>
              <a:rPr dirty="0"/>
              <a:t>z</a:t>
            </a:r>
            <a:r>
              <a:rPr spc="15" dirty="0"/>
              <a:t> </a:t>
            </a:r>
            <a:r>
              <a:rPr dirty="0"/>
              <a:t>–</a:t>
            </a:r>
            <a:r>
              <a:rPr spc="114" dirty="0"/>
              <a:t> </a:t>
            </a:r>
            <a:r>
              <a:rPr spc="-25" dirty="0"/>
              <a:t>x;</a:t>
            </a: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b="1" dirty="0">
                <a:latin typeface="Courier New"/>
                <a:cs typeface="Courier New"/>
              </a:rPr>
              <a:t>if</a:t>
            </a:r>
            <a:r>
              <a:rPr b="1" spc="80" dirty="0">
                <a:latin typeface="Courier New"/>
                <a:cs typeface="Courier New"/>
              </a:rPr>
              <a:t> </a:t>
            </a:r>
            <a:r>
              <a:rPr dirty="0"/>
              <a:t>(z</a:t>
            </a:r>
            <a:r>
              <a:rPr spc="-5" dirty="0"/>
              <a:t> </a:t>
            </a:r>
            <a:r>
              <a:rPr dirty="0"/>
              <a:t>&gt;</a:t>
            </a:r>
            <a:r>
              <a:rPr spc="85" dirty="0"/>
              <a:t> </a:t>
            </a:r>
            <a:r>
              <a:rPr spc="-25" dirty="0"/>
              <a:t>1)</a:t>
            </a:r>
          </a:p>
          <a:p>
            <a:pPr marL="749300">
              <a:lnSpc>
                <a:spcPct val="100000"/>
              </a:lnSpc>
              <a:spcBef>
                <a:spcPts val="915"/>
              </a:spcBef>
            </a:pPr>
            <a:r>
              <a:rPr dirty="0"/>
              <a:t>z</a:t>
            </a:r>
            <a:r>
              <a:rPr spc="20" dirty="0"/>
              <a:t> </a:t>
            </a:r>
            <a:r>
              <a:rPr dirty="0"/>
              <a:t>=</a:t>
            </a:r>
            <a:r>
              <a:rPr spc="20" dirty="0"/>
              <a:t> </a:t>
            </a:r>
            <a:r>
              <a:rPr dirty="0"/>
              <a:t>z</a:t>
            </a:r>
            <a:r>
              <a:rPr spc="20" dirty="0"/>
              <a:t> </a:t>
            </a:r>
            <a:r>
              <a:rPr dirty="0"/>
              <a:t>/</a:t>
            </a:r>
            <a:r>
              <a:rPr spc="114" dirty="0"/>
              <a:t> </a:t>
            </a:r>
            <a:r>
              <a:rPr spc="-25" dirty="0"/>
              <a:t>x;</a:t>
            </a: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b="1" spc="-20" dirty="0">
                <a:latin typeface="Courier New"/>
                <a:cs typeface="Courier New"/>
              </a:rPr>
              <a:t>else</a:t>
            </a:r>
          </a:p>
          <a:p>
            <a:pPr marL="749300">
              <a:lnSpc>
                <a:spcPct val="100000"/>
              </a:lnSpc>
              <a:spcBef>
                <a:spcPts val="915"/>
              </a:spcBef>
            </a:pPr>
            <a:r>
              <a:rPr dirty="0"/>
              <a:t>z</a:t>
            </a:r>
            <a:r>
              <a:rPr spc="20" dirty="0"/>
              <a:t> </a:t>
            </a:r>
            <a:r>
              <a:rPr dirty="0"/>
              <a:t>=</a:t>
            </a:r>
            <a:r>
              <a:rPr spc="20" dirty="0"/>
              <a:t> </a:t>
            </a:r>
            <a:r>
              <a:rPr spc="-25" dirty="0"/>
              <a:t>0;</a:t>
            </a:r>
          </a:p>
          <a:p>
            <a:pPr marL="800100" marR="5080" indent="-368300">
              <a:lnSpc>
                <a:spcPts val="2700"/>
              </a:lnSpc>
              <a:spcBef>
                <a:spcPts val="1090"/>
              </a:spcBef>
              <a:buFont typeface="Arial MT"/>
              <a:buChar char="•"/>
              <a:tabLst>
                <a:tab pos="1282700" algn="l"/>
              </a:tabLst>
            </a:pP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Quel</a:t>
            </a:r>
            <a:r>
              <a:rPr sz="2300" spc="-15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est</a:t>
            </a:r>
            <a:r>
              <a:rPr sz="2300" spc="-17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le</a:t>
            </a:r>
            <a:r>
              <a:rPr sz="2300" spc="3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problème 	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avec</a:t>
            </a:r>
            <a:r>
              <a:rPr sz="2300" spc="-17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ce</a:t>
            </a:r>
            <a:r>
              <a:rPr sz="2300" spc="-4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code?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776" rIns="0" bIns="0" rtlCol="0">
            <a:spAutoFit/>
          </a:bodyPr>
          <a:lstStyle/>
          <a:p>
            <a:pPr marL="1510030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5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Chemins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37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2309" y="2385386"/>
            <a:ext cx="1626235" cy="83756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900" b="1" spc="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(x!=</a:t>
            </a:r>
            <a:r>
              <a:rPr sz="1900" spc="1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0)</a:t>
            </a:r>
            <a:endParaRPr sz="19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920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y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5;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2309" y="3326914"/>
            <a:ext cx="5842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else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2309" y="3616223"/>
            <a:ext cx="2223135" cy="124396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1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9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–</a:t>
            </a:r>
            <a:r>
              <a:rPr sz="1900" spc="114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x;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900" b="1" spc="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(z</a:t>
            </a:r>
            <a:r>
              <a:rPr sz="19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&gt;</a:t>
            </a:r>
            <a:r>
              <a:rPr sz="1900" spc="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1)</a:t>
            </a:r>
            <a:endParaRPr sz="19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91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/</a:t>
            </a:r>
            <a:r>
              <a:rPr sz="1900" spc="114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x;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2309" y="4951113"/>
            <a:ext cx="5842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else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8910" y="5357164"/>
            <a:ext cx="8896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z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0;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5807" y="2360840"/>
            <a:ext cx="4754245" cy="9264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900" dirty="0">
                <a:latin typeface="Comic Sans MS"/>
                <a:cs typeface="Comic Sans MS"/>
              </a:rPr>
              <a:t>T1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{&lt;x=0,</a:t>
            </a:r>
            <a:r>
              <a:rPr sz="1900" spc="10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z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=1&gt;,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&lt;x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=1,</a:t>
            </a:r>
            <a:r>
              <a:rPr sz="1900" spc="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z=3&gt;}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Comic Sans MS"/>
                <a:cs typeface="Comic Sans MS"/>
              </a:rPr>
              <a:t>exécute</a:t>
            </a:r>
            <a:r>
              <a:rPr sz="1900" spc="1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toutes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les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arêtes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mais</a:t>
            </a:r>
            <a:r>
              <a:rPr sz="1900" spc="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ne</a:t>
            </a:r>
            <a:r>
              <a:rPr sz="1900" spc="-6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montre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b="1" dirty="0">
                <a:latin typeface="Comic Sans MS"/>
                <a:cs typeface="Comic Sans MS"/>
              </a:rPr>
              <a:t>pas</a:t>
            </a:r>
            <a:r>
              <a:rPr sz="1900" b="1" spc="-15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un</a:t>
            </a:r>
            <a:r>
              <a:rPr sz="1900" b="1" spc="-70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risque</a:t>
            </a:r>
            <a:r>
              <a:rPr sz="1900" b="1" spc="150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de</a:t>
            </a:r>
            <a:r>
              <a:rPr sz="1900" b="1" spc="-30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division</a:t>
            </a:r>
            <a:r>
              <a:rPr sz="1900" b="1" spc="215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par</a:t>
            </a:r>
            <a:r>
              <a:rPr sz="1900" b="1" spc="10" dirty="0">
                <a:latin typeface="Comic Sans MS"/>
                <a:cs typeface="Comic Sans MS"/>
              </a:rPr>
              <a:t> </a:t>
            </a:r>
            <a:r>
              <a:rPr sz="1900" b="1" spc="-50" dirty="0">
                <a:latin typeface="Comic Sans MS"/>
                <a:cs typeface="Comic Sans MS"/>
              </a:rPr>
              <a:t>0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5807" y="3708417"/>
            <a:ext cx="5045710" cy="119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omic Sans MS"/>
                <a:cs typeface="Comic Sans MS"/>
              </a:rPr>
              <a:t>T2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{&lt;x=0,</a:t>
            </a:r>
            <a:r>
              <a:rPr sz="1900" spc="10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z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=3&gt;,</a:t>
            </a:r>
            <a:r>
              <a:rPr sz="1900" spc="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&lt;x</a:t>
            </a:r>
            <a:r>
              <a:rPr sz="1900" spc="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=1,</a:t>
            </a:r>
            <a:r>
              <a:rPr sz="1900" spc="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z=1&gt;}</a:t>
            </a:r>
            <a:endParaRPr sz="1900">
              <a:latin typeface="Comic Sans MS"/>
              <a:cs typeface="Comic Sans MS"/>
            </a:endParaRPr>
          </a:p>
          <a:p>
            <a:pPr marL="12700" marR="5080">
              <a:lnSpc>
                <a:spcPct val="100800"/>
              </a:lnSpc>
            </a:pPr>
            <a:r>
              <a:rPr sz="1900" dirty="0">
                <a:latin typeface="Comic Sans MS"/>
                <a:cs typeface="Comic Sans MS"/>
              </a:rPr>
              <a:t>trouverait</a:t>
            </a:r>
            <a:r>
              <a:rPr sz="1900" spc="1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 problème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en</a:t>
            </a:r>
            <a:r>
              <a:rPr sz="1900" spc="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exerçant</a:t>
            </a:r>
            <a:r>
              <a:rPr sz="1900" spc="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les</a:t>
            </a:r>
            <a:r>
              <a:rPr sz="1900" spc="-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flots </a:t>
            </a:r>
            <a:r>
              <a:rPr sz="1900" dirty="0">
                <a:latin typeface="Comic Sans MS"/>
                <a:cs typeface="Comic Sans MS"/>
              </a:rPr>
              <a:t>de</a:t>
            </a:r>
            <a:r>
              <a:rPr sz="1900" spc="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contrôle</a:t>
            </a:r>
            <a:r>
              <a:rPr sz="1900" spc="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restants</a:t>
            </a:r>
            <a:r>
              <a:rPr sz="1900" spc="9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possibles</a:t>
            </a:r>
            <a:r>
              <a:rPr sz="1900" spc="1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à</a:t>
            </a:r>
            <a:r>
              <a:rPr sz="1900" spc="-1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travers</a:t>
            </a:r>
            <a:r>
              <a:rPr sz="1900" spc="95" dirty="0">
                <a:latin typeface="Comic Sans MS"/>
                <a:cs typeface="Comic Sans MS"/>
              </a:rPr>
              <a:t> </a:t>
            </a:r>
            <a:r>
              <a:rPr sz="1900" spc="-25" dirty="0">
                <a:latin typeface="Comic Sans MS"/>
                <a:cs typeface="Comic Sans MS"/>
              </a:rPr>
              <a:t>le </a:t>
            </a:r>
            <a:r>
              <a:rPr sz="1900" dirty="0">
                <a:latin typeface="Comic Sans MS"/>
                <a:cs typeface="Comic Sans MS"/>
              </a:rPr>
              <a:t>fragment</a:t>
            </a:r>
            <a:r>
              <a:rPr sz="1900" spc="10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du</a:t>
            </a:r>
            <a:r>
              <a:rPr sz="1900" spc="2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programme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5807" y="5319929"/>
            <a:ext cx="42068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omic Sans MS"/>
                <a:cs typeface="Comic Sans MS"/>
              </a:rPr>
              <a:t>T1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Symbol"/>
                <a:cs typeface="Symbol"/>
              </a:rPr>
              <a:t>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mic Sans MS"/>
                <a:cs typeface="Comic Sans MS"/>
              </a:rPr>
              <a:t>T2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-&gt;</a:t>
            </a:r>
            <a:r>
              <a:rPr sz="1900" spc="-1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tous</a:t>
            </a:r>
            <a:r>
              <a:rPr sz="1900" spc="-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les</a:t>
            </a:r>
            <a:r>
              <a:rPr sz="1900" spc="7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chemins</a:t>
            </a:r>
            <a:r>
              <a:rPr sz="1900" spc="16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couverts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2605" y="1071354"/>
            <a:ext cx="5529580" cy="1114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29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Couverture</a:t>
            </a:r>
            <a:r>
              <a:rPr sz="3900" b="1" spc="-38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des</a:t>
            </a:r>
            <a:r>
              <a:rPr sz="3900" b="1" spc="-250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Chemins</a:t>
            </a:r>
            <a:endParaRPr sz="3900">
              <a:latin typeface="Palatino Linotype"/>
              <a:cs typeface="Palatino Linotype"/>
            </a:endParaRPr>
          </a:p>
          <a:p>
            <a:pPr marR="15875" algn="ctr">
              <a:lnSpc>
                <a:spcPts val="4290"/>
              </a:lnSpc>
            </a:pPr>
            <a:r>
              <a:rPr sz="3900" spc="220" dirty="0"/>
              <a:t>Cas</a:t>
            </a:r>
            <a:r>
              <a:rPr sz="3900" spc="-215" dirty="0"/>
              <a:t> </a:t>
            </a:r>
            <a:r>
              <a:rPr sz="3900" spc="55" dirty="0"/>
              <a:t>des</a:t>
            </a:r>
            <a:r>
              <a:rPr sz="3900" spc="-105" dirty="0"/>
              <a:t> </a:t>
            </a:r>
            <a:r>
              <a:rPr sz="3900" spc="-10" dirty="0"/>
              <a:t>boucles</a:t>
            </a:r>
            <a:endParaRPr sz="3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38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1711" y="2167102"/>
            <a:ext cx="8051800" cy="3884929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3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Chercher</a:t>
            </a:r>
            <a:r>
              <a:rPr sz="2300" spc="-2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conditions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exécutent</a:t>
            </a:r>
            <a:r>
              <a:rPr sz="2300" spc="-3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boucles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240029" indent="-138430">
              <a:lnSpc>
                <a:spcPct val="100000"/>
              </a:lnSpc>
              <a:spcBef>
                <a:spcPts val="434"/>
              </a:spcBef>
              <a:buClr>
                <a:srgbClr val="D34817"/>
              </a:buClr>
              <a:buFont typeface="Calibri"/>
              <a:buChar char="◦"/>
              <a:tabLst>
                <a:tab pos="240029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zéro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fois,</a:t>
            </a:r>
            <a:endParaRPr sz="1900">
              <a:latin typeface="Comic Sans MS"/>
              <a:cs typeface="Comic Sans MS"/>
            </a:endParaRPr>
          </a:p>
          <a:p>
            <a:pPr marL="240029" indent="-138430">
              <a:lnSpc>
                <a:spcPct val="100000"/>
              </a:lnSpc>
              <a:spcBef>
                <a:spcPts val="520"/>
              </a:spcBef>
              <a:buClr>
                <a:srgbClr val="D34817"/>
              </a:buClr>
              <a:buFont typeface="Calibri"/>
              <a:buChar char="◦"/>
              <a:tabLst>
                <a:tab pos="240029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maximum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fois,</a:t>
            </a:r>
            <a:endParaRPr sz="1900">
              <a:latin typeface="Comic Sans MS"/>
              <a:cs typeface="Comic Sans MS"/>
            </a:endParaRPr>
          </a:p>
          <a:p>
            <a:pPr marL="240029" indent="-138430">
              <a:lnSpc>
                <a:spcPct val="100000"/>
              </a:lnSpc>
              <a:spcBef>
                <a:spcPts val="515"/>
              </a:spcBef>
              <a:buClr>
                <a:srgbClr val="D34817"/>
              </a:buClr>
              <a:buFont typeface="Calibri"/>
              <a:buChar char="◦"/>
              <a:tabLst>
                <a:tab pos="240029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moyen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fois</a:t>
            </a: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(critère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statistique)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D34817"/>
              </a:buClr>
              <a:buFont typeface="Calibri"/>
              <a:buChar char="◦"/>
            </a:pPr>
            <a:endParaRPr sz="1900">
              <a:latin typeface="Comic Sans MS"/>
              <a:cs typeface="Comic Sans MS"/>
            </a:endParaRPr>
          </a:p>
          <a:p>
            <a:pPr marL="12700" marR="5080" indent="12700">
              <a:lnSpc>
                <a:spcPts val="2700"/>
              </a:lnSpc>
              <a:tabLst>
                <a:tab pos="6350635" algn="l"/>
              </a:tabLst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exemple,</a:t>
            </a:r>
            <a:r>
              <a:rPr sz="2300" spc="-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algorithme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recherche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	d’un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élément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table,</a:t>
            </a:r>
            <a:r>
              <a:rPr sz="23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on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peut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240029" indent="-138430">
              <a:lnSpc>
                <a:spcPct val="100000"/>
              </a:lnSpc>
              <a:spcBef>
                <a:spcPts val="355"/>
              </a:spcBef>
              <a:buClr>
                <a:srgbClr val="D34817"/>
              </a:buClr>
              <a:buFont typeface="Calibri"/>
              <a:buChar char="◦"/>
              <a:tabLst>
                <a:tab pos="240029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sauter</a:t>
            </a:r>
            <a:r>
              <a:rPr sz="1900" spc="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boucle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(la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table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vide),</a:t>
            </a:r>
            <a:endParaRPr sz="1900">
              <a:latin typeface="Comic Sans MS"/>
              <a:cs typeface="Comic Sans MS"/>
            </a:endParaRPr>
          </a:p>
          <a:p>
            <a:pPr marL="240029" marR="1176655" indent="-138430">
              <a:lnSpc>
                <a:spcPct val="100800"/>
              </a:lnSpc>
              <a:spcBef>
                <a:spcPts val="50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exécuter</a:t>
            </a:r>
            <a:r>
              <a:rPr sz="1900" spc="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boucle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deux</a:t>
            </a:r>
            <a:r>
              <a:rPr sz="1900" spc="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fois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suite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trouver 	l’élément,</a:t>
            </a:r>
            <a:endParaRPr sz="1900">
              <a:latin typeface="Comic Sans MS"/>
              <a:cs typeface="Comic Sans MS"/>
            </a:endParaRPr>
          </a:p>
          <a:p>
            <a:pPr marL="240029" indent="-138430">
              <a:lnSpc>
                <a:spcPct val="100000"/>
              </a:lnSpc>
              <a:spcBef>
                <a:spcPts val="515"/>
              </a:spcBef>
              <a:buClr>
                <a:srgbClr val="D34817"/>
              </a:buClr>
              <a:buFont typeface="Calibri"/>
              <a:buChar char="◦"/>
              <a:tabLst>
                <a:tab pos="240029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chercher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toute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table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sans</a:t>
            </a:r>
            <a:r>
              <a:rPr sz="19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trouver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l’élément</a:t>
            </a:r>
            <a:r>
              <a:rPr sz="1900" spc="22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désiré.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026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Autres</a:t>
            </a:r>
            <a:r>
              <a:rPr sz="3900" b="1" spc="-395" dirty="0">
                <a:latin typeface="Palatino Linotype"/>
                <a:cs typeface="Palatino Linotype"/>
              </a:rPr>
              <a:t> </a:t>
            </a:r>
            <a:r>
              <a:rPr sz="3900" b="1" spc="-30" dirty="0">
                <a:latin typeface="Palatino Linotype"/>
                <a:cs typeface="Palatino Linotype"/>
              </a:rPr>
              <a:t>Critères</a:t>
            </a:r>
            <a:r>
              <a:rPr sz="3900" b="1" spc="-39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05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Couverture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39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343" y="2192742"/>
            <a:ext cx="8179434" cy="370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100"/>
              </a:spcBef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b="1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Conditions/Décisions</a:t>
            </a:r>
            <a:r>
              <a:rPr sz="2300" b="1" spc="-2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exige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chaque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arête</a:t>
            </a:r>
            <a:r>
              <a:rPr sz="2300" b="1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soit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traversée</a:t>
            </a:r>
            <a:r>
              <a:rPr sz="2300" b="1" spc="-5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b="1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condition atomique</a:t>
            </a:r>
            <a:r>
              <a:rPr sz="2300" b="1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évaluée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Vrai</a:t>
            </a:r>
            <a:r>
              <a:rPr sz="2300" b="1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b="1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Faux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300">
              <a:latin typeface="Comic Sans MS"/>
              <a:cs typeface="Comic Sans MS"/>
            </a:endParaRPr>
          </a:p>
          <a:p>
            <a:pPr marL="12700" marR="385445" algn="just">
              <a:lnSpc>
                <a:spcPct val="150200"/>
              </a:lnSpc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sz="2300" b="1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modifiée</a:t>
            </a:r>
            <a:r>
              <a:rPr sz="2300" b="1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b="1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conditions/décisions</a:t>
            </a:r>
            <a:r>
              <a:rPr sz="2300" b="1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(MC/DC)</a:t>
            </a:r>
            <a:r>
              <a:rPr sz="2300" b="1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50" dirty="0">
                <a:solidFill>
                  <a:srgbClr val="404040"/>
                </a:solidFill>
                <a:latin typeface="Comic Sans MS"/>
                <a:cs typeface="Comic Sans MS"/>
              </a:rPr>
              <a:t>: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vérifie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condition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atomique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d’une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décision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ait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impact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décision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026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Autres</a:t>
            </a:r>
            <a:r>
              <a:rPr sz="3900" b="1" spc="-395" dirty="0">
                <a:latin typeface="Palatino Linotype"/>
                <a:cs typeface="Palatino Linotype"/>
              </a:rPr>
              <a:t> </a:t>
            </a:r>
            <a:r>
              <a:rPr sz="3900" b="1" spc="-30" dirty="0">
                <a:latin typeface="Palatino Linotype"/>
                <a:cs typeface="Palatino Linotype"/>
              </a:rPr>
              <a:t>Critères</a:t>
            </a:r>
            <a:r>
              <a:rPr sz="3900" b="1" spc="-390" dirty="0">
                <a:latin typeface="Palatino Linotype"/>
                <a:cs typeface="Palatino Linotype"/>
              </a:rPr>
              <a:t> </a:t>
            </a:r>
            <a:r>
              <a:rPr sz="3900" b="1" dirty="0">
                <a:latin typeface="Palatino Linotype"/>
                <a:cs typeface="Palatino Linotype"/>
              </a:rPr>
              <a:t>de</a:t>
            </a:r>
            <a:r>
              <a:rPr sz="3900" b="1" spc="-105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Couverture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40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29543" rIns="0" bIns="0" rtlCol="0">
            <a:spAutoFit/>
          </a:bodyPr>
          <a:lstStyle/>
          <a:p>
            <a:pPr marL="19050" marR="5080">
              <a:lnSpc>
                <a:spcPct val="147200"/>
              </a:lnSpc>
              <a:spcBef>
                <a:spcPts val="135"/>
              </a:spcBef>
            </a:pPr>
            <a:r>
              <a:rPr b="1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r>
              <a:rPr b="1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b="1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b="1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b="1" spc="-10" dirty="0">
                <a:solidFill>
                  <a:srgbClr val="404040"/>
                </a:solidFill>
                <a:latin typeface="Comic Sans MS"/>
                <a:cs typeface="Comic Sans MS"/>
              </a:rPr>
              <a:t>Conditions</a:t>
            </a:r>
            <a:r>
              <a:rPr b="1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b="1" spc="-10" dirty="0">
                <a:solidFill>
                  <a:srgbClr val="404040"/>
                </a:solidFill>
                <a:latin typeface="Comic Sans MS"/>
                <a:cs typeface="Comic Sans MS"/>
              </a:rPr>
              <a:t>Multiples</a:t>
            </a:r>
            <a:r>
              <a:rPr b="1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b="1" dirty="0">
                <a:solidFill>
                  <a:srgbClr val="404040"/>
                </a:solidFill>
                <a:latin typeface="Comic Sans MS"/>
                <a:cs typeface="Comic Sans MS"/>
              </a:rPr>
              <a:t>(CCM)</a:t>
            </a:r>
            <a:r>
              <a:rPr b="1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b="1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b="1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pc="-10" dirty="0">
                <a:solidFill>
                  <a:srgbClr val="404040"/>
                </a:solidFill>
              </a:rPr>
              <a:t>exige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que </a:t>
            </a:r>
            <a:r>
              <a:rPr spc="-10" dirty="0">
                <a:solidFill>
                  <a:srgbClr val="404040"/>
                </a:solidFill>
              </a:rPr>
              <a:t>chaque</a:t>
            </a:r>
            <a:r>
              <a:rPr spc="-13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combinaison</a:t>
            </a:r>
            <a:r>
              <a:rPr spc="-2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de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valeurs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booléennes</a:t>
            </a:r>
            <a:r>
              <a:rPr spc="-29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possibles</a:t>
            </a:r>
            <a:r>
              <a:rPr spc="-8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pour</a:t>
            </a:r>
            <a:r>
              <a:rPr spc="-7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les </a:t>
            </a:r>
            <a:r>
              <a:rPr spc="-20" dirty="0">
                <a:solidFill>
                  <a:srgbClr val="404040"/>
                </a:solidFill>
              </a:rPr>
              <a:t>conditions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atomiques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soient</a:t>
            </a:r>
            <a:r>
              <a:rPr spc="-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évaluées</a:t>
            </a:r>
            <a:r>
              <a:rPr spc="-31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en</a:t>
            </a:r>
            <a:r>
              <a:rPr spc="-8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plus</a:t>
            </a:r>
            <a:r>
              <a:rPr spc="-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du</a:t>
            </a:r>
            <a:r>
              <a:rPr spc="-7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critère</a:t>
            </a:r>
            <a:r>
              <a:rPr spc="-13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de </a:t>
            </a:r>
            <a:r>
              <a:rPr spc="-10" dirty="0">
                <a:solidFill>
                  <a:srgbClr val="404040"/>
                </a:solidFill>
              </a:rPr>
              <a:t>couverture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de</a:t>
            </a:r>
            <a:r>
              <a:rPr spc="-114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conditions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07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95"/>
              </a:spcBef>
            </a:pPr>
            <a:r>
              <a:rPr sz="3500" b="1" spc="-40" dirty="0">
                <a:latin typeface="Palatino Linotype"/>
                <a:cs typeface="Palatino Linotype"/>
              </a:rPr>
              <a:t>Couverture</a:t>
            </a:r>
            <a:r>
              <a:rPr sz="3500" b="1" spc="-415" dirty="0">
                <a:latin typeface="Palatino Linotype"/>
                <a:cs typeface="Palatino Linotype"/>
              </a:rPr>
              <a:t> </a:t>
            </a:r>
            <a:r>
              <a:rPr sz="3500" b="1" dirty="0">
                <a:latin typeface="Palatino Linotype"/>
                <a:cs typeface="Palatino Linotype"/>
              </a:rPr>
              <a:t>du</a:t>
            </a:r>
            <a:r>
              <a:rPr sz="3500" b="1" spc="-95" dirty="0">
                <a:latin typeface="Palatino Linotype"/>
                <a:cs typeface="Palatino Linotype"/>
              </a:rPr>
              <a:t> </a:t>
            </a:r>
            <a:r>
              <a:rPr sz="3500" b="1" spc="-40" dirty="0">
                <a:latin typeface="Palatino Linotype"/>
                <a:cs typeface="Palatino Linotype"/>
              </a:rPr>
              <a:t>CFG</a:t>
            </a:r>
            <a:r>
              <a:rPr sz="3500" b="1" spc="-175" dirty="0">
                <a:latin typeface="Palatino Linotype"/>
                <a:cs typeface="Palatino Linotype"/>
              </a:rPr>
              <a:t> </a:t>
            </a:r>
            <a:r>
              <a:rPr sz="3500" b="1" dirty="0">
                <a:latin typeface="Palatino Linotype"/>
                <a:cs typeface="Palatino Linotype"/>
              </a:rPr>
              <a:t>en</a:t>
            </a:r>
            <a:r>
              <a:rPr sz="3500" b="1" spc="-200" dirty="0">
                <a:latin typeface="Palatino Linotype"/>
                <a:cs typeface="Palatino Linotype"/>
              </a:rPr>
              <a:t> </a:t>
            </a:r>
            <a:r>
              <a:rPr sz="3500" b="1" spc="-10" dirty="0">
                <a:latin typeface="Palatino Linotype"/>
                <a:cs typeface="Palatino Linotype"/>
              </a:rPr>
              <a:t>Pratique</a:t>
            </a:r>
            <a:endParaRPr sz="35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41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0" indent="12700" algn="just">
              <a:lnSpc>
                <a:spcPct val="1195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Il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arrive,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dans</a:t>
            </a:r>
            <a:r>
              <a:rPr spc="-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les</a:t>
            </a:r>
            <a:r>
              <a:rPr spc="-7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programmes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du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monde</a:t>
            </a:r>
            <a:r>
              <a:rPr spc="-114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réel,</a:t>
            </a:r>
            <a:r>
              <a:rPr spc="-1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que</a:t>
            </a:r>
            <a:r>
              <a:rPr spc="-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certaines </a:t>
            </a:r>
            <a:r>
              <a:rPr spc="-25" dirty="0">
                <a:solidFill>
                  <a:srgbClr val="404040"/>
                </a:solidFill>
              </a:rPr>
              <a:t>instructions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ne</a:t>
            </a:r>
            <a:r>
              <a:rPr spc="-4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soient</a:t>
            </a:r>
            <a:r>
              <a:rPr spc="-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pas</a:t>
            </a:r>
            <a:r>
              <a:rPr spc="-1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atteignables</a:t>
            </a: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pc="-10" dirty="0">
              <a:solidFill>
                <a:srgbClr val="404040"/>
              </a:solidFill>
            </a:endParaRPr>
          </a:p>
          <a:p>
            <a:pPr marL="12700" marR="152400" indent="12700" algn="just">
              <a:lnSpc>
                <a:spcPct val="115799"/>
              </a:lnSpc>
            </a:pPr>
            <a:r>
              <a:rPr dirty="0">
                <a:solidFill>
                  <a:srgbClr val="404040"/>
                </a:solidFill>
              </a:rPr>
              <a:t>Il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n’est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pas</a:t>
            </a:r>
            <a:r>
              <a:rPr spc="-8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toujours</a:t>
            </a:r>
            <a:r>
              <a:rPr spc="-8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possible </a:t>
            </a:r>
            <a:r>
              <a:rPr dirty="0">
                <a:solidFill>
                  <a:srgbClr val="404040"/>
                </a:solidFill>
              </a:rPr>
              <a:t>de</a:t>
            </a:r>
            <a:r>
              <a:rPr spc="-1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décider</a:t>
            </a:r>
            <a:r>
              <a:rPr spc="-165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automatiquement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si </a:t>
            </a:r>
            <a:r>
              <a:rPr dirty="0">
                <a:solidFill>
                  <a:srgbClr val="404040"/>
                </a:solidFill>
              </a:rPr>
              <a:t>une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instruction</a:t>
            </a:r>
            <a:r>
              <a:rPr spc="-14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est</a:t>
            </a:r>
            <a:r>
              <a:rPr spc="-5" dirty="0">
                <a:solidFill>
                  <a:srgbClr val="404040"/>
                </a:solidFill>
              </a:rPr>
              <a:t>  </a:t>
            </a:r>
            <a:r>
              <a:rPr spc="-30" dirty="0">
                <a:solidFill>
                  <a:srgbClr val="404040"/>
                </a:solidFill>
              </a:rPr>
              <a:t>atteignable,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ni</a:t>
            </a:r>
            <a:r>
              <a:rPr spc="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même</a:t>
            </a:r>
            <a:r>
              <a:rPr spc="-11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le</a:t>
            </a:r>
            <a:r>
              <a:rPr spc="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pourcentage</a:t>
            </a:r>
            <a:r>
              <a:rPr spc="-15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des instructions</a:t>
            </a:r>
            <a:r>
              <a:rPr spc="-1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atteignables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pc="-10" dirty="0">
              <a:solidFill>
                <a:srgbClr val="404040"/>
              </a:solidFill>
            </a:endParaRPr>
          </a:p>
          <a:p>
            <a:pPr marL="12700" marR="5080" indent="12700" algn="just">
              <a:lnSpc>
                <a:spcPct val="119500"/>
              </a:lnSpc>
            </a:pPr>
            <a:r>
              <a:rPr spc="-10" dirty="0">
                <a:solidFill>
                  <a:srgbClr val="404040"/>
                </a:solidFill>
              </a:rPr>
              <a:t>Quand</a:t>
            </a:r>
            <a:r>
              <a:rPr spc="-16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on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n’atteint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pas</a:t>
            </a:r>
            <a:r>
              <a:rPr spc="-10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une</a:t>
            </a:r>
            <a:r>
              <a:rPr spc="-4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couverture</a:t>
            </a:r>
            <a:r>
              <a:rPr spc="-15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de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100%,</a:t>
            </a:r>
            <a:r>
              <a:rPr spc="-1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il</a:t>
            </a:r>
            <a:r>
              <a:rPr spc="9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est</a:t>
            </a:r>
            <a:r>
              <a:rPr spc="-16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parfois </a:t>
            </a:r>
            <a:r>
              <a:rPr dirty="0">
                <a:solidFill>
                  <a:srgbClr val="404040"/>
                </a:solidFill>
              </a:rPr>
              <a:t>très</a:t>
            </a:r>
            <a:r>
              <a:rPr spc="-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difficile</a:t>
            </a:r>
            <a:r>
              <a:rPr spc="-114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d’en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déterminer</a:t>
            </a:r>
            <a:r>
              <a:rPr spc="-2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la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raison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07" rIns="0" bIns="0" rtlCol="0">
            <a:spAutoFit/>
          </a:bodyPr>
          <a:lstStyle/>
          <a:p>
            <a:pPr marL="1072515">
              <a:lnSpc>
                <a:spcPct val="100000"/>
              </a:lnSpc>
              <a:spcBef>
                <a:spcPts val="95"/>
              </a:spcBef>
            </a:pPr>
            <a:r>
              <a:rPr sz="3500" b="1" spc="-40" dirty="0">
                <a:latin typeface="Palatino Linotype"/>
                <a:cs typeface="Palatino Linotype"/>
              </a:rPr>
              <a:t>Couverture</a:t>
            </a:r>
            <a:r>
              <a:rPr sz="3500" b="1" spc="-415" dirty="0">
                <a:latin typeface="Palatino Linotype"/>
                <a:cs typeface="Palatino Linotype"/>
              </a:rPr>
              <a:t> </a:t>
            </a:r>
            <a:r>
              <a:rPr sz="3500" b="1" dirty="0">
                <a:latin typeface="Palatino Linotype"/>
                <a:cs typeface="Palatino Linotype"/>
              </a:rPr>
              <a:t>du</a:t>
            </a:r>
            <a:r>
              <a:rPr sz="3500" b="1" spc="-95" dirty="0">
                <a:latin typeface="Palatino Linotype"/>
                <a:cs typeface="Palatino Linotype"/>
              </a:rPr>
              <a:t> </a:t>
            </a:r>
            <a:r>
              <a:rPr sz="3500" b="1" spc="-40" dirty="0">
                <a:latin typeface="Palatino Linotype"/>
                <a:cs typeface="Palatino Linotype"/>
              </a:rPr>
              <a:t>CFG</a:t>
            </a:r>
            <a:r>
              <a:rPr sz="3500" b="1" spc="-175" dirty="0">
                <a:latin typeface="Palatino Linotype"/>
                <a:cs typeface="Palatino Linotype"/>
              </a:rPr>
              <a:t> </a:t>
            </a:r>
            <a:r>
              <a:rPr sz="3500" b="1" dirty="0">
                <a:latin typeface="Palatino Linotype"/>
                <a:cs typeface="Palatino Linotype"/>
              </a:rPr>
              <a:t>en</a:t>
            </a:r>
            <a:r>
              <a:rPr sz="3500" b="1" spc="-200" dirty="0">
                <a:latin typeface="Palatino Linotype"/>
                <a:cs typeface="Palatino Linotype"/>
              </a:rPr>
              <a:t> </a:t>
            </a:r>
            <a:r>
              <a:rPr sz="3500" b="1" spc="-10" dirty="0">
                <a:latin typeface="Palatino Linotype"/>
                <a:cs typeface="Palatino Linotype"/>
              </a:rPr>
              <a:t>Pratique</a:t>
            </a:r>
            <a:endParaRPr sz="35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42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5035" y="2267770"/>
            <a:ext cx="8844280" cy="3268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algn="just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outils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nécessaires</a:t>
            </a:r>
            <a:r>
              <a:rPr sz="2300" spc="-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supporter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cette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activité</a:t>
            </a:r>
            <a:endParaRPr sz="2300">
              <a:latin typeface="Comic Sans MS"/>
              <a:cs typeface="Comic Sans MS"/>
            </a:endParaRPr>
          </a:p>
          <a:p>
            <a:pPr marL="12700" marR="5080" indent="12700" algn="just">
              <a:lnSpc>
                <a:spcPct val="117700"/>
              </a:lnSpc>
              <a:spcBef>
                <a:spcPts val="155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3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recherche</a:t>
            </a:r>
            <a:r>
              <a:rPr sz="2300" spc="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très</a:t>
            </a:r>
            <a:r>
              <a:rPr sz="23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active</a:t>
            </a:r>
            <a:r>
              <a:rPr sz="2300" spc="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afin</a:t>
            </a:r>
            <a:r>
              <a:rPr sz="23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proposer</a:t>
            </a:r>
            <a:r>
              <a:rPr sz="2300" spc="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algorithmes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efficaces</a:t>
            </a:r>
            <a:r>
              <a:rPr sz="2300" spc="120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80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dériver</a:t>
            </a:r>
            <a:r>
              <a:rPr sz="2300" spc="130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automatiquement</a:t>
            </a:r>
            <a:r>
              <a:rPr sz="2300" spc="95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120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jeux</a:t>
            </a:r>
            <a:r>
              <a:rPr sz="2300" spc="105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100" dirty="0">
                <a:solidFill>
                  <a:srgbClr val="404040"/>
                </a:solidFill>
                <a:latin typeface="Comic Sans MS"/>
                <a:cs typeface="Comic Sans MS"/>
              </a:rPr>
              <a:t> 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tests présentant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bons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niveaux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couverture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300">
              <a:latin typeface="Comic Sans MS"/>
              <a:cs typeface="Comic Sans MS"/>
            </a:endParaRPr>
          </a:p>
          <a:p>
            <a:pPr marL="12700" marR="8890" indent="12700" algn="just">
              <a:lnSpc>
                <a:spcPct val="119500"/>
              </a:lnSpc>
              <a:spcBef>
                <a:spcPts val="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spc="4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spc="4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45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contrôle</a:t>
            </a:r>
            <a:r>
              <a:rPr sz="2300" spc="3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est,</a:t>
            </a:r>
            <a:r>
              <a:rPr sz="2300" spc="3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2300" spc="4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général,</a:t>
            </a:r>
            <a:r>
              <a:rPr sz="2300" spc="48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2300" spc="40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adapté</a:t>
            </a:r>
            <a:r>
              <a:rPr sz="2300" spc="5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pour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tester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petits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2841" y="1387315"/>
            <a:ext cx="207391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latin typeface="Palatino Linotype"/>
                <a:cs typeface="Palatino Linotype"/>
              </a:rPr>
              <a:t>Exercices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43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6921" y="2084919"/>
            <a:ext cx="7018655" cy="4145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305">
              <a:lnSpc>
                <a:spcPts val="2030"/>
              </a:lnSpc>
              <a:spcBef>
                <a:spcPts val="95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((u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==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0)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||</a:t>
            </a:r>
            <a:r>
              <a:rPr sz="18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(x&gt;5))</a:t>
            </a:r>
            <a:r>
              <a:rPr sz="1800" spc="-1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&amp;&amp;</a:t>
            </a:r>
            <a:r>
              <a:rPr sz="18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((y&lt;6)</a:t>
            </a:r>
            <a:r>
              <a:rPr sz="1800" spc="-1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||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(z</a:t>
            </a:r>
            <a:r>
              <a:rPr sz="18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==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0))</a:t>
            </a:r>
            <a:r>
              <a:rPr sz="1800" spc="-1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){</a:t>
            </a:r>
            <a:endParaRPr sz="1800">
              <a:latin typeface="Courier New"/>
              <a:cs typeface="Courier New"/>
            </a:endParaRPr>
          </a:p>
          <a:p>
            <a:pPr marL="1411605">
              <a:lnSpc>
                <a:spcPts val="1900"/>
              </a:lnSpc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//instr</a:t>
            </a:r>
            <a:endParaRPr sz="1800">
              <a:latin typeface="Courier New"/>
              <a:cs typeface="Courier New"/>
            </a:endParaRPr>
          </a:p>
          <a:p>
            <a:pPr marL="154305">
              <a:lnSpc>
                <a:spcPts val="2000"/>
              </a:lnSpc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}else{</a:t>
            </a:r>
            <a:endParaRPr sz="1800">
              <a:latin typeface="Courier New"/>
              <a:cs typeface="Courier New"/>
            </a:endParaRPr>
          </a:p>
          <a:p>
            <a:pPr marL="1411605">
              <a:lnSpc>
                <a:spcPts val="1720"/>
              </a:lnSpc>
            </a:pPr>
            <a:r>
              <a:rPr sz="1500" spc="-10" dirty="0">
                <a:solidFill>
                  <a:srgbClr val="404040"/>
                </a:solidFill>
                <a:latin typeface="Courier New"/>
                <a:cs typeface="Courier New"/>
              </a:rPr>
              <a:t>//instr</a:t>
            </a:r>
            <a:endParaRPr sz="1500">
              <a:latin typeface="Courier New"/>
              <a:cs typeface="Courier New"/>
            </a:endParaRPr>
          </a:p>
          <a:p>
            <a:pPr marL="154305">
              <a:lnSpc>
                <a:spcPts val="1750"/>
              </a:lnSpc>
            </a:pPr>
            <a:r>
              <a:rPr sz="15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500">
              <a:latin typeface="Courier New"/>
              <a:cs typeface="Courier New"/>
            </a:endParaRPr>
          </a:p>
          <a:p>
            <a:pPr marL="380365" indent="-367665">
              <a:lnSpc>
                <a:spcPts val="2190"/>
              </a:lnSpc>
              <a:buAutoNum type="arabicPeriod"/>
              <a:tabLst>
                <a:tab pos="380365" algn="l"/>
              </a:tabLst>
            </a:pPr>
            <a:r>
              <a:rPr sz="1900" dirty="0">
                <a:latin typeface="Calibri"/>
                <a:cs typeface="Calibri"/>
              </a:rPr>
              <a:t>Quelles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sont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conditions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atomiques?</a:t>
            </a:r>
            <a:endParaRPr sz="1900">
              <a:latin typeface="Calibri"/>
              <a:cs typeface="Calibri"/>
            </a:endParaRPr>
          </a:p>
          <a:p>
            <a:pPr marL="380365" indent="-367665">
              <a:lnSpc>
                <a:spcPts val="2100"/>
              </a:lnSpc>
              <a:buAutoNum type="arabicPeriod"/>
              <a:tabLst>
                <a:tab pos="380365" algn="l"/>
              </a:tabLst>
            </a:pPr>
            <a:r>
              <a:rPr sz="1900" dirty="0">
                <a:latin typeface="Calibri"/>
                <a:cs typeface="Calibri"/>
              </a:rPr>
              <a:t>Écrire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table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vérité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à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partir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conditions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atomiques</a:t>
            </a:r>
            <a:endParaRPr sz="1900">
              <a:latin typeface="Calibri"/>
              <a:cs typeface="Calibri"/>
            </a:endParaRPr>
          </a:p>
          <a:p>
            <a:pPr marL="316865" marR="352425" indent="-304800">
              <a:lnSpc>
                <a:spcPts val="2000"/>
              </a:lnSpc>
              <a:spcBef>
                <a:spcPts val="209"/>
              </a:spcBef>
              <a:buAutoNum type="arabicPeriod"/>
              <a:tabLst>
                <a:tab pos="316865" algn="l"/>
                <a:tab pos="380365" algn="l"/>
              </a:tabLst>
            </a:pPr>
            <a:r>
              <a:rPr sz="1900" dirty="0">
                <a:latin typeface="Calibri"/>
                <a:cs typeface="Calibri"/>
              </a:rPr>
              <a:t>	Quelles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combinaisons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pour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couvrir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toutes les conditions?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Quels </a:t>
            </a:r>
            <a:r>
              <a:rPr sz="1900" dirty="0">
                <a:latin typeface="Calibri"/>
                <a:cs typeface="Calibri"/>
              </a:rPr>
              <a:t>jeux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données</a:t>
            </a:r>
            <a:r>
              <a:rPr sz="1900" spc="1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correspondants?</a:t>
            </a:r>
            <a:endParaRPr sz="1900">
              <a:latin typeface="Calibri"/>
              <a:cs typeface="Calibri"/>
            </a:endParaRPr>
          </a:p>
          <a:p>
            <a:pPr marL="316865" marR="5080" indent="-304800">
              <a:lnSpc>
                <a:spcPts val="2100"/>
              </a:lnSpc>
              <a:spcBef>
                <a:spcPts val="15"/>
              </a:spcBef>
              <a:buAutoNum type="arabicPeriod"/>
              <a:tabLst>
                <a:tab pos="316865" algn="l"/>
                <a:tab pos="380365" algn="l"/>
              </a:tabLst>
            </a:pP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	Quelles</a:t>
            </a:r>
            <a:r>
              <a:rPr sz="1900" spc="8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combinaisons</a:t>
            </a:r>
            <a:r>
              <a:rPr sz="1900" spc="16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pour</a:t>
            </a:r>
            <a:r>
              <a:rPr sz="1900" spc="-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couvrir</a:t>
            </a:r>
            <a:r>
              <a:rPr sz="1900" spc="-8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toutes</a:t>
            </a:r>
            <a:r>
              <a:rPr sz="1900" spc="1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les</a:t>
            </a:r>
            <a:r>
              <a:rPr sz="1900" spc="1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conditions/décisions?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Quels</a:t>
            </a:r>
            <a:r>
              <a:rPr sz="1900" spc="5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jeux</a:t>
            </a:r>
            <a:r>
              <a:rPr sz="1900" spc="-2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de</a:t>
            </a:r>
            <a:r>
              <a:rPr sz="1900" spc="-4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données</a:t>
            </a:r>
            <a:r>
              <a:rPr sz="1900" spc="13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correspondants?</a:t>
            </a:r>
            <a:endParaRPr sz="1900">
              <a:latin typeface="Calibri"/>
              <a:cs typeface="Calibri"/>
            </a:endParaRPr>
          </a:p>
          <a:p>
            <a:pPr marL="380365" indent="-367665">
              <a:lnSpc>
                <a:spcPts val="1964"/>
              </a:lnSpc>
              <a:buAutoNum type="arabicPeriod"/>
              <a:tabLst>
                <a:tab pos="380365" algn="l"/>
              </a:tabLst>
            </a:pP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Quelles</a:t>
            </a:r>
            <a:r>
              <a:rPr sz="1900" spc="7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combinaisons</a:t>
            </a:r>
            <a:r>
              <a:rPr sz="1900" spc="15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pour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couvrir</a:t>
            </a:r>
            <a:r>
              <a:rPr sz="1900" spc="-9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toutes les</a:t>
            </a:r>
            <a:r>
              <a:rPr sz="1900" spc="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conditions</a:t>
            </a:r>
            <a:r>
              <a:rPr sz="1900" spc="8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multiples?</a:t>
            </a:r>
            <a:endParaRPr sz="1900">
              <a:latin typeface="Calibri"/>
              <a:cs typeface="Calibri"/>
            </a:endParaRPr>
          </a:p>
          <a:p>
            <a:pPr marL="316865">
              <a:lnSpc>
                <a:spcPts val="2100"/>
              </a:lnSpc>
            </a:pP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Quels</a:t>
            </a:r>
            <a:r>
              <a:rPr sz="1900" spc="5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jeux</a:t>
            </a:r>
            <a:r>
              <a:rPr sz="1900" spc="-2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de</a:t>
            </a:r>
            <a:r>
              <a:rPr sz="1900" spc="-3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données</a:t>
            </a:r>
            <a:r>
              <a:rPr sz="1900" spc="13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correspondants?</a:t>
            </a:r>
            <a:endParaRPr sz="1900">
              <a:latin typeface="Calibri"/>
              <a:cs typeface="Calibri"/>
            </a:endParaRPr>
          </a:p>
          <a:p>
            <a:pPr marL="316865" marR="111125" indent="-304800">
              <a:lnSpc>
                <a:spcPts val="2100"/>
              </a:lnSpc>
              <a:spcBef>
                <a:spcPts val="130"/>
              </a:spcBef>
              <a:buAutoNum type="arabicPeriod" startAt="6"/>
              <a:tabLst>
                <a:tab pos="316865" algn="l"/>
                <a:tab pos="380365" algn="l"/>
              </a:tabLst>
            </a:pP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	Quelles</a:t>
            </a:r>
            <a:r>
              <a:rPr sz="1900" spc="8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combinaisons</a:t>
            </a:r>
            <a:r>
              <a:rPr sz="1900" spc="16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pour</a:t>
            </a:r>
            <a:r>
              <a:rPr sz="1900" spc="-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couvrir</a:t>
            </a:r>
            <a:r>
              <a:rPr sz="1900" spc="-8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toutes</a:t>
            </a:r>
            <a:r>
              <a:rPr sz="1900" spc="1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les</a:t>
            </a:r>
            <a:r>
              <a:rPr sz="1900" spc="1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conditions/décisions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modifiées?</a:t>
            </a:r>
            <a:r>
              <a:rPr sz="1900" spc="22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Quels</a:t>
            </a:r>
            <a:r>
              <a:rPr sz="1900" spc="2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jeux</a:t>
            </a:r>
            <a:r>
              <a:rPr sz="1900" spc="-5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de</a:t>
            </a:r>
            <a:r>
              <a:rPr sz="1900" spc="-6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FBFBF"/>
                </a:solidFill>
                <a:latin typeface="Calibri"/>
                <a:cs typeface="Calibri"/>
              </a:rPr>
              <a:t>données</a:t>
            </a:r>
            <a:r>
              <a:rPr sz="1900" spc="9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BFBFBF"/>
                </a:solidFill>
                <a:latin typeface="Calibri"/>
                <a:cs typeface="Calibri"/>
              </a:rPr>
              <a:t>correspondants?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6051" y="2338044"/>
            <a:ext cx="5966460" cy="1517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" algn="ctr">
              <a:lnSpc>
                <a:spcPts val="5880"/>
              </a:lnSpc>
              <a:spcBef>
                <a:spcPts val="95"/>
              </a:spcBef>
            </a:pPr>
            <a:r>
              <a:rPr sz="5300" spc="-10" dirty="0">
                <a:solidFill>
                  <a:srgbClr val="262626"/>
                </a:solidFill>
                <a:latin typeface="Comic Sans MS"/>
                <a:cs typeface="Comic Sans MS"/>
              </a:rPr>
              <a:t>Couverture</a:t>
            </a:r>
            <a:endParaRPr sz="5300">
              <a:latin typeface="Comic Sans MS"/>
              <a:cs typeface="Comic Sans MS"/>
            </a:endParaRPr>
          </a:p>
          <a:p>
            <a:pPr algn="ctr">
              <a:lnSpc>
                <a:spcPts val="5880"/>
              </a:lnSpc>
            </a:pPr>
            <a:r>
              <a:rPr sz="5300" dirty="0">
                <a:solidFill>
                  <a:srgbClr val="262626"/>
                </a:solidFill>
                <a:latin typeface="Comic Sans MS"/>
                <a:cs typeface="Comic Sans MS"/>
              </a:rPr>
              <a:t>du</a:t>
            </a:r>
            <a:r>
              <a:rPr sz="5300" spc="-6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5300" dirty="0">
                <a:solidFill>
                  <a:srgbClr val="262626"/>
                </a:solidFill>
                <a:latin typeface="Comic Sans MS"/>
                <a:cs typeface="Comic Sans MS"/>
              </a:rPr>
              <a:t>Flot</a:t>
            </a:r>
            <a:r>
              <a:rPr sz="5300" spc="-29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5300" dirty="0">
                <a:solidFill>
                  <a:srgbClr val="262626"/>
                </a:solidFill>
                <a:latin typeface="Comic Sans MS"/>
                <a:cs typeface="Comic Sans MS"/>
              </a:rPr>
              <a:t>de</a:t>
            </a:r>
            <a:r>
              <a:rPr sz="5300" spc="-110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5300" spc="-10" dirty="0">
                <a:solidFill>
                  <a:srgbClr val="262626"/>
                </a:solidFill>
                <a:latin typeface="Comic Sans MS"/>
                <a:cs typeface="Comic Sans MS"/>
              </a:rPr>
              <a:t>Données</a:t>
            </a:r>
            <a:endParaRPr sz="5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2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5" dirty="0">
                <a:latin typeface="Palatino Linotype"/>
                <a:cs typeface="Palatino Linotype"/>
              </a:rPr>
              <a:t>Critères</a:t>
            </a:r>
            <a:r>
              <a:rPr b="1" spc="-204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de</a:t>
            </a:r>
            <a:r>
              <a:rPr b="1" spc="-80" dirty="0">
                <a:latin typeface="Palatino Linotype"/>
                <a:cs typeface="Palatino Linotype"/>
              </a:rPr>
              <a:t> </a:t>
            </a:r>
            <a:r>
              <a:rPr b="1" spc="-25" dirty="0">
                <a:latin typeface="Palatino Linotype"/>
                <a:cs typeface="Palatino Linotype"/>
              </a:rPr>
              <a:t>Tests</a:t>
            </a:r>
            <a:r>
              <a:rPr b="1" spc="-204" dirty="0">
                <a:latin typeface="Palatino Linotype"/>
                <a:cs typeface="Palatino Linotype"/>
              </a:rPr>
              <a:t> </a:t>
            </a:r>
            <a:r>
              <a:rPr b="1" spc="-10" dirty="0">
                <a:latin typeface="Palatino Linotype"/>
                <a:cs typeface="Palatino Linotype"/>
              </a:rPr>
              <a:t>Basés</a:t>
            </a:r>
            <a:r>
              <a:rPr b="1" spc="-100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sur</a:t>
            </a:r>
            <a:r>
              <a:rPr b="1" spc="-125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le</a:t>
            </a:r>
            <a:r>
              <a:rPr b="1" spc="-80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Flot</a:t>
            </a:r>
            <a:r>
              <a:rPr b="1" spc="-250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de</a:t>
            </a:r>
            <a:r>
              <a:rPr b="1" spc="-70" dirty="0">
                <a:latin typeface="Palatino Linotype"/>
                <a:cs typeface="Palatino Linotype"/>
              </a:rPr>
              <a:t> </a:t>
            </a:r>
            <a:r>
              <a:rPr b="1" spc="-10" dirty="0">
                <a:latin typeface="Palatino Linotype"/>
                <a:cs typeface="Palatino Linotype"/>
              </a:rPr>
              <a:t>Données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45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1744" y="2255864"/>
            <a:ext cx="8256905" cy="247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19500"/>
              </a:lnSpc>
              <a:spcBef>
                <a:spcPts val="100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Sélectionnent</a:t>
            </a:r>
            <a:r>
              <a:rPr sz="2300" spc="-3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fonction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définitions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utilisations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variables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85"/>
              </a:spcBef>
            </a:pPr>
            <a:endParaRPr sz="2300">
              <a:latin typeface="Comic Sans MS"/>
              <a:cs typeface="Comic Sans MS"/>
            </a:endParaRPr>
          </a:p>
          <a:p>
            <a:pPr marL="12700" marR="163830" indent="12700">
              <a:lnSpc>
                <a:spcPct val="115799"/>
              </a:lnSpc>
              <a:spcBef>
                <a:spcPts val="5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S’intéresse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aux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chemins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CFG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significatifs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flot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2300" spc="-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2438" y="1369340"/>
            <a:ext cx="607060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spc="-50" dirty="0">
                <a:latin typeface="Comic Sans MS"/>
                <a:cs typeface="Comic Sans MS"/>
              </a:rPr>
              <a:t>Occurrences</a:t>
            </a:r>
            <a:r>
              <a:rPr sz="3900" spc="-335" dirty="0">
                <a:latin typeface="Comic Sans MS"/>
                <a:cs typeface="Comic Sans MS"/>
              </a:rPr>
              <a:t> </a:t>
            </a:r>
            <a:r>
              <a:rPr sz="3900" dirty="0">
                <a:latin typeface="Comic Sans MS"/>
                <a:cs typeface="Comic Sans MS"/>
              </a:rPr>
              <a:t>des</a:t>
            </a:r>
            <a:r>
              <a:rPr sz="3900" spc="-140" dirty="0">
                <a:latin typeface="Comic Sans MS"/>
                <a:cs typeface="Comic Sans MS"/>
              </a:rPr>
              <a:t> </a:t>
            </a:r>
            <a:r>
              <a:rPr sz="3900" spc="-10" dirty="0">
                <a:latin typeface="Comic Sans MS"/>
                <a:cs typeface="Comic Sans MS"/>
              </a:rPr>
              <a:t>Variables</a:t>
            </a:r>
            <a:endParaRPr sz="3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46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3348" y="2062220"/>
            <a:ext cx="8016875" cy="365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48400"/>
              </a:lnSpc>
              <a:spcBef>
                <a:spcPts val="100"/>
              </a:spcBef>
              <a:buClr>
                <a:srgbClr val="D34817"/>
              </a:buClr>
              <a:buFont typeface="Courier New"/>
              <a:buChar char="o"/>
              <a:tabLst>
                <a:tab pos="380365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L’occurrence</a:t>
            </a:r>
            <a:r>
              <a:rPr sz="2300" b="1" spc="-3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définition</a:t>
            </a:r>
            <a:r>
              <a:rPr sz="2300" b="1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définie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lors 	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d’une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instruction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si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valeur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modifiée 	(affectations)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D34817"/>
              </a:buClr>
              <a:buFont typeface="Courier New"/>
              <a:buChar char="o"/>
            </a:pPr>
            <a:endParaRPr sz="2300">
              <a:latin typeface="Comic Sans MS"/>
              <a:cs typeface="Comic Sans MS"/>
            </a:endParaRPr>
          </a:p>
          <a:p>
            <a:pPr marL="379095" marR="139700" indent="-367030">
              <a:lnSpc>
                <a:spcPct val="148400"/>
              </a:lnSpc>
              <a:buClr>
                <a:srgbClr val="D34817"/>
              </a:buClr>
              <a:buFont typeface="Courier New"/>
              <a:buChar char="o"/>
              <a:tabLst>
                <a:tab pos="380365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L’occurrence</a:t>
            </a:r>
            <a:r>
              <a:rPr sz="2300" b="1" spc="-3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d’utilisation</a:t>
            </a:r>
            <a:r>
              <a:rPr sz="2300" b="1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dite 	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référencée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(utilisée)</a:t>
            </a:r>
            <a:r>
              <a:rPr sz="2300" spc="-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instruction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si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valeur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de 	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utilisée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sans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être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modifiée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2438" y="1369340"/>
            <a:ext cx="607060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spc="-50" dirty="0">
                <a:latin typeface="Comic Sans MS"/>
                <a:cs typeface="Comic Sans MS"/>
              </a:rPr>
              <a:t>Occurrences</a:t>
            </a:r>
            <a:r>
              <a:rPr sz="3900" spc="-335" dirty="0">
                <a:latin typeface="Comic Sans MS"/>
                <a:cs typeface="Comic Sans MS"/>
              </a:rPr>
              <a:t> </a:t>
            </a:r>
            <a:r>
              <a:rPr sz="3900" dirty="0">
                <a:latin typeface="Comic Sans MS"/>
                <a:cs typeface="Comic Sans MS"/>
              </a:rPr>
              <a:t>des</a:t>
            </a:r>
            <a:r>
              <a:rPr sz="3900" spc="-140" dirty="0">
                <a:latin typeface="Comic Sans MS"/>
                <a:cs typeface="Comic Sans MS"/>
              </a:rPr>
              <a:t> </a:t>
            </a:r>
            <a:r>
              <a:rPr sz="3900" spc="-10" dirty="0">
                <a:latin typeface="Comic Sans MS"/>
                <a:cs typeface="Comic Sans MS"/>
              </a:rPr>
              <a:t>Variables</a:t>
            </a:r>
            <a:endParaRPr sz="3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47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3348" y="2156119"/>
            <a:ext cx="8078470" cy="372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Deux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types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d’occurrence</a:t>
            </a:r>
            <a:r>
              <a:rPr sz="2300" spc="-3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d’utilisation</a:t>
            </a:r>
            <a:endParaRPr sz="2300" dirty="0">
              <a:latin typeface="Comic Sans MS"/>
              <a:cs typeface="Comic Sans MS"/>
            </a:endParaRPr>
          </a:p>
          <a:p>
            <a:pPr marL="519430" indent="-278130">
              <a:lnSpc>
                <a:spcPct val="100000"/>
              </a:lnSpc>
              <a:spcBef>
                <a:spcPts val="2735"/>
              </a:spcBef>
              <a:buClr>
                <a:srgbClr val="D34817"/>
              </a:buClr>
              <a:buFont typeface="Courier New"/>
              <a:buChar char="o"/>
              <a:tabLst>
                <a:tab pos="519430" algn="l"/>
              </a:tabLst>
            </a:pP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L’utilisation</a:t>
            </a:r>
            <a:r>
              <a:rPr sz="2300" b="1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comme</a:t>
            </a:r>
            <a:r>
              <a:rPr sz="2300" b="1" spc="-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prédicat</a:t>
            </a:r>
            <a:r>
              <a:rPr sz="2300" b="1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 la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référencée</a:t>
            </a:r>
            <a:endParaRPr sz="2300" dirty="0">
              <a:latin typeface="Comic Sans MS"/>
              <a:cs typeface="Comic Sans MS"/>
            </a:endParaRPr>
          </a:p>
          <a:p>
            <a:pPr marL="520065" marR="5080">
              <a:lnSpc>
                <a:spcPts val="3300"/>
              </a:lnSpc>
              <a:spcBef>
                <a:spcPts val="10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utilisée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prédicat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(condition)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d’une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instruction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décision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(if,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while,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…)</a:t>
            </a:r>
            <a:r>
              <a:rPr sz="2300" dirty="0">
                <a:solidFill>
                  <a:srgbClr val="404040"/>
                </a:solidFill>
                <a:latin typeface="Wingdings"/>
                <a:cs typeface="Wingdings"/>
              </a:rPr>
              <a:t></a:t>
            </a:r>
            <a:r>
              <a:rPr sz="23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p-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utilisation</a:t>
            </a:r>
            <a:r>
              <a:rPr sz="2300" b="1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35" dirty="0">
                <a:solidFill>
                  <a:srgbClr val="404040"/>
                </a:solidFill>
                <a:latin typeface="Comic Sans MS"/>
                <a:cs typeface="Comic Sans MS"/>
              </a:rPr>
              <a:t>(p-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use)</a:t>
            </a:r>
            <a:endParaRPr sz="23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300" dirty="0">
              <a:latin typeface="Comic Sans MS"/>
              <a:cs typeface="Comic Sans MS"/>
            </a:endParaRPr>
          </a:p>
          <a:p>
            <a:pPr marL="380365" marR="640080" indent="-152400">
              <a:lnSpc>
                <a:spcPct val="117700"/>
              </a:lnSpc>
            </a:pPr>
            <a:r>
              <a:rPr sz="2300" spc="-10" dirty="0">
                <a:solidFill>
                  <a:srgbClr val="D34817"/>
                </a:solidFill>
                <a:latin typeface="Courier New"/>
                <a:cs typeface="Courier New"/>
              </a:rPr>
              <a:t>o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L’utilisation</a:t>
            </a:r>
            <a:r>
              <a:rPr sz="2300" b="1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b="1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calcul</a:t>
            </a:r>
            <a:r>
              <a:rPr sz="2300" b="1" spc="-4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utilisée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pour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définir</a:t>
            </a:r>
            <a:r>
              <a:rPr sz="23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d’autres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variables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calculer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valeur</a:t>
            </a:r>
            <a:r>
              <a:rPr sz="2300" dirty="0">
                <a:solidFill>
                  <a:srgbClr val="404040"/>
                </a:solidFill>
                <a:latin typeface="Wingdings"/>
                <a:cs typeface="Wingdings"/>
              </a:rPr>
              <a:t></a:t>
            </a:r>
            <a:r>
              <a:rPr sz="23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c-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utilisation</a:t>
            </a:r>
            <a:r>
              <a:rPr sz="2300" b="1" spc="-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25" dirty="0">
                <a:solidFill>
                  <a:srgbClr val="404040"/>
                </a:solidFill>
                <a:latin typeface="Comic Sans MS"/>
                <a:cs typeface="Comic Sans MS"/>
              </a:rPr>
              <a:t>(c-</a:t>
            </a:r>
            <a:r>
              <a:rPr sz="2300" b="1" spc="-20" dirty="0">
                <a:solidFill>
                  <a:srgbClr val="404040"/>
                </a:solidFill>
                <a:latin typeface="Comic Sans MS"/>
                <a:cs typeface="Comic Sans MS"/>
              </a:rPr>
              <a:t>use)</a:t>
            </a:r>
            <a:endParaRPr sz="23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4132" rIns="0" bIns="0" rtlCol="0">
            <a:spAutoFit/>
          </a:bodyPr>
          <a:lstStyle/>
          <a:p>
            <a:pPr marL="2180590">
              <a:lnSpc>
                <a:spcPct val="100000"/>
              </a:lnSpc>
              <a:spcBef>
                <a:spcPts val="95"/>
              </a:spcBef>
            </a:pPr>
            <a:r>
              <a:rPr sz="3900" spc="60" dirty="0"/>
              <a:t>Exemple</a:t>
            </a:r>
            <a:r>
              <a:rPr sz="3900" spc="-210" dirty="0"/>
              <a:t> </a:t>
            </a:r>
            <a:r>
              <a:rPr sz="3900" spc="-10" dirty="0"/>
              <a:t>Factoriel</a:t>
            </a:r>
            <a:endParaRPr sz="39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9469718" y="6364762"/>
            <a:ext cx="24193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00"/>
              </a:lnSpc>
            </a:pPr>
            <a:fld id="{81D60167-4931-47E6-BA6A-407CBD079E47}" type="slidenum">
              <a:rPr sz="1100" spc="-25" dirty="0">
                <a:latin typeface="Times New Roman"/>
                <a:cs typeface="Times New Roman"/>
              </a:rPr>
              <a:t>48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4037" y="2373189"/>
            <a:ext cx="3632835" cy="3091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1465" marR="495934" indent="-279400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291465" algn="l"/>
              </a:tabLst>
            </a:pP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Pour</a:t>
            </a:r>
            <a:r>
              <a:rPr sz="2300" spc="-114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chaque</a:t>
            </a:r>
            <a:r>
              <a:rPr sz="2300" spc="-16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variable, identifier</a:t>
            </a:r>
            <a:r>
              <a:rPr sz="2300" spc="-16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ses instructions</a:t>
            </a:r>
            <a:r>
              <a:rPr sz="2300" spc="-12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de</a:t>
            </a:r>
            <a:endParaRPr sz="2300">
              <a:latin typeface="Comic Sans MS"/>
              <a:cs typeface="Comic Sans MS"/>
            </a:endParaRPr>
          </a:p>
          <a:p>
            <a:pPr marL="291465">
              <a:lnSpc>
                <a:spcPts val="2700"/>
              </a:lnSpc>
            </a:pP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définition</a:t>
            </a:r>
            <a:r>
              <a:rPr sz="2300" spc="-15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et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 d’utilisation</a:t>
            </a:r>
            <a:endParaRPr sz="2300">
              <a:latin typeface="Comic Sans MS"/>
              <a:cs typeface="Comic Sans MS"/>
            </a:endParaRPr>
          </a:p>
          <a:p>
            <a:pPr marL="291465" marR="60960" indent="-279400">
              <a:lnSpc>
                <a:spcPts val="2700"/>
              </a:lnSpc>
              <a:spcBef>
                <a:spcPts val="2475"/>
              </a:spcBef>
              <a:buFont typeface="Arial MT"/>
              <a:buChar char="•"/>
              <a:tabLst>
                <a:tab pos="291465" algn="l"/>
              </a:tabLst>
            </a:pP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Préciser</a:t>
            </a:r>
            <a:r>
              <a:rPr sz="2300" spc="-1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pour</a:t>
            </a:r>
            <a:r>
              <a:rPr sz="2300" spc="-11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chaque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utilisation</a:t>
            </a:r>
            <a:r>
              <a:rPr sz="2300" spc="-12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si</a:t>
            </a:r>
            <a:r>
              <a:rPr sz="2300" spc="-6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c’est</a:t>
            </a:r>
            <a:r>
              <a:rPr sz="2300" spc="-9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une</a:t>
            </a:r>
            <a:r>
              <a:rPr sz="2300" spc="-17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p-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utilisation</a:t>
            </a:r>
            <a:r>
              <a:rPr sz="2300" spc="-114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(p-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use)</a:t>
            </a:r>
            <a:r>
              <a:rPr sz="2300" spc="-145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ou</a:t>
            </a:r>
            <a:r>
              <a:rPr sz="2300" spc="-10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800000"/>
                </a:solidFill>
                <a:latin typeface="Comic Sans MS"/>
                <a:cs typeface="Comic Sans MS"/>
              </a:rPr>
              <a:t>une </a:t>
            </a:r>
            <a:r>
              <a:rPr sz="2300" dirty="0">
                <a:solidFill>
                  <a:srgbClr val="800000"/>
                </a:solidFill>
                <a:latin typeface="Comic Sans MS"/>
                <a:cs typeface="Comic Sans MS"/>
              </a:rPr>
              <a:t>c-</a:t>
            </a:r>
            <a:r>
              <a:rPr sz="2300" spc="-30" dirty="0">
                <a:solidFill>
                  <a:srgbClr val="800000"/>
                </a:solidFill>
                <a:latin typeface="Comic Sans MS"/>
                <a:cs typeface="Comic Sans MS"/>
              </a:rPr>
              <a:t>utilisation</a:t>
            </a:r>
            <a:r>
              <a:rPr sz="2300" spc="-40" dirty="0">
                <a:solidFill>
                  <a:srgbClr val="80000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800000"/>
                </a:solidFill>
                <a:latin typeface="Comic Sans MS"/>
                <a:cs typeface="Comic Sans MS"/>
              </a:rPr>
              <a:t>(c-</a:t>
            </a:r>
            <a:r>
              <a:rPr sz="2300" spc="-20" dirty="0">
                <a:solidFill>
                  <a:srgbClr val="800000"/>
                </a:solidFill>
                <a:latin typeface="Comic Sans MS"/>
                <a:cs typeface="Comic Sans MS"/>
              </a:rPr>
              <a:t>use)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9976" y="2347810"/>
            <a:ext cx="1155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1.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0775" y="2347810"/>
            <a:ext cx="30988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factorial(int</a:t>
            </a:r>
            <a:r>
              <a:rPr sz="1900" spc="3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n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){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8575" y="4390749"/>
            <a:ext cx="10090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30" dirty="0">
                <a:solidFill>
                  <a:srgbClr val="404040"/>
                </a:solidFill>
                <a:latin typeface="Courier New"/>
                <a:cs typeface="Courier New"/>
              </a:rPr>
              <a:t>result;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976" y="2624433"/>
            <a:ext cx="3726179" cy="248729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80695" indent="-467995">
              <a:lnSpc>
                <a:spcPct val="100000"/>
              </a:lnSpc>
              <a:spcBef>
                <a:spcPts val="11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i,</a:t>
            </a:r>
            <a:r>
              <a:rPr sz="1900" spc="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2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1;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1020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for</a:t>
            </a:r>
            <a:r>
              <a:rPr sz="19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=2;</a:t>
            </a:r>
            <a:r>
              <a:rPr sz="1900" spc="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i&lt;=n;</a:t>
            </a:r>
            <a:r>
              <a:rPr sz="1900" spc="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++)</a:t>
            </a:r>
            <a:r>
              <a:rPr sz="1900" spc="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Font typeface="Courier New"/>
              <a:buAutoNum type="arabicPeriod" startAt="2"/>
              <a:tabLst>
                <a:tab pos="748665" algn="l"/>
              </a:tabLst>
            </a:pP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1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spc="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*</a:t>
            </a:r>
            <a:r>
              <a:rPr sz="19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i;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1900" dirty="0">
                <a:solidFill>
                  <a:srgbClr val="D34817"/>
                </a:solidFill>
                <a:latin typeface="Courier New"/>
                <a:cs typeface="Courier New"/>
              </a:rPr>
              <a:t>5.</a:t>
            </a:r>
            <a:r>
              <a:rPr sz="1900" spc="270" dirty="0">
                <a:solidFill>
                  <a:srgbClr val="D34817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900" dirty="0">
                <a:solidFill>
                  <a:srgbClr val="D34817"/>
                </a:solidFill>
                <a:latin typeface="Courier New"/>
                <a:cs typeface="Courier New"/>
              </a:rPr>
              <a:t>6.</a:t>
            </a:r>
            <a:r>
              <a:rPr sz="1900" spc="270" dirty="0">
                <a:solidFill>
                  <a:srgbClr val="D34817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7.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722" rIns="0" bIns="0" rtlCol="0">
            <a:spAutoFit/>
          </a:bodyPr>
          <a:lstStyle/>
          <a:p>
            <a:pPr marL="2524125">
              <a:lnSpc>
                <a:spcPct val="100000"/>
              </a:lnSpc>
              <a:spcBef>
                <a:spcPts val="95"/>
              </a:spcBef>
            </a:pPr>
            <a:r>
              <a:rPr sz="3500" spc="60" dirty="0"/>
              <a:t>Exemple</a:t>
            </a:r>
            <a:r>
              <a:rPr sz="3500" spc="-320" dirty="0"/>
              <a:t> </a:t>
            </a:r>
            <a:r>
              <a:rPr sz="3500" spc="-10" dirty="0"/>
              <a:t>Factoriel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1330323" y="2440211"/>
            <a:ext cx="1155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1.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1123" y="2440211"/>
            <a:ext cx="30988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factorial(int</a:t>
            </a:r>
            <a:r>
              <a:rPr sz="1900" spc="3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n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){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0323" y="2716832"/>
            <a:ext cx="3726179" cy="248729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80695" indent="-467995">
              <a:lnSpc>
                <a:spcPct val="100000"/>
              </a:lnSpc>
              <a:spcBef>
                <a:spcPts val="11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i,</a:t>
            </a:r>
            <a:r>
              <a:rPr sz="1900" spc="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2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1;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1020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for</a:t>
            </a:r>
            <a:r>
              <a:rPr sz="19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=2;</a:t>
            </a:r>
            <a:r>
              <a:rPr sz="1900" spc="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i&lt;=n;</a:t>
            </a:r>
            <a:r>
              <a:rPr sz="1900" spc="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++)</a:t>
            </a:r>
            <a:r>
              <a:rPr sz="1900" spc="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Font typeface="Courier New"/>
              <a:buAutoNum type="arabicPeriod" startAt="2"/>
              <a:tabLst>
                <a:tab pos="748665" algn="l"/>
              </a:tabLst>
            </a:pP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1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spc="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*</a:t>
            </a:r>
            <a:r>
              <a:rPr sz="19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i;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20"/>
              </a:spcBef>
              <a:buClr>
                <a:srgbClr val="D34817"/>
              </a:buClr>
              <a:buAutoNum type="arabicPeriod" startAt="2"/>
              <a:tabLst>
                <a:tab pos="748665" algn="l"/>
              </a:tabLst>
            </a:pP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900" spc="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urier New"/>
                <a:cs typeface="Courier New"/>
              </a:rPr>
              <a:t>result;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7.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92723" y="4298023"/>
          <a:ext cx="3712843" cy="166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Variable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382905" indent="25400">
                        <a:lnSpc>
                          <a:spcPts val="1500"/>
                        </a:lnSpc>
                        <a:spcBef>
                          <a:spcPts val="36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Ligne</a:t>
                      </a:r>
                      <a:r>
                        <a:rPr sz="13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25" dirty="0">
                          <a:latin typeface="Tahoma"/>
                          <a:cs typeface="Tahoma"/>
                        </a:rPr>
                        <a:t>de 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définition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76860" marR="267335" indent="215900">
                        <a:lnSpc>
                          <a:spcPts val="1500"/>
                        </a:lnSpc>
                        <a:spcBef>
                          <a:spcPts val="36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Ligne d’utilisation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3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10" dirty="0">
                          <a:latin typeface="Tahoma"/>
                          <a:cs typeface="Tahoma"/>
                        </a:rPr>
                        <a:t>(p-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use)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résultat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5" dirty="0">
                          <a:latin typeface="Tahoma"/>
                          <a:cs typeface="Tahoma"/>
                        </a:rPr>
                        <a:t>2,4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518159" marR="184785" indent="-342900">
                        <a:lnSpc>
                          <a:spcPts val="15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4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(c-</a:t>
                      </a:r>
                      <a:r>
                        <a:rPr sz="1300" spc="-10" dirty="0">
                          <a:latin typeface="Tahoma"/>
                          <a:cs typeface="Tahoma"/>
                        </a:rPr>
                        <a:t>use),6(c- 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use)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i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5" dirty="0">
                          <a:latin typeface="Tahoma"/>
                          <a:cs typeface="Tahoma"/>
                        </a:rPr>
                        <a:t>2,3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0"/>
                        </a:lnSpc>
                        <a:spcBef>
                          <a:spcPts val="254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3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10" dirty="0">
                          <a:latin typeface="Tahoma"/>
                          <a:cs typeface="Tahoma"/>
                        </a:rPr>
                        <a:t>(p-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use,</a:t>
                      </a:r>
                      <a:r>
                        <a:rPr sz="13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25" dirty="0">
                          <a:latin typeface="Tahoma"/>
                          <a:cs typeface="Tahoma"/>
                        </a:rPr>
                        <a:t>c-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R="5715" algn="ctr">
                        <a:lnSpc>
                          <a:spcPts val="1530"/>
                        </a:lnSpc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use),4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(c-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use)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5168" y="6322010"/>
            <a:ext cx="2038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3930" y="1373400"/>
            <a:ext cx="503618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b="1" spc="-40" dirty="0">
                <a:latin typeface="Palatino Linotype"/>
                <a:cs typeface="Palatino Linotype"/>
              </a:rPr>
              <a:t>Instruction</a:t>
            </a:r>
            <a:r>
              <a:rPr sz="3900" b="1" spc="-355" dirty="0">
                <a:latin typeface="Palatino Linotype"/>
                <a:cs typeface="Palatino Linotype"/>
              </a:rPr>
              <a:t> </a:t>
            </a:r>
            <a:r>
              <a:rPr sz="3900" b="1" spc="-10" dirty="0">
                <a:latin typeface="Palatino Linotype"/>
                <a:cs typeface="Palatino Linotype"/>
              </a:rPr>
              <a:t>Utilisatrice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5118" y="6349563"/>
            <a:ext cx="1784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25" dirty="0">
                <a:latin typeface="Times New Roman"/>
                <a:cs typeface="Times New Roman"/>
              </a:rPr>
              <a:t>50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3534" rIns="0" bIns="0" rtlCol="0">
            <a:spAutoFit/>
          </a:bodyPr>
          <a:lstStyle/>
          <a:p>
            <a:pPr marR="5080">
              <a:lnSpc>
                <a:spcPct val="146000"/>
              </a:lnSpc>
              <a:spcBef>
                <a:spcPts val="65"/>
              </a:spcBef>
            </a:pPr>
            <a:r>
              <a:rPr dirty="0"/>
              <a:t>Une</a:t>
            </a:r>
            <a:r>
              <a:rPr spc="-95" dirty="0"/>
              <a:t> </a:t>
            </a:r>
            <a:r>
              <a:rPr spc="-25" dirty="0"/>
              <a:t>instruction</a:t>
            </a:r>
            <a:r>
              <a:rPr spc="-195" dirty="0"/>
              <a:t> </a:t>
            </a:r>
            <a:r>
              <a:rPr b="1" spc="-15" dirty="0">
                <a:latin typeface="Comic Sans MS"/>
                <a:cs typeface="Comic Sans MS"/>
              </a:rPr>
              <a:t>j2</a:t>
            </a:r>
            <a:r>
              <a:rPr b="1" spc="-405" dirty="0">
                <a:latin typeface="Comic Sans MS"/>
                <a:cs typeface="Comic Sans MS"/>
              </a:rPr>
              <a:t> </a:t>
            </a:r>
            <a:r>
              <a:rPr dirty="0"/>
              <a:t>est</a:t>
            </a:r>
            <a:r>
              <a:rPr spc="-90" dirty="0"/>
              <a:t> </a:t>
            </a:r>
            <a:r>
              <a:rPr b="1" spc="-10" dirty="0">
                <a:latin typeface="Comic Sans MS"/>
                <a:cs typeface="Comic Sans MS"/>
              </a:rPr>
              <a:t>utilisatrice</a:t>
            </a:r>
            <a:r>
              <a:rPr b="1" spc="-105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d’une</a:t>
            </a:r>
            <a:r>
              <a:rPr b="1" spc="-204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variable</a:t>
            </a:r>
            <a:r>
              <a:rPr b="1" spc="-204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x</a:t>
            </a:r>
            <a:r>
              <a:rPr b="1" spc="-75" dirty="0">
                <a:latin typeface="Comic Sans MS"/>
                <a:cs typeface="Comic Sans MS"/>
              </a:rPr>
              <a:t> </a:t>
            </a:r>
            <a:r>
              <a:rPr b="1" spc="-25" dirty="0">
                <a:latin typeface="Comic Sans MS"/>
                <a:cs typeface="Comic Sans MS"/>
              </a:rPr>
              <a:t>par </a:t>
            </a:r>
            <a:r>
              <a:rPr b="1" dirty="0">
                <a:latin typeface="Comic Sans MS"/>
                <a:cs typeface="Comic Sans MS"/>
              </a:rPr>
              <a:t>rapport</a:t>
            </a:r>
            <a:r>
              <a:rPr b="1" spc="-105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à</a:t>
            </a:r>
            <a:r>
              <a:rPr b="1" spc="-90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une</a:t>
            </a:r>
            <a:r>
              <a:rPr b="1" spc="-95" dirty="0">
                <a:latin typeface="Comic Sans MS"/>
                <a:cs typeface="Comic Sans MS"/>
              </a:rPr>
              <a:t> </a:t>
            </a:r>
            <a:r>
              <a:rPr b="1" spc="-20" dirty="0">
                <a:latin typeface="Comic Sans MS"/>
                <a:cs typeface="Comic Sans MS"/>
              </a:rPr>
              <a:t>instruction</a:t>
            </a:r>
            <a:r>
              <a:rPr b="1" spc="-210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j1</a:t>
            </a:r>
            <a:r>
              <a:rPr dirty="0"/>
              <a:t>,</a:t>
            </a:r>
            <a:r>
              <a:rPr spc="-35" dirty="0"/>
              <a:t> </a:t>
            </a:r>
            <a:r>
              <a:rPr dirty="0"/>
              <a:t>si</a:t>
            </a:r>
            <a:r>
              <a:rPr spc="-4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spc="-10" dirty="0"/>
              <a:t>variable</a:t>
            </a:r>
            <a:r>
              <a:rPr spc="-150" dirty="0"/>
              <a:t> </a:t>
            </a:r>
            <a:r>
              <a:rPr b="1" spc="-20" dirty="0">
                <a:latin typeface="Comic Sans MS"/>
                <a:cs typeface="Comic Sans MS"/>
              </a:rPr>
              <a:t>x</a:t>
            </a:r>
            <a:r>
              <a:rPr b="1" spc="-355" dirty="0">
                <a:latin typeface="Comic Sans MS"/>
                <a:cs typeface="Comic Sans MS"/>
              </a:rPr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été</a:t>
            </a:r>
            <a:r>
              <a:rPr spc="-155" dirty="0"/>
              <a:t> </a:t>
            </a:r>
            <a:r>
              <a:rPr spc="-10" dirty="0"/>
              <a:t>définie</a:t>
            </a:r>
            <a:r>
              <a:rPr spc="-155" dirty="0"/>
              <a:t> </a:t>
            </a:r>
            <a:r>
              <a:rPr spc="-25" dirty="0"/>
              <a:t>en </a:t>
            </a:r>
            <a:r>
              <a:rPr dirty="0"/>
              <a:t>j1</a:t>
            </a:r>
            <a:r>
              <a:rPr spc="5" dirty="0"/>
              <a:t> </a:t>
            </a:r>
            <a:r>
              <a:rPr dirty="0"/>
              <a:t>et</a:t>
            </a:r>
            <a:r>
              <a:rPr spc="-40" dirty="0"/>
              <a:t> </a:t>
            </a:r>
            <a:r>
              <a:rPr spc="-10" dirty="0"/>
              <a:t>peut</a:t>
            </a:r>
            <a:r>
              <a:rPr spc="-145" dirty="0"/>
              <a:t> </a:t>
            </a:r>
            <a:r>
              <a:rPr dirty="0"/>
              <a:t>être</a:t>
            </a:r>
            <a:r>
              <a:rPr spc="-120" dirty="0"/>
              <a:t> </a:t>
            </a:r>
            <a:r>
              <a:rPr dirty="0"/>
              <a:t>directement</a:t>
            </a:r>
            <a:r>
              <a:rPr spc="-355" dirty="0"/>
              <a:t> </a:t>
            </a:r>
            <a:r>
              <a:rPr spc="-10" dirty="0"/>
              <a:t>référencée</a:t>
            </a:r>
            <a:r>
              <a:rPr spc="-225" dirty="0"/>
              <a:t> </a:t>
            </a:r>
            <a:r>
              <a:rPr dirty="0"/>
              <a:t>dans</a:t>
            </a:r>
            <a:r>
              <a:rPr spc="-185" dirty="0"/>
              <a:t> </a:t>
            </a:r>
            <a:r>
              <a:rPr dirty="0"/>
              <a:t>j2,</a:t>
            </a:r>
            <a:r>
              <a:rPr spc="10" dirty="0"/>
              <a:t> </a:t>
            </a:r>
            <a:r>
              <a:rPr dirty="0"/>
              <a:t>c’est-à-</a:t>
            </a:r>
            <a:r>
              <a:rPr spc="-20" dirty="0"/>
              <a:t>dire </a:t>
            </a:r>
            <a:r>
              <a:rPr dirty="0"/>
              <a:t>sans</a:t>
            </a:r>
            <a:r>
              <a:rPr spc="-110" dirty="0"/>
              <a:t> </a:t>
            </a:r>
            <a:r>
              <a:rPr spc="-10" dirty="0"/>
              <a:t>redéfinition</a:t>
            </a:r>
            <a:r>
              <a:rPr spc="-29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x</a:t>
            </a:r>
            <a:r>
              <a:rPr spc="-40" dirty="0"/>
              <a:t> </a:t>
            </a:r>
            <a:r>
              <a:rPr dirty="0"/>
              <a:t>entre</a:t>
            </a:r>
            <a:r>
              <a:rPr spc="-150" dirty="0"/>
              <a:t> </a:t>
            </a:r>
            <a:r>
              <a:rPr dirty="0"/>
              <a:t>j1</a:t>
            </a:r>
            <a:r>
              <a:rPr spc="-25" dirty="0"/>
              <a:t> </a:t>
            </a:r>
            <a:r>
              <a:rPr dirty="0"/>
              <a:t>et</a:t>
            </a:r>
            <a:r>
              <a:rPr spc="-165" dirty="0"/>
              <a:t> </a:t>
            </a:r>
            <a:r>
              <a:rPr spc="-25" dirty="0"/>
              <a:t>j2</a:t>
            </a:r>
          </a:p>
          <a:p>
            <a:pPr marL="727710">
              <a:lnSpc>
                <a:spcPct val="100000"/>
              </a:lnSpc>
              <a:spcBef>
                <a:spcPts val="1335"/>
              </a:spcBef>
            </a:pPr>
            <a:r>
              <a:rPr dirty="0"/>
              <a:t>La</a:t>
            </a:r>
            <a:r>
              <a:rPr spc="-70" dirty="0"/>
              <a:t> </a:t>
            </a:r>
            <a:r>
              <a:rPr spc="-10" dirty="0"/>
              <a:t>valeur</a:t>
            </a:r>
            <a:r>
              <a:rPr spc="-190" dirty="0"/>
              <a:t> </a:t>
            </a:r>
            <a:r>
              <a:rPr dirty="0"/>
              <a:t>qui</a:t>
            </a:r>
            <a:r>
              <a:rPr spc="-2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été</a:t>
            </a:r>
            <a:r>
              <a:rPr spc="-145" dirty="0"/>
              <a:t> </a:t>
            </a:r>
            <a:r>
              <a:rPr spc="-10" dirty="0"/>
              <a:t>attribuée</a:t>
            </a:r>
            <a:r>
              <a:rPr spc="-245" dirty="0"/>
              <a:t> </a:t>
            </a:r>
            <a:r>
              <a:rPr dirty="0"/>
              <a:t>à</a:t>
            </a:r>
            <a:r>
              <a:rPr spc="-55" dirty="0"/>
              <a:t> </a:t>
            </a:r>
            <a:r>
              <a:rPr dirty="0"/>
              <a:t>x</a:t>
            </a:r>
            <a:r>
              <a:rPr spc="-40" dirty="0"/>
              <a:t> </a:t>
            </a:r>
            <a:r>
              <a:rPr dirty="0"/>
              <a:t>en</a:t>
            </a:r>
            <a:r>
              <a:rPr spc="-90" dirty="0"/>
              <a:t> </a:t>
            </a:r>
            <a:r>
              <a:rPr dirty="0"/>
              <a:t>j1</a:t>
            </a:r>
            <a:r>
              <a:rPr spc="-15" dirty="0"/>
              <a:t> </a:t>
            </a:r>
            <a:r>
              <a:rPr dirty="0"/>
              <a:t>peut</a:t>
            </a:r>
            <a:r>
              <a:rPr spc="-70" dirty="0"/>
              <a:t> </a:t>
            </a:r>
            <a:r>
              <a:rPr dirty="0"/>
              <a:t>être</a:t>
            </a:r>
            <a:r>
              <a:rPr spc="-140" dirty="0"/>
              <a:t> </a:t>
            </a:r>
            <a:r>
              <a:rPr spc="-10" dirty="0"/>
              <a:t>utilisée</a:t>
            </a:r>
          </a:p>
          <a:p>
            <a:pPr>
              <a:lnSpc>
                <a:spcPct val="100000"/>
              </a:lnSpc>
              <a:spcBef>
                <a:spcPts val="1340"/>
              </a:spcBef>
            </a:pPr>
            <a:r>
              <a:rPr dirty="0"/>
              <a:t>en</a:t>
            </a:r>
            <a:r>
              <a:rPr spc="-60" dirty="0"/>
              <a:t> </a:t>
            </a:r>
            <a:r>
              <a:rPr spc="-25" dirty="0"/>
              <a:t>j2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554" rIns="0" bIns="0" rtlCol="0">
            <a:spAutoFit/>
          </a:bodyPr>
          <a:lstStyle/>
          <a:p>
            <a:pPr marL="2395220">
              <a:lnSpc>
                <a:spcPct val="100000"/>
              </a:lnSpc>
              <a:spcBef>
                <a:spcPts val="95"/>
              </a:spcBef>
            </a:pPr>
            <a:r>
              <a:rPr sz="3900" spc="60" dirty="0"/>
              <a:t>Exemple</a:t>
            </a:r>
            <a:r>
              <a:rPr sz="3900" spc="-204" dirty="0"/>
              <a:t> </a:t>
            </a:r>
            <a:r>
              <a:rPr sz="3900" spc="-10" dirty="0"/>
              <a:t>Factoriel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1330325" y="2440211"/>
            <a:ext cx="1155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1.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1125" y="2440211"/>
            <a:ext cx="30988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factorial(int</a:t>
            </a:r>
            <a:r>
              <a:rPr sz="1900" spc="3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n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){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0325" y="2716832"/>
            <a:ext cx="3726179" cy="248729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80695" indent="-467995">
              <a:lnSpc>
                <a:spcPct val="100000"/>
              </a:lnSpc>
              <a:spcBef>
                <a:spcPts val="11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i,</a:t>
            </a:r>
            <a:r>
              <a:rPr sz="1900" spc="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2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1;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1020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for</a:t>
            </a:r>
            <a:r>
              <a:rPr sz="19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=2;</a:t>
            </a:r>
            <a:r>
              <a:rPr sz="1900" spc="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i&lt;=n;</a:t>
            </a:r>
            <a:r>
              <a:rPr sz="1900" spc="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++)</a:t>
            </a:r>
            <a:r>
              <a:rPr sz="1900" spc="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Font typeface="Courier New"/>
              <a:buAutoNum type="arabicPeriod" startAt="2"/>
              <a:tabLst>
                <a:tab pos="748665" algn="l"/>
              </a:tabLst>
            </a:pP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1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spc="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*</a:t>
            </a:r>
            <a:r>
              <a:rPr sz="19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i;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20"/>
              </a:spcBef>
              <a:buClr>
                <a:srgbClr val="D34817"/>
              </a:buClr>
              <a:buAutoNum type="arabicPeriod" startAt="2"/>
              <a:tabLst>
                <a:tab pos="748665" algn="l"/>
              </a:tabLst>
            </a:pP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900" spc="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urier New"/>
                <a:cs typeface="Courier New"/>
              </a:rPr>
              <a:t>result;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7.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8377" y="4169605"/>
            <a:ext cx="3234690" cy="14878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065" marR="5080" algn="ctr">
              <a:lnSpc>
                <a:spcPts val="2800"/>
              </a:lnSpc>
              <a:spcBef>
                <a:spcPts val="455"/>
              </a:spcBef>
            </a:pPr>
            <a:r>
              <a:rPr sz="2600" dirty="0">
                <a:solidFill>
                  <a:srgbClr val="800000"/>
                </a:solidFill>
                <a:latin typeface="Calibri"/>
                <a:cs typeface="Calibri"/>
              </a:rPr>
              <a:t>Pour</a:t>
            </a:r>
            <a:r>
              <a:rPr sz="2600" spc="-8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800000"/>
                </a:solidFill>
                <a:latin typeface="Calibri"/>
                <a:cs typeface="Calibri"/>
              </a:rPr>
              <a:t>chaque</a:t>
            </a:r>
            <a:r>
              <a:rPr sz="2600" spc="-18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Calibri"/>
                <a:cs typeface="Calibri"/>
              </a:rPr>
              <a:t>instruction </a:t>
            </a:r>
            <a:r>
              <a:rPr sz="2600" dirty="0">
                <a:solidFill>
                  <a:srgbClr val="800000"/>
                </a:solidFill>
                <a:latin typeface="Calibri"/>
                <a:cs typeface="Calibri"/>
              </a:rPr>
              <a:t>de</a:t>
            </a:r>
            <a:r>
              <a:rPr sz="2600" spc="-1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800000"/>
                </a:solidFill>
                <a:latin typeface="Calibri"/>
                <a:cs typeface="Calibri"/>
              </a:rPr>
              <a:t>définition</a:t>
            </a:r>
            <a:r>
              <a:rPr sz="2600" spc="-9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Calibri"/>
                <a:cs typeface="Calibri"/>
              </a:rPr>
              <a:t>d’une variable,</a:t>
            </a:r>
            <a:r>
              <a:rPr sz="2600" spc="-3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Calibri"/>
                <a:cs typeface="Calibri"/>
              </a:rPr>
              <a:t>préciser</a:t>
            </a:r>
            <a:r>
              <a:rPr sz="2600" spc="-18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Calibri"/>
                <a:cs typeface="Calibri"/>
              </a:rPr>
              <a:t>ses </a:t>
            </a:r>
            <a:r>
              <a:rPr sz="2600" dirty="0">
                <a:solidFill>
                  <a:srgbClr val="800000"/>
                </a:solidFill>
                <a:latin typeface="Calibri"/>
                <a:cs typeface="Calibri"/>
              </a:rPr>
              <a:t>instructions</a:t>
            </a:r>
            <a:r>
              <a:rPr sz="2600" spc="-14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Calibri"/>
                <a:cs typeface="Calibri"/>
              </a:rPr>
              <a:t>utilisatrices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206" rIns="0" bIns="0" rtlCol="0">
            <a:spAutoFit/>
          </a:bodyPr>
          <a:lstStyle/>
          <a:p>
            <a:pPr marL="2333625">
              <a:lnSpc>
                <a:spcPct val="100000"/>
              </a:lnSpc>
              <a:spcBef>
                <a:spcPts val="95"/>
              </a:spcBef>
            </a:pPr>
            <a:r>
              <a:rPr sz="3900" spc="60" dirty="0"/>
              <a:t>Exemple</a:t>
            </a:r>
            <a:r>
              <a:rPr sz="3900" spc="-204" dirty="0"/>
              <a:t> </a:t>
            </a:r>
            <a:r>
              <a:rPr sz="3900" spc="-10" dirty="0"/>
              <a:t>Factoriel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1330325" y="2440211"/>
            <a:ext cx="11557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1.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public</a:t>
            </a:r>
            <a:endParaRPr sz="1900">
              <a:latin typeface="Courier New"/>
              <a:cs typeface="Courier New"/>
            </a:endParaRPr>
          </a:p>
          <a:p>
            <a:pPr marL="241300">
              <a:lnSpc>
                <a:spcPts val="2190"/>
              </a:lnSpc>
            </a:pPr>
            <a:r>
              <a:rPr sz="1900" b="1" spc="-25" dirty="0">
                <a:solidFill>
                  <a:srgbClr val="404040"/>
                </a:solidFill>
                <a:latin typeface="Courier New"/>
                <a:cs typeface="Courier New"/>
              </a:rPr>
              <a:t>n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){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1125" y="2440211"/>
            <a:ext cx="24695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urier New"/>
                <a:cs typeface="Courier New"/>
              </a:rPr>
              <a:t>factorial(int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09170" y="3523650"/>
          <a:ext cx="3712843" cy="1545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Variable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382905" indent="25400">
                        <a:lnSpc>
                          <a:spcPts val="15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Ligne</a:t>
                      </a:r>
                      <a:r>
                        <a:rPr sz="13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25" dirty="0">
                          <a:latin typeface="Tahoma"/>
                          <a:cs typeface="Tahoma"/>
                        </a:rPr>
                        <a:t>de 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définition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76860" marR="267335" indent="215900">
                        <a:lnSpc>
                          <a:spcPts val="15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Ligne d’utilisation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3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résultat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2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résultat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résultat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50" dirty="0">
                          <a:latin typeface="Tahoma"/>
                          <a:cs typeface="Tahoma"/>
                        </a:rPr>
                        <a:t>6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30325" y="2983305"/>
            <a:ext cx="7281545" cy="304927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80695" indent="-467995">
              <a:lnSpc>
                <a:spcPct val="100000"/>
              </a:lnSpc>
              <a:spcBef>
                <a:spcPts val="11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int</a:t>
            </a:r>
            <a:r>
              <a:rPr sz="19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i,</a:t>
            </a:r>
            <a:r>
              <a:rPr sz="1900" spc="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2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1;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1020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for</a:t>
            </a:r>
            <a:r>
              <a:rPr sz="19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=2;</a:t>
            </a:r>
            <a:r>
              <a:rPr sz="1900" spc="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i&lt;=n;</a:t>
            </a:r>
            <a:r>
              <a:rPr sz="1900" spc="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++)</a:t>
            </a:r>
            <a:r>
              <a:rPr sz="1900" spc="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Font typeface="Courier New"/>
              <a:buAutoNum type="arabicPeriod" startAt="2"/>
              <a:tabLst>
                <a:tab pos="748665" algn="l"/>
              </a:tabLst>
            </a:pPr>
            <a:r>
              <a:rPr sz="1900" b="1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b="1" spc="1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900" spc="-8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result</a:t>
            </a:r>
            <a:r>
              <a:rPr sz="1900" spc="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*</a:t>
            </a:r>
            <a:r>
              <a:rPr sz="19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i;</a:t>
            </a:r>
            <a:endParaRPr sz="1900">
              <a:latin typeface="Courier New"/>
              <a:cs typeface="Courier New"/>
            </a:endParaRPr>
          </a:p>
          <a:p>
            <a:pPr marL="748665" indent="-735965">
              <a:lnSpc>
                <a:spcPct val="100000"/>
              </a:lnSpc>
              <a:spcBef>
                <a:spcPts val="920"/>
              </a:spcBef>
              <a:buClr>
                <a:srgbClr val="D34817"/>
              </a:buClr>
              <a:buAutoNum type="arabicPeriod" startAt="2"/>
              <a:tabLst>
                <a:tab pos="748665" algn="l"/>
              </a:tabLst>
            </a:pPr>
            <a:r>
              <a:rPr sz="19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480695" indent="-467995">
              <a:lnSpc>
                <a:spcPct val="100000"/>
              </a:lnSpc>
              <a:spcBef>
                <a:spcPts val="915"/>
              </a:spcBef>
              <a:buClr>
                <a:srgbClr val="D34817"/>
              </a:buClr>
              <a:buAutoNum type="arabicPeriod" startAt="2"/>
              <a:tabLst>
                <a:tab pos="480695" algn="l"/>
              </a:tabLst>
            </a:pPr>
            <a:r>
              <a:rPr sz="1900" dirty="0">
                <a:solidFill>
                  <a:srgbClr val="404040"/>
                </a:solidFill>
                <a:latin typeface="Courier New"/>
                <a:cs typeface="Courier New"/>
              </a:rPr>
              <a:t>return</a:t>
            </a:r>
            <a:r>
              <a:rPr sz="1900" spc="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urier New"/>
                <a:cs typeface="Courier New"/>
              </a:rPr>
              <a:t>result;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50"/>
              </a:lnSpc>
              <a:spcBef>
                <a:spcPts val="915"/>
              </a:spcBef>
            </a:pPr>
            <a:r>
              <a:rPr sz="1900" spc="-25" dirty="0">
                <a:solidFill>
                  <a:srgbClr val="D34817"/>
                </a:solidFill>
                <a:latin typeface="Courier New"/>
                <a:cs typeface="Courier New"/>
              </a:rPr>
              <a:t>7.</a:t>
            </a:r>
            <a:r>
              <a:rPr sz="1900" spc="-2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2468245" algn="ctr">
              <a:lnSpc>
                <a:spcPts val="2150"/>
              </a:lnSpc>
            </a:pP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Compléter</a:t>
            </a:r>
            <a:r>
              <a:rPr sz="1900" spc="1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le</a:t>
            </a:r>
            <a:r>
              <a:rPr sz="1900" spc="-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tableau</a:t>
            </a:r>
            <a:r>
              <a:rPr sz="19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omic Sans MS"/>
                <a:cs typeface="Comic Sans MS"/>
              </a:rPr>
              <a:t>avec</a:t>
            </a:r>
            <a:endParaRPr sz="1900">
              <a:latin typeface="Comic Sans MS"/>
              <a:cs typeface="Comic Sans MS"/>
            </a:endParaRPr>
          </a:p>
          <a:p>
            <a:pPr marL="2463800" algn="ctr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les</a:t>
            </a:r>
            <a:r>
              <a:rPr sz="1900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lignes</a:t>
            </a:r>
            <a:r>
              <a:rPr sz="190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19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définition</a:t>
            </a:r>
            <a:r>
              <a:rPr sz="1900" spc="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et</a:t>
            </a:r>
            <a:r>
              <a:rPr sz="19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d’utilisation</a:t>
            </a:r>
            <a:r>
              <a:rPr sz="1900" spc="1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19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6351" y="3020957"/>
            <a:ext cx="3710304" cy="847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00" b="1" spc="-10" dirty="0">
                <a:solidFill>
                  <a:srgbClr val="262626"/>
                </a:solidFill>
                <a:latin typeface="Comic Sans MS"/>
                <a:cs typeface="Comic Sans MS"/>
              </a:rPr>
              <a:t>Références</a:t>
            </a:r>
            <a:endParaRPr sz="5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 sz="3900" b="1" spc="-25" dirty="0">
                <a:latin typeface="Comic Sans MS"/>
                <a:cs typeface="Comic Sans MS"/>
              </a:rPr>
              <a:t>Références</a:t>
            </a:r>
            <a:endParaRPr sz="3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5168" y="6329903"/>
            <a:ext cx="203835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74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1218" y="6332502"/>
            <a:ext cx="906144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300" dirty="0">
                <a:solidFill>
                  <a:srgbClr val="FFFFFF"/>
                </a:solidFill>
                <a:latin typeface="Calibri"/>
                <a:cs typeface="Calibri"/>
              </a:rPr>
              <a:t>I. NIKIEMA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258" y="6348145"/>
            <a:ext cx="2436942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INF4000-GL</a:t>
            </a:r>
            <a:r>
              <a:rPr sz="13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UVBF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GL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/DI/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1711" y="2209308"/>
            <a:ext cx="7297420" cy="9848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12700">
              <a:lnSpc>
                <a:spcPts val="2400"/>
              </a:lnSpc>
              <a:spcBef>
                <a:spcPts val="47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cours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basé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cours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Méthodes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validation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Logiciel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Pr.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Antoniol</a:t>
            </a:r>
            <a:r>
              <a:rPr sz="23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Giuliano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l’Ecole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Polytechnique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Montréal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2634</Words>
  <Application>Microsoft Office PowerPoint</Application>
  <PresentationFormat>Personnalisé</PresentationFormat>
  <Paragraphs>519</Paragraphs>
  <Slides>54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54</vt:i4>
      </vt:variant>
    </vt:vector>
  </HeadingPairs>
  <TitlesOfParts>
    <vt:vector size="65" baseType="lpstr">
      <vt:lpstr>Arial MT</vt:lpstr>
      <vt:lpstr>Calibri</vt:lpstr>
      <vt:lpstr>Cambria</vt:lpstr>
      <vt:lpstr>Comic Sans MS</vt:lpstr>
      <vt:lpstr>Courier New</vt:lpstr>
      <vt:lpstr>Palatino Linotype</vt:lpstr>
      <vt:lpstr>Symbol</vt:lpstr>
      <vt:lpstr>Tahoma</vt:lpstr>
      <vt:lpstr>Times New Roman</vt:lpstr>
      <vt:lpstr>Wingdings</vt:lpstr>
      <vt:lpstr>Office Theme</vt:lpstr>
      <vt:lpstr>INF4000 Génie Logiciel</vt:lpstr>
      <vt:lpstr>Tests Logiciels</vt:lpstr>
      <vt:lpstr>Plan</vt:lpstr>
      <vt:lpstr>Tests Logiciels : Tests Boite Blanche</vt:lpstr>
      <vt:lpstr>Tests Boite Blanche</vt:lpstr>
      <vt:lpstr>Couverture du Flot de Contrôle</vt:lpstr>
      <vt:lpstr>Graphe de Flot de Contrôle</vt:lpstr>
      <vt:lpstr>Graphe de Flot de Contrôle</vt:lpstr>
      <vt:lpstr>Graphe de Flot de Contrôle</vt:lpstr>
      <vt:lpstr>Principes du CFG</vt:lpstr>
      <vt:lpstr>Principes du CFG</vt:lpstr>
      <vt:lpstr>Principes du CFG</vt:lpstr>
      <vt:lpstr>Principes du CFG</vt:lpstr>
      <vt:lpstr>Principes du CFG</vt:lpstr>
      <vt:lpstr>Principes du CFG</vt:lpstr>
      <vt:lpstr>Principes du CFG</vt:lpstr>
      <vt:lpstr>Principes du CFG</vt:lpstr>
      <vt:lpstr>Principes du CFG</vt:lpstr>
      <vt:lpstr>Principes du CFG</vt:lpstr>
      <vt:lpstr>Principes du CFG</vt:lpstr>
      <vt:lpstr>Chemin de Contrôle</vt:lpstr>
      <vt:lpstr>Chemin de Contrôle</vt:lpstr>
      <vt:lpstr>Chemin de Contrôle</vt:lpstr>
      <vt:lpstr>Critère de Couverture</vt:lpstr>
      <vt:lpstr>Critère de Couverture</vt:lpstr>
      <vt:lpstr>Critère de Couverture</vt:lpstr>
      <vt:lpstr>Couverture des Nœuds</vt:lpstr>
      <vt:lpstr>Couverture des Nœuds</vt:lpstr>
      <vt:lpstr>Couverture des Nœuds</vt:lpstr>
      <vt:lpstr>Couverture des Arêtes</vt:lpstr>
      <vt:lpstr>Exercice</vt:lpstr>
      <vt:lpstr>Couverture des Conditions</vt:lpstr>
      <vt:lpstr>Couverture des Conditions</vt:lpstr>
      <vt:lpstr>Couverture des Conditions</vt:lpstr>
      <vt:lpstr>Couverture des Chemins</vt:lpstr>
      <vt:lpstr>Couverture des chemins</vt:lpstr>
      <vt:lpstr>Couverture des Chemins</vt:lpstr>
      <vt:lpstr>Couverture des Chemins Cas des boucles</vt:lpstr>
      <vt:lpstr>Autres Critères de Couverture</vt:lpstr>
      <vt:lpstr>Autres Critères de Couverture</vt:lpstr>
      <vt:lpstr>Couverture du CFG en Pratique</vt:lpstr>
      <vt:lpstr>Couverture du CFG en Pratique</vt:lpstr>
      <vt:lpstr>Exercices</vt:lpstr>
      <vt:lpstr>Couverture du Flot de Données</vt:lpstr>
      <vt:lpstr>Critères de Tests Basés sur le Flot de Données</vt:lpstr>
      <vt:lpstr>Occurrences des Variables</vt:lpstr>
      <vt:lpstr>Occurrences des Variables</vt:lpstr>
      <vt:lpstr>Exemple Factoriel</vt:lpstr>
      <vt:lpstr>Exemple Factoriel</vt:lpstr>
      <vt:lpstr>Instruction Utilisatrice</vt:lpstr>
      <vt:lpstr>Exemple Factoriel</vt:lpstr>
      <vt:lpstr>Exemple Factoriel</vt:lpstr>
      <vt:lpstr>Références</vt:lpstr>
      <vt:lpstr>Références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INF4000 Génie Logiciel</dc:title>
  <dc:creator>Niss</dc:creator>
  <cp:lastModifiedBy>Niss</cp:lastModifiedBy>
  <cp:revision>3</cp:revision>
  <dcterms:created xsi:type="dcterms:W3CDTF">2023-12-26T11:31:22Z</dcterms:created>
  <dcterms:modified xsi:type="dcterms:W3CDTF">2025-01-30T07:28:33Z</dcterms:modified>
</cp:coreProperties>
</file>