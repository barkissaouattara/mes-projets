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542" r:id="rId3"/>
    <p:sldId id="541" r:id="rId4"/>
    <p:sldId id="577" r:id="rId5"/>
    <p:sldId id="579" r:id="rId6"/>
    <p:sldId id="580" r:id="rId7"/>
    <p:sldId id="581" r:id="rId8"/>
    <p:sldId id="544" r:id="rId9"/>
    <p:sldId id="600" r:id="rId10"/>
    <p:sldId id="599" r:id="rId11"/>
    <p:sldId id="582" r:id="rId12"/>
    <p:sldId id="583" r:id="rId13"/>
    <p:sldId id="584" r:id="rId14"/>
    <p:sldId id="586" r:id="rId15"/>
    <p:sldId id="588" r:id="rId16"/>
    <p:sldId id="602" r:id="rId17"/>
    <p:sldId id="604" r:id="rId18"/>
    <p:sldId id="603" r:id="rId19"/>
    <p:sldId id="589" r:id="rId20"/>
    <p:sldId id="605" r:id="rId21"/>
    <p:sldId id="607" r:id="rId22"/>
    <p:sldId id="598" r:id="rId23"/>
    <p:sldId id="590" r:id="rId24"/>
    <p:sldId id="608" r:id="rId25"/>
    <p:sldId id="591" r:id="rId26"/>
    <p:sldId id="593" r:id="rId27"/>
    <p:sldId id="594" r:id="rId28"/>
    <p:sldId id="570" r:id="rId29"/>
    <p:sldId id="596" r:id="rId30"/>
    <p:sldId id="597" r:id="rId31"/>
    <p:sldId id="5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5"/>
    <p:restoredTop sz="81457"/>
  </p:normalViewPr>
  <p:slideViewPr>
    <p:cSldViewPr snapToGrid="0" snapToObjects="1">
      <p:cViewPr>
        <p:scale>
          <a:sx n="87" d="100"/>
          <a:sy n="87" d="100"/>
        </p:scale>
        <p:origin x="48" y="-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234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2F39B-E63E-3945-A534-FF641712E054}" type="datetimeFigureOut">
              <a:rPr lang="en-US" smtClean="0"/>
              <a:t>7/11/19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A95B1-791E-E34E-956E-C98C79802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6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fr-FR" altLang="en-US" dirty="0" smtClean="0"/>
              <a:t>Comportent plusieurs éléments :</a:t>
            </a:r>
          </a:p>
          <a:p>
            <a:pPr eaLnBrk="1" hangingPunct="1"/>
            <a:r>
              <a:rPr lang="fr-FR" altLang="en-US" dirty="0" smtClean="0"/>
              <a:t>Acteurs</a:t>
            </a:r>
          </a:p>
          <a:p>
            <a:pPr eaLnBrk="1" hangingPunct="1"/>
            <a:r>
              <a:rPr lang="fr-FR" altLang="en-US" dirty="0" smtClean="0"/>
              <a:t>Cas d'utilisation</a:t>
            </a:r>
          </a:p>
          <a:p>
            <a:pPr eaLnBrk="1" hangingPunct="1"/>
            <a:r>
              <a:rPr lang="fr-FR" altLang="en-US" dirty="0" smtClean="0"/>
              <a:t>Relations de dépendances, de généralisations et d'associations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24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difficile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spécifier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l’aide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d’objets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plutôt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habitués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découpage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résoudre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problème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réconcilier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objet avec la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possibilité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d’expri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sous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UML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définit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concept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d’utilisation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03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difficile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spécifier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l’aide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d’objets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plutôt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habitués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découpage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résoudre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problème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réconcilier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objet avec la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possibilité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d’expri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sous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UML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définit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concept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d’utilisation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0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faciliter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cons-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truction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d’applications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orientées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objet. </a:t>
            </a:r>
            <a:endParaRPr lang="en-US" dirty="0" smtClean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dirty="0" smtClean="0"/>
              <a:t>Plusieurs concepts UML sont inexistants dans les langages de programmation</a:t>
            </a:r>
          </a:p>
          <a:p>
            <a:pPr marL="566928" lvl="3" indent="0">
              <a:lnSpc>
                <a:spcPct val="100000"/>
              </a:lnSpc>
              <a:buNone/>
            </a:pPr>
            <a:r>
              <a:rPr lang="fr-FR" sz="2400" dirty="0" smtClean="0"/>
              <a:t>Des artifices sont alors utilisés pour les représenter</a:t>
            </a:r>
          </a:p>
          <a:p>
            <a:pPr marL="566928" lvl="3" indent="0">
              <a:lnSpc>
                <a:spcPct val="100000"/>
              </a:lnSpc>
              <a:buNone/>
            </a:pPr>
            <a:endParaRPr lang="fr-FR" sz="2400" dirty="0" smtClean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u="sng" dirty="0" smtClean="0"/>
              <a:t>Exemples : </a:t>
            </a:r>
            <a:r>
              <a:rPr lang="fr-FR" sz="2800" dirty="0" smtClean="0"/>
              <a:t>L’association n’existe pas en Java; elle se simule au travers de références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dirty="0" smtClean="0"/>
              <a:t>L’association entre les classes A et B est représentée par un attribut de type B dans la classe A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fr-FR" sz="2800" dirty="0" smtClean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dirty="0" smtClean="0"/>
              <a:t>Il existe également des concepts de Java qui n’existent pas en UML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fr-FR" sz="2400" dirty="0" smtClean="0"/>
          </a:p>
          <a:p>
            <a:r>
              <a:rPr lang="fr-FR" sz="2800" u="sng" dirty="0" smtClean="0"/>
              <a:t>Exemples : </a:t>
            </a:r>
            <a:r>
              <a:rPr lang="fr-FR" sz="2800" dirty="0" smtClean="0"/>
              <a:t>Le </a:t>
            </a:r>
            <a:r>
              <a:rPr lang="fr-FR" i="1" dirty="0" smtClean="0"/>
              <a:t>Corps des méthodes </a:t>
            </a:r>
          </a:p>
          <a:p>
            <a:r>
              <a:rPr lang="fr-FR" dirty="0" smtClean="0"/>
              <a:t>Limitation en passe d’être 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fr-FR" sz="28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Le corps des </a:t>
            </a:r>
            <a:r>
              <a:rPr lang="en-US" dirty="0" err="1" smtClean="0"/>
              <a:t>methodes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7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de base </a:t>
            </a:r>
            <a:endParaRPr lang="en-US" dirty="0" smtClean="0"/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Java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possède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ensemble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fourni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types de base (byte, short,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long, float, double,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char). type String. types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énumérés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types de base (Integer, String, Boolean, Char, Real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u="sng" dirty="0" smtClean="0"/>
              <a:t>Exemples : </a:t>
            </a:r>
            <a:r>
              <a:rPr lang="fr-FR" sz="2800" dirty="0" smtClean="0"/>
              <a:t>L’association n’existe pas en Java; elle se simule au travers de références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dirty="0" smtClean="0"/>
              <a:t>L’association entre les classes A et B est représentée par un attribut de type B dans la classe A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88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de base </a:t>
            </a:r>
            <a:endParaRPr lang="en-US" dirty="0" smtClean="0"/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Java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possède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ensemble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fourni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types de base (byte, short,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long, float, double,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char). type String. types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énumérés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types de base (Integer, String, Boolean, Char, Real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u="sng" dirty="0" smtClean="0"/>
              <a:t>Exemples : </a:t>
            </a:r>
            <a:r>
              <a:rPr lang="fr-FR" sz="2800" dirty="0" smtClean="0"/>
              <a:t>L’association n’existe pas en Java; elle se simule au travers de références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smtClean="0"/>
              <a:t>L’association entre les classes A et B est représentée par un attribut de type B dans la classe A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44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très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difficile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spécifier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l’aide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d’objets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plutôt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habitués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découpage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fonctionnel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résoudre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problème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réconcilier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objet avec la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possibilité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d’expri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sous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fonctions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UML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définit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concept de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d’utilisation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37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84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4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3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80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8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51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09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7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0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04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69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6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69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0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Java ne </a:t>
            </a:r>
            <a:r>
              <a:rPr lang="en-US" dirty="0" err="1" smtClean="0"/>
              <a:t>supporte</a:t>
            </a:r>
            <a:r>
              <a:rPr lang="en-US" dirty="0" smtClean="0"/>
              <a:t> pas </a:t>
            </a:r>
            <a:r>
              <a:rPr lang="en-US" dirty="0" err="1" smtClean="0"/>
              <a:t>l’héritage</a:t>
            </a:r>
            <a:r>
              <a:rPr lang="en-US" dirty="0" smtClean="0"/>
              <a:t> multiple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096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Java ne </a:t>
            </a:r>
            <a:r>
              <a:rPr lang="en-US" dirty="0" err="1" smtClean="0"/>
              <a:t>supporte</a:t>
            </a:r>
            <a:r>
              <a:rPr lang="en-US" dirty="0" smtClean="0"/>
              <a:t> pas </a:t>
            </a:r>
            <a:r>
              <a:rPr lang="en-US" dirty="0" err="1" smtClean="0"/>
              <a:t>l’héritage</a:t>
            </a:r>
            <a:r>
              <a:rPr lang="en-US" dirty="0" smtClean="0"/>
              <a:t> multiple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15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Java ne </a:t>
            </a:r>
            <a:r>
              <a:rPr lang="en-US" dirty="0" err="1" smtClean="0"/>
              <a:t>supporte</a:t>
            </a:r>
            <a:r>
              <a:rPr lang="en-US" dirty="0" smtClean="0"/>
              <a:t> pas </a:t>
            </a:r>
            <a:r>
              <a:rPr lang="en-US" dirty="0" err="1" smtClean="0"/>
              <a:t>l’héritage</a:t>
            </a:r>
            <a:r>
              <a:rPr lang="en-US" dirty="0" smtClean="0"/>
              <a:t> multiple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36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Java ne </a:t>
            </a:r>
            <a:r>
              <a:rPr lang="en-US" dirty="0" err="1" smtClean="0"/>
              <a:t>supporte</a:t>
            </a:r>
            <a:r>
              <a:rPr lang="en-US" dirty="0" smtClean="0"/>
              <a:t> pas </a:t>
            </a:r>
            <a:r>
              <a:rPr lang="en-US" dirty="0" err="1" smtClean="0"/>
              <a:t>l’héritage</a:t>
            </a:r>
            <a:r>
              <a:rPr lang="en-US" dirty="0" smtClean="0"/>
              <a:t> multiple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5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 pas représenter les attributs ou les méthodes d'une classe sur un diagramme, n'indique pas que cette classe n'en contient pas.</a:t>
            </a: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 la </a:t>
            </a:r>
            <a:r>
              <a:rPr lang="en-US" dirty="0" err="1" smtClean="0"/>
              <a:t>méthode</a:t>
            </a:r>
            <a:r>
              <a:rPr lang="en-US" dirty="0" smtClean="0"/>
              <a:t> Java </a:t>
            </a:r>
            <a:r>
              <a:rPr lang="en-US" dirty="0" err="1" smtClean="0"/>
              <a:t>correspondante</a:t>
            </a:r>
            <a:r>
              <a:rPr lang="en-US" dirty="0" smtClean="0"/>
              <a:t> Les </a:t>
            </a:r>
            <a:r>
              <a:rPr lang="en-US" dirty="0" err="1" smtClean="0"/>
              <a:t>noms</a:t>
            </a:r>
            <a:r>
              <a:rPr lang="en-US" dirty="0" smtClean="0"/>
              <a:t>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les </a:t>
            </a:r>
            <a:r>
              <a:rPr lang="en-US" dirty="0" err="1" smtClean="0"/>
              <a:t>mêmes</a:t>
            </a:r>
            <a:r>
              <a:rPr lang="en-US" dirty="0" smtClean="0"/>
              <a:t>. Les types des </a:t>
            </a:r>
            <a:r>
              <a:rPr lang="en-US" dirty="0" err="1" smtClean="0"/>
              <a:t>paramètres</a:t>
            </a:r>
            <a:r>
              <a:rPr lang="en-US" dirty="0" smtClean="0"/>
              <a:t>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 smtClean="0"/>
              <a:t>être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Java ne </a:t>
            </a:r>
            <a:r>
              <a:rPr lang="en-US" dirty="0" err="1" smtClean="0"/>
              <a:t>supporte</a:t>
            </a:r>
            <a:r>
              <a:rPr lang="en-US" dirty="0" smtClean="0"/>
              <a:t> pas </a:t>
            </a:r>
            <a:r>
              <a:rPr lang="en-US" dirty="0" err="1" smtClean="0"/>
              <a:t>l’héritage</a:t>
            </a:r>
            <a:r>
              <a:rPr lang="en-US" dirty="0" smtClean="0"/>
              <a:t> multiple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901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63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règles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correspondances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prennent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en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traitements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associés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aux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UML, car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ceux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-ci ne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nativement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définis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modèles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code 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génére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́ ne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squelettes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code sans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réel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́ aux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méthodes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fait,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l’application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générée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être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exécutée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permettent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respectivement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passer de Java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UML et de UML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Java.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dès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nécessaire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savoir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effets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s’annulent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d’autres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-nous 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même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après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exécute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́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Reverse Engineering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suivie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génération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code ? À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l’inverse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-nous 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même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modèle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après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exécute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́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génération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suivie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opération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Reverse Engineering ? 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08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A95B1-791E-E34E-956E-C98C798027E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5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56847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72264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89514"/>
            <a:ext cx="10058400" cy="4836474"/>
          </a:xfrm>
        </p:spPr>
        <p:txBody>
          <a:bodyPr/>
          <a:lstStyle>
            <a:lvl2pPr>
              <a:lnSpc>
                <a:spcPct val="150000"/>
              </a:lnSpc>
              <a:defRPr>
                <a:latin typeface="Comic Sans MS" charset="0"/>
                <a:ea typeface="Comic Sans MS" charset="0"/>
                <a:cs typeface="Comic Sans MS" charset="0"/>
              </a:defRPr>
            </a:lvl2pPr>
            <a:lvl3pPr>
              <a:lnSpc>
                <a:spcPct val="150000"/>
              </a:lnSpc>
              <a:defRPr>
                <a:latin typeface="Comic Sans MS" charset="0"/>
                <a:ea typeface="Comic Sans MS" charset="0"/>
                <a:cs typeface="Comic Sans MS" charset="0"/>
              </a:defRPr>
            </a:lvl3pPr>
            <a:lvl4pPr>
              <a:lnSpc>
                <a:spcPct val="150000"/>
              </a:lnSpc>
              <a:defRPr>
                <a:latin typeface="Comic Sans MS" charset="0"/>
                <a:ea typeface="Comic Sans MS" charset="0"/>
                <a:cs typeface="Comic Sans MS" charset="0"/>
              </a:defRPr>
            </a:lvl4pPr>
            <a:lvl5pPr>
              <a:lnSpc>
                <a:spcPct val="150000"/>
              </a:lnSpc>
              <a:defRPr>
                <a:latin typeface="Comic Sans MS" charset="0"/>
                <a:ea typeface="Comic Sans MS" charset="0"/>
                <a:cs typeface="Comic Sans MS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2400" y="6459784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4"/>
          <p:cNvSpPr txBox="1">
            <a:spLocks/>
          </p:cNvSpPr>
          <p:nvPr/>
        </p:nvSpPr>
        <p:spPr>
          <a:xfrm>
            <a:off x="5378824" y="6437120"/>
            <a:ext cx="2417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2689E7D-6AB1-2248-B58A-CD741F95585D}" type="slidenum">
              <a:rPr lang="en-US" sz="1600" smtClean="0"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6558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5315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8088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722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12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8508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6984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280" y="1912969"/>
            <a:ext cx="10058400" cy="402336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3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F69308C3-C9E7-3F4C-9945-C73EFE12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180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19368"/>
            <a:ext cx="10058400" cy="1053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60579"/>
            <a:ext cx="10058400" cy="49147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53191" y="1294094"/>
            <a:ext cx="996696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/>
          <p:cNvSpPr txBox="1">
            <a:spLocks/>
          </p:cNvSpPr>
          <p:nvPr userDrawn="1"/>
        </p:nvSpPr>
        <p:spPr>
          <a:xfrm>
            <a:off x="162400" y="6459784"/>
            <a:ext cx="482280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>
                <a:solidFill>
                  <a:schemeClr val="bg1"/>
                </a:solidFill>
              </a:rPr>
              <a:t>Inf4030-COO  (UO1/SEA/DI/SITR)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10047249" y="6440348"/>
            <a:ext cx="18871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>
                <a:solidFill>
                  <a:schemeClr val="bg1"/>
                </a:solidFill>
              </a:rPr>
              <a:t>Dr. A. SABANE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24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Comic Sans MS" charset="0"/>
          <a:ea typeface="Comic Sans MS" charset="0"/>
          <a:cs typeface="Comic Sans MS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Comic Sans MS" charset="0"/>
          <a:ea typeface="Comic Sans MS" charset="0"/>
          <a:cs typeface="Comic Sans MS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4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4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4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4" Type="http://schemas.openxmlformats.org/officeDocument/2006/relationships/image" Target="../media/image12.tiff"/><Relationship Id="rId5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4" Type="http://schemas.openxmlformats.org/officeDocument/2006/relationships/image" Target="../media/image14.tiff"/><Relationship Id="rId5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4" Type="http://schemas.openxmlformats.org/officeDocument/2006/relationships/image" Target="../media/image17.tiff"/><Relationship Id="rId5" Type="http://schemas.openxmlformats.org/officeDocument/2006/relationships/image" Target="../media/image12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4" Type="http://schemas.openxmlformats.org/officeDocument/2006/relationships/image" Target="../media/image1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4" Type="http://schemas.openxmlformats.org/officeDocument/2006/relationships/image" Target="../media/image21.tiff"/><Relationship Id="rId5" Type="http://schemas.openxmlformats.org/officeDocument/2006/relationships/image" Target="../media/image22.tiff"/><Relationship Id="rId6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4" Type="http://schemas.openxmlformats.org/officeDocument/2006/relationships/image" Target="../media/image2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408920" cy="3566160"/>
          </a:xfrm>
        </p:spPr>
        <p:txBody>
          <a:bodyPr>
            <a:normAutofit fontScale="90000"/>
          </a:bodyPr>
          <a:lstStyle/>
          <a:p>
            <a:pPr lvl="1" algn="ctr">
              <a:buFont typeface="Courier New" charset="0"/>
              <a:buChar char="o"/>
            </a:pP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u="sng" dirty="0" smtClean="0"/>
              <a:t>INF4030 Conception </a:t>
            </a:r>
            <a:r>
              <a:rPr lang="en-US" sz="3600" u="sng" dirty="0" err="1"/>
              <a:t>Orientée</a:t>
            </a:r>
            <a:r>
              <a:rPr lang="en-US" sz="3600" u="sng" dirty="0"/>
              <a:t> </a:t>
            </a:r>
            <a:r>
              <a:rPr lang="en-US" sz="3600" u="sng" dirty="0" smtClean="0"/>
              <a:t>Objet (COO) </a:t>
            </a:r>
            <a:br>
              <a:rPr lang="en-US" sz="3600" u="sng" dirty="0" smtClean="0"/>
            </a:br>
            <a:r>
              <a:rPr lang="en-US" sz="3600" u="sng" dirty="0"/>
              <a:t/>
            </a:r>
            <a:br>
              <a:rPr lang="en-US" sz="3600" u="sng" dirty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fr-FR" sz="8000" dirty="0" smtClean="0">
                <a:latin typeface="Comic Sans MS" charset="0"/>
                <a:ea typeface="Comic Sans MS" charset="0"/>
                <a:cs typeface="Comic Sans MS" charset="0"/>
              </a:rPr>
              <a:t>Traduction d’un Diagramme de Classe en Java</a:t>
            </a:r>
            <a:endParaRPr lang="en-US" sz="8000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2" algn="r">
              <a:lnSpc>
                <a:spcPct val="150000"/>
              </a:lnSpc>
            </a:pPr>
            <a:r>
              <a:rPr lang="en-US" dirty="0" err="1" smtClean="0">
                <a:latin typeface="Comic Sans MS" charset="0"/>
                <a:ea typeface="Comic Sans MS" charset="0"/>
                <a:cs typeface="Comic Sans MS" charset="0"/>
              </a:rPr>
              <a:t>Aminata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ZERBO/SABANE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pPr lvl="2">
              <a:lnSpc>
                <a:spcPct val="150000"/>
              </a:lnSpc>
            </a:pP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1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6" y="364383"/>
            <a:ext cx="6538861" cy="56078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67" y="807922"/>
            <a:ext cx="3785009" cy="516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8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408920" cy="3566160"/>
          </a:xfrm>
        </p:spPr>
        <p:txBody>
          <a:bodyPr>
            <a:normAutofit/>
          </a:bodyPr>
          <a:lstStyle/>
          <a:p>
            <a:pPr algn="ctr"/>
            <a:r>
              <a:rPr lang="fr-FR" sz="7200" dirty="0" smtClean="0"/>
              <a:t>Génération de Code</a:t>
            </a:r>
            <a:br>
              <a:rPr lang="fr-FR" sz="7200" dirty="0" smtClean="0"/>
            </a:br>
            <a:r>
              <a:rPr lang="fr-FR" sz="7200" dirty="0" err="1" smtClean="0"/>
              <a:t>UML</a:t>
            </a:r>
            <a:r>
              <a:rPr lang="fr-FR" sz="7200" dirty="0" err="1" smtClean="0">
                <a:sym typeface="Wingdings"/>
              </a:rPr>
              <a:t>Java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5435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Traduction d’un Diagramme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de </a:t>
            </a:r>
            <a:r>
              <a:rPr lang="fr-FR" dirty="0"/>
              <a:t>Classe en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dirty="0" smtClean="0"/>
              <a:t>Ce chapitre nous permettra de voir quelques règles qui permettent de traduire un diagramme de classes en code Java</a:t>
            </a:r>
          </a:p>
          <a:p>
            <a:pPr marL="384048" lvl="2" indent="0">
              <a:lnSpc>
                <a:spcPct val="100000"/>
              </a:lnSpc>
              <a:buNone/>
            </a:pPr>
            <a:r>
              <a:rPr lang="fr-FR" sz="2400" dirty="0" smtClean="0"/>
              <a:t>Ces règles sont à la base des outils de génération automatique de code à partir des diagrammes de classes</a:t>
            </a:r>
          </a:p>
          <a:p>
            <a:pPr marL="384048" lvl="2" indent="0">
              <a:lnSpc>
                <a:spcPct val="100000"/>
              </a:lnSpc>
              <a:buNone/>
            </a:pPr>
            <a:endParaRPr lang="fr-FR" sz="2400" dirty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sz="2800" dirty="0" smtClean="0"/>
              <a:t>UML est indépendant de tout langage de programmation orienté objet</a:t>
            </a:r>
          </a:p>
          <a:p>
            <a:pPr marL="566928" lvl="3" indent="0">
              <a:lnSpc>
                <a:spcPct val="100000"/>
              </a:lnSpc>
              <a:buNone/>
            </a:pPr>
            <a:r>
              <a:rPr lang="fr-FR" sz="2400" dirty="0" smtClean="0"/>
              <a:t>Mais UML partage avec ces langages une sémantique commune concernant les concepts orientés objet</a:t>
            </a:r>
          </a:p>
          <a:p>
            <a:pPr marL="566928" lvl="3" indent="0" algn="ctr">
              <a:lnSpc>
                <a:spcPct val="100000"/>
              </a:lnSpc>
              <a:buNone/>
            </a:pPr>
            <a:r>
              <a:rPr lang="fr-FR" sz="2400" dirty="0" smtClean="0">
                <a:solidFill>
                  <a:srgbClr val="FF0000"/>
                </a:solidFill>
              </a:rPr>
              <a:t>Sémantique commune mais pas identique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0054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UML # Java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201168" lvl="1" indent="0">
              <a:lnSpc>
                <a:spcPct val="100000"/>
              </a:lnSpc>
              <a:buNone/>
            </a:pPr>
            <a:r>
              <a:rPr lang="fr-FR" sz="2800" dirty="0"/>
              <a:t>Plusieurs concepts UML sont inexistants </a:t>
            </a:r>
            <a:r>
              <a:rPr lang="fr-FR" sz="2800" dirty="0" smtClean="0"/>
              <a:t>en Java dans </a:t>
            </a:r>
            <a:r>
              <a:rPr lang="fr-FR" sz="2800" dirty="0"/>
              <a:t>les langages de </a:t>
            </a:r>
            <a:r>
              <a:rPr lang="fr-FR" sz="2800" dirty="0" smtClean="0"/>
              <a:t>programmation</a:t>
            </a:r>
            <a:endParaRPr lang="fr-FR" sz="2800" dirty="0"/>
          </a:p>
          <a:p>
            <a:pPr marL="566928" lvl="3" indent="0">
              <a:lnSpc>
                <a:spcPct val="100000"/>
              </a:lnSpc>
              <a:buNone/>
            </a:pPr>
            <a:r>
              <a:rPr lang="fr-FR" sz="2400" dirty="0"/>
              <a:t>Des artifices sont alors utilisés pour les représenter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u="sng" dirty="0" smtClean="0"/>
              <a:t>Exemple :</a:t>
            </a:r>
            <a:r>
              <a:rPr lang="fr-FR" dirty="0" smtClean="0"/>
              <a:t> L’association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fr-FR" dirty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dirty="0"/>
              <a:t>Il existe également des concepts de Java qui n’existent pas en UML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u="sng" dirty="0"/>
              <a:t>Exemple :</a:t>
            </a:r>
            <a:r>
              <a:rPr lang="fr-FR" dirty="0"/>
              <a:t> </a:t>
            </a:r>
            <a:r>
              <a:rPr lang="fr-FR" dirty="0" smtClean="0"/>
              <a:t>Le corps des méthodes</a:t>
            </a:r>
            <a:endParaRPr lang="fr-FR" dirty="0"/>
          </a:p>
          <a:p>
            <a:pPr marL="201168" lvl="1" indent="0">
              <a:lnSpc>
                <a:spcPct val="100000"/>
              </a:lnSpc>
              <a:buNone/>
            </a:pPr>
            <a:endParaRPr lang="fr-FR" dirty="0" smtClean="0"/>
          </a:p>
          <a:p>
            <a:pPr marL="201168" lvl="1" indent="0">
              <a:lnSpc>
                <a:spcPct val="100000"/>
              </a:lnSpc>
              <a:buNone/>
            </a:pPr>
            <a:r>
              <a:rPr lang="fr-FR" dirty="0" smtClean="0"/>
              <a:t>Il existe des éléments communs à UML et Java qui n’ont pas la même signification ou portée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fr-FR" u="sng" dirty="0"/>
              <a:t>Exemple :</a:t>
            </a:r>
            <a:r>
              <a:rPr lang="fr-FR" dirty="0"/>
              <a:t> </a:t>
            </a:r>
            <a:r>
              <a:rPr lang="fr-FR" dirty="0" smtClean="0"/>
              <a:t>L’héritage</a:t>
            </a:r>
            <a:endParaRPr lang="fr-FR" dirty="0"/>
          </a:p>
          <a:p>
            <a:pPr marL="201168" lvl="1" indent="0">
              <a:lnSpc>
                <a:spcPct val="100000"/>
              </a:lnSpc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196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UML # Java</a:t>
            </a:r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80" y="1540387"/>
            <a:ext cx="7162800" cy="309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72348" y="5132439"/>
            <a:ext cx="5633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 err="1" smtClean="0">
                <a:latin typeface="Comic Sans MS" charset="0"/>
                <a:ea typeface="Comic Sans MS" charset="0"/>
                <a:cs typeface="Comic Sans MS" charset="0"/>
              </a:rPr>
              <a:t>Schématisation</a:t>
            </a:r>
            <a:r>
              <a:rPr lang="en-US" i="1" u="sng" dirty="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i="1" u="sng" dirty="0">
                <a:latin typeface="Comic Sans MS" charset="0"/>
                <a:ea typeface="Comic Sans MS" charset="0"/>
                <a:cs typeface="Comic Sans MS" charset="0"/>
              </a:rPr>
              <a:t>de la relation </a:t>
            </a:r>
            <a:r>
              <a:rPr lang="en-US" i="1" u="sng" dirty="0" err="1">
                <a:latin typeface="Comic Sans MS" charset="0"/>
                <a:ea typeface="Comic Sans MS" charset="0"/>
                <a:cs typeface="Comic Sans MS" charset="0"/>
              </a:rPr>
              <a:t>existant</a:t>
            </a:r>
            <a:r>
              <a:rPr lang="en-US" i="1" u="sng" dirty="0">
                <a:latin typeface="Comic Sans MS" charset="0"/>
                <a:ea typeface="Comic Sans MS" charset="0"/>
                <a:cs typeface="Comic Sans MS" charset="0"/>
              </a:rPr>
              <a:t> entre les </a:t>
            </a:r>
            <a:r>
              <a:rPr lang="en-US" i="1" u="sng" dirty="0" err="1">
                <a:latin typeface="Comic Sans MS" charset="0"/>
                <a:ea typeface="Comic Sans MS" charset="0"/>
                <a:cs typeface="Comic Sans MS" charset="0"/>
              </a:rPr>
              <a:t>sémantiques</a:t>
            </a:r>
            <a:r>
              <a:rPr lang="en-US" i="1" u="sng" dirty="0">
                <a:latin typeface="Comic Sans MS" charset="0"/>
                <a:ea typeface="Comic Sans MS" charset="0"/>
                <a:cs typeface="Comic Sans MS" charset="0"/>
              </a:rPr>
              <a:t> UML et Java </a:t>
            </a:r>
            <a:endParaRPr lang="en-US" u="sng" dirty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endParaRPr lang="fr-FR" u="sng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8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408920" cy="3566160"/>
          </a:xfrm>
        </p:spPr>
        <p:txBody>
          <a:bodyPr>
            <a:normAutofit/>
          </a:bodyPr>
          <a:lstStyle/>
          <a:p>
            <a:pPr algn="ctr"/>
            <a:r>
              <a:rPr lang="fr-FR" sz="7200" dirty="0" smtClean="0"/>
              <a:t>Règles de Correspondance </a:t>
            </a:r>
            <a:br>
              <a:rPr lang="fr-FR" sz="7200" dirty="0" smtClean="0"/>
            </a:br>
            <a:r>
              <a:rPr lang="fr-FR" sz="7200" dirty="0" smtClean="0"/>
              <a:t>UML </a:t>
            </a:r>
            <a:r>
              <a:rPr lang="fr-FR" sz="7200" dirty="0" smtClean="0">
                <a:sym typeface="Wingdings"/>
              </a:rPr>
              <a:t>Java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01589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Classe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4008962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À </a:t>
            </a:r>
            <a:r>
              <a:rPr lang="en-US" dirty="0" err="1"/>
              <a:t>toute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correspondre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smtClean="0"/>
              <a:t>Java</a:t>
            </a:r>
          </a:p>
          <a:p>
            <a:pPr marL="384048" lvl="2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/>
              <a:t>La </a:t>
            </a:r>
            <a:r>
              <a:rPr lang="en-US" dirty="0" err="1" smtClean="0"/>
              <a:t>classe</a:t>
            </a:r>
            <a:r>
              <a:rPr lang="en-US" dirty="0" smtClean="0"/>
              <a:t> Java </a:t>
            </a:r>
            <a:r>
              <a:rPr lang="en-US" dirty="0" err="1" smtClean="0"/>
              <a:t>porte</a:t>
            </a:r>
            <a:r>
              <a:rPr lang="en-US" dirty="0" smtClean="0"/>
              <a:t> </a:t>
            </a:r>
            <a:r>
              <a:rPr lang="en-US" dirty="0"/>
              <a:t>le </a:t>
            </a:r>
            <a:r>
              <a:rPr lang="en-US" dirty="0" err="1"/>
              <a:t>même</a:t>
            </a:r>
            <a:r>
              <a:rPr lang="en-US" dirty="0"/>
              <a:t> nom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smtClean="0"/>
              <a:t>UML</a:t>
            </a:r>
          </a:p>
          <a:p>
            <a:pPr marL="384048" lvl="2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639" y="1473199"/>
            <a:ext cx="5566041" cy="4856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766" y="4244463"/>
            <a:ext cx="2884744" cy="182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Classe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4008962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 smtClean="0"/>
              <a:t>A </a:t>
            </a:r>
            <a:r>
              <a:rPr lang="en-US" dirty="0" err="1" smtClean="0"/>
              <a:t>chaque</a:t>
            </a:r>
            <a:r>
              <a:rPr lang="en-US" dirty="0" smtClean="0"/>
              <a:t> </a:t>
            </a:r>
            <a:r>
              <a:rPr lang="en-US" dirty="0" err="1" smtClean="0"/>
              <a:t>classe</a:t>
            </a:r>
            <a:r>
              <a:rPr lang="en-US" dirty="0" smtClean="0"/>
              <a:t> </a:t>
            </a:r>
            <a:r>
              <a:rPr lang="en-US" dirty="0" err="1" smtClean="0"/>
              <a:t>abstraite</a:t>
            </a:r>
            <a:r>
              <a:rPr lang="en-US" dirty="0" smtClean="0"/>
              <a:t> UML, </a:t>
            </a:r>
            <a:r>
              <a:rPr lang="en-US" dirty="0" err="1" smtClean="0"/>
              <a:t>doit</a:t>
            </a:r>
            <a:r>
              <a:rPr lang="en-US" dirty="0" smtClean="0"/>
              <a:t> </a:t>
            </a:r>
            <a:r>
              <a:rPr lang="en-US" dirty="0" err="1"/>
              <a:t>correspondre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 smtClean="0"/>
              <a:t>abstraite</a:t>
            </a:r>
            <a:r>
              <a:rPr lang="en-US" dirty="0" smtClean="0"/>
              <a:t> Java</a:t>
            </a:r>
          </a:p>
          <a:p>
            <a:pPr marL="384048" lvl="2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08" y="3903202"/>
            <a:ext cx="2576391" cy="19615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033" y="2571341"/>
            <a:ext cx="4708647" cy="18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2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Interface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/>
              <a:t>À </a:t>
            </a:r>
            <a:r>
              <a:rPr lang="en-US" dirty="0" err="1"/>
              <a:t>toute</a:t>
            </a:r>
            <a:r>
              <a:rPr lang="en-US" dirty="0"/>
              <a:t> interface UML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correspondre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interface Java </a:t>
            </a:r>
            <a:endParaRPr lang="en-US" dirty="0" smtClean="0"/>
          </a:p>
          <a:p>
            <a:pPr marL="533072" lvl="5" indent="-9144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100000"/>
              <a:buNone/>
            </a:pPr>
            <a:r>
              <a:rPr lang="en-US" sz="2400" dirty="0" err="1" smtClean="0">
                <a:latin typeface="Comic Sans MS" charset="0"/>
                <a:ea typeface="Comic Sans MS" charset="0"/>
                <a:cs typeface="Comic Sans MS" charset="0"/>
              </a:rPr>
              <a:t>L’interface</a:t>
            </a:r>
            <a:r>
              <a:rPr lang="en-US" sz="2400" dirty="0" smtClean="0">
                <a:latin typeface="Comic Sans MS" charset="0"/>
                <a:ea typeface="Comic Sans MS" charset="0"/>
                <a:cs typeface="Comic Sans MS" charset="0"/>
              </a:rPr>
              <a:t> Java </a:t>
            </a:r>
            <a:r>
              <a:rPr lang="en-US" sz="2400" dirty="0" err="1">
                <a:latin typeface="Comic Sans MS" charset="0"/>
                <a:ea typeface="Comic Sans MS" charset="0"/>
                <a:cs typeface="Comic Sans MS" charset="0"/>
              </a:rPr>
              <a:t>porte</a:t>
            </a:r>
            <a:r>
              <a:rPr lang="en-US" sz="2400" dirty="0">
                <a:latin typeface="Comic Sans MS" charset="0"/>
                <a:ea typeface="Comic Sans MS" charset="0"/>
                <a:cs typeface="Comic Sans MS" charset="0"/>
              </a:rPr>
              <a:t> le </a:t>
            </a:r>
            <a:r>
              <a:rPr lang="en-US" sz="2400" dirty="0" err="1">
                <a:latin typeface="Comic Sans MS" charset="0"/>
                <a:ea typeface="Comic Sans MS" charset="0"/>
                <a:cs typeface="Comic Sans MS" charset="0"/>
              </a:rPr>
              <a:t>même</a:t>
            </a:r>
            <a:r>
              <a:rPr lang="en-US" sz="2400" dirty="0">
                <a:latin typeface="Comic Sans MS" charset="0"/>
                <a:ea typeface="Comic Sans MS" charset="0"/>
                <a:cs typeface="Comic Sans MS" charset="0"/>
              </a:rPr>
              <a:t> nom </a:t>
            </a:r>
            <a:r>
              <a:rPr lang="en-US" sz="2400" dirty="0" err="1">
                <a:latin typeface="Comic Sans MS" charset="0"/>
                <a:ea typeface="Comic Sans MS" charset="0"/>
                <a:cs typeface="Comic Sans MS" charset="0"/>
              </a:rPr>
              <a:t>que</a:t>
            </a:r>
            <a:r>
              <a:rPr lang="en-US" sz="24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400" dirty="0" err="1" smtClean="0">
                <a:latin typeface="Comic Sans MS" charset="0"/>
                <a:ea typeface="Comic Sans MS" charset="0"/>
                <a:cs typeface="Comic Sans MS" charset="0"/>
              </a:rPr>
              <a:t>l’interface</a:t>
            </a:r>
            <a:r>
              <a:rPr lang="en-US" sz="2400" dirty="0" smtClean="0">
                <a:latin typeface="Comic Sans MS" charset="0"/>
                <a:ea typeface="Comic Sans MS" charset="0"/>
                <a:cs typeface="Comic Sans MS" charset="0"/>
              </a:rPr>
              <a:t> UML</a:t>
            </a:r>
            <a:endParaRPr lang="en-US" sz="2400" dirty="0">
              <a:latin typeface="Comic Sans MS" charset="0"/>
              <a:ea typeface="Comic Sans MS" charset="0"/>
              <a:cs typeface="Comic Sans MS" charset="0"/>
            </a:endParaRPr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771" y="3750601"/>
            <a:ext cx="2401255" cy="1529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112" y="3750601"/>
            <a:ext cx="4435577" cy="174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Propriétés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/>
              <a:t>À </a:t>
            </a:r>
            <a:r>
              <a:rPr lang="en-US" dirty="0" err="1"/>
              <a:t>toute</a:t>
            </a:r>
            <a:r>
              <a:rPr lang="en-US" dirty="0"/>
              <a:t>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correspondre</a:t>
            </a:r>
            <a:r>
              <a:rPr lang="en-US" dirty="0"/>
              <a:t> un </a:t>
            </a:r>
            <a:r>
              <a:rPr lang="en-US" dirty="0" err="1"/>
              <a:t>attribut</a:t>
            </a:r>
            <a:r>
              <a:rPr lang="en-US" dirty="0"/>
              <a:t> </a:t>
            </a:r>
            <a:r>
              <a:rPr lang="en-US" dirty="0" err="1"/>
              <a:t>appartenant</a:t>
            </a:r>
            <a:r>
              <a:rPr lang="en-US" dirty="0"/>
              <a:t> à la </a:t>
            </a:r>
            <a:r>
              <a:rPr lang="en-US" dirty="0" err="1"/>
              <a:t>classe</a:t>
            </a:r>
            <a:r>
              <a:rPr lang="en-US" dirty="0"/>
              <a:t> Java </a:t>
            </a:r>
            <a:r>
              <a:rPr lang="en-US" dirty="0" err="1"/>
              <a:t>correspondant</a:t>
            </a:r>
            <a:r>
              <a:rPr lang="en-US" dirty="0"/>
              <a:t> </a:t>
            </a:r>
            <a:endParaRPr lang="en-US" dirty="0" smtClean="0"/>
          </a:p>
          <a:p>
            <a:endParaRPr lang="en-US" sz="1000" dirty="0" smtClean="0"/>
          </a:p>
          <a:p>
            <a:pPr lvl="2">
              <a:buFont typeface="Courier New" charset="0"/>
              <a:buChar char="o"/>
            </a:pPr>
            <a:r>
              <a:rPr lang="en-US" dirty="0" smtClean="0"/>
              <a:t>Le </a:t>
            </a:r>
            <a:r>
              <a:rPr lang="en-US" dirty="0"/>
              <a:t>nom de </a:t>
            </a:r>
            <a:r>
              <a:rPr lang="en-US" dirty="0" err="1"/>
              <a:t>l’attribut</a:t>
            </a:r>
            <a:r>
              <a:rPr lang="en-US" dirty="0"/>
              <a:t>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le </a:t>
            </a:r>
            <a:r>
              <a:rPr lang="en-US" dirty="0" err="1"/>
              <a:t>même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nom de la </a:t>
            </a:r>
            <a:r>
              <a:rPr lang="en-US" err="1" smtClean="0"/>
              <a:t>propriéte</a:t>
            </a:r>
            <a:r>
              <a:rPr lang="en-US" smtClean="0"/>
              <a:t>́ UML</a:t>
            </a:r>
            <a:endParaRPr lang="en-US" dirty="0" smtClean="0"/>
          </a:p>
          <a:p>
            <a:pPr lvl="2">
              <a:buFont typeface="Courier New" charset="0"/>
              <a:buChar char="o"/>
            </a:pPr>
            <a:r>
              <a:rPr lang="en-US" dirty="0" smtClean="0"/>
              <a:t>Le </a:t>
            </a:r>
            <a:r>
              <a:rPr lang="en-US" dirty="0"/>
              <a:t>type de </a:t>
            </a:r>
            <a:r>
              <a:rPr lang="en-US" dirty="0" err="1"/>
              <a:t>l’attribut</a:t>
            </a:r>
            <a:r>
              <a:rPr lang="en-US" dirty="0"/>
              <a:t>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correspondance</a:t>
            </a:r>
            <a:r>
              <a:rPr lang="en-US" dirty="0"/>
              <a:t> Java du type de la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smtClean="0"/>
              <a:t>UML</a:t>
            </a:r>
          </a:p>
          <a:p>
            <a:pPr lvl="2">
              <a:buFont typeface="Courier New" charset="0"/>
              <a:buChar char="o"/>
            </a:pPr>
            <a:r>
              <a:rPr lang="en-US" dirty="0" smtClean="0"/>
              <a:t>Si </a:t>
            </a:r>
            <a:r>
              <a:rPr lang="en-US" dirty="0"/>
              <a:t>le </a:t>
            </a:r>
            <a:r>
              <a:rPr lang="en-US" dirty="0" err="1"/>
              <a:t>nombre</a:t>
            </a:r>
            <a:r>
              <a:rPr lang="en-US" dirty="0"/>
              <a:t> maximal de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pouvant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</a:t>
            </a:r>
            <a:r>
              <a:rPr lang="en-US" dirty="0" err="1"/>
              <a:t>portées</a:t>
            </a:r>
            <a:r>
              <a:rPr lang="en-US" dirty="0"/>
              <a:t> par la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supérieur</a:t>
            </a:r>
            <a:r>
              <a:rPr lang="en-US" dirty="0"/>
              <a:t> à 1, </a:t>
            </a:r>
            <a:r>
              <a:rPr lang="en-US" dirty="0" err="1"/>
              <a:t>l’attribut</a:t>
            </a:r>
            <a:r>
              <a:rPr lang="en-US" dirty="0"/>
              <a:t> Java </a:t>
            </a:r>
            <a:r>
              <a:rPr lang="en-US" dirty="0" err="1"/>
              <a:t>est</a:t>
            </a:r>
            <a:r>
              <a:rPr lang="en-US" dirty="0"/>
              <a:t> un tableau. </a:t>
            </a:r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599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Propriétés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/>
              <a:t>À </a:t>
            </a:r>
            <a:r>
              <a:rPr lang="en-US" dirty="0" err="1"/>
              <a:t>toute</a:t>
            </a:r>
            <a:r>
              <a:rPr lang="en-US" dirty="0"/>
              <a:t>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correspondre</a:t>
            </a:r>
            <a:r>
              <a:rPr lang="en-US" dirty="0"/>
              <a:t> un </a:t>
            </a:r>
            <a:r>
              <a:rPr lang="en-US" dirty="0" err="1"/>
              <a:t>attribut</a:t>
            </a:r>
            <a:r>
              <a:rPr lang="en-US" dirty="0"/>
              <a:t> </a:t>
            </a:r>
            <a:r>
              <a:rPr lang="en-US" dirty="0" err="1"/>
              <a:t>appartenant</a:t>
            </a:r>
            <a:r>
              <a:rPr lang="en-US" dirty="0"/>
              <a:t> à la </a:t>
            </a:r>
            <a:r>
              <a:rPr lang="en-US" dirty="0" err="1"/>
              <a:t>classe</a:t>
            </a:r>
            <a:r>
              <a:rPr lang="en-US" dirty="0"/>
              <a:t> Java </a:t>
            </a:r>
            <a:r>
              <a:rPr lang="en-US" dirty="0" err="1"/>
              <a:t>correspondant</a:t>
            </a:r>
            <a:r>
              <a:rPr lang="en-US" dirty="0"/>
              <a:t> </a:t>
            </a:r>
            <a:endParaRPr lang="en-US" dirty="0" smtClean="0"/>
          </a:p>
          <a:p>
            <a:endParaRPr lang="en-US" sz="1000" dirty="0" smtClean="0"/>
          </a:p>
          <a:p>
            <a:pPr lvl="2">
              <a:buFont typeface="Courier New" charset="0"/>
              <a:buChar char="o"/>
            </a:pPr>
            <a:r>
              <a:rPr lang="en-US" dirty="0" smtClean="0"/>
              <a:t>Le </a:t>
            </a:r>
            <a:r>
              <a:rPr lang="en-US" dirty="0"/>
              <a:t>nom de </a:t>
            </a:r>
            <a:r>
              <a:rPr lang="en-US" dirty="0" err="1"/>
              <a:t>l’attribut</a:t>
            </a:r>
            <a:r>
              <a:rPr lang="en-US" dirty="0"/>
              <a:t>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le </a:t>
            </a:r>
            <a:r>
              <a:rPr lang="en-US" dirty="0" err="1"/>
              <a:t>même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nom de la </a:t>
            </a:r>
            <a:r>
              <a:rPr lang="en-US" dirty="0" err="1" smtClean="0"/>
              <a:t>propriéte</a:t>
            </a:r>
            <a:r>
              <a:rPr lang="en-US" dirty="0" smtClean="0"/>
              <a:t>́</a:t>
            </a:r>
          </a:p>
          <a:p>
            <a:pPr lvl="2">
              <a:buFont typeface="Courier New" charset="0"/>
              <a:buChar char="o"/>
            </a:pPr>
            <a:r>
              <a:rPr lang="en-US" dirty="0" smtClean="0"/>
              <a:t>Le </a:t>
            </a:r>
            <a:r>
              <a:rPr lang="en-US" dirty="0"/>
              <a:t>type de </a:t>
            </a:r>
            <a:r>
              <a:rPr lang="en-US" dirty="0" err="1"/>
              <a:t>l’attribut</a:t>
            </a:r>
            <a:r>
              <a:rPr lang="en-US" dirty="0"/>
              <a:t>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correspondance</a:t>
            </a:r>
            <a:r>
              <a:rPr lang="en-US" dirty="0"/>
              <a:t> Java du type de la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smtClean="0"/>
              <a:t>UML</a:t>
            </a:r>
          </a:p>
          <a:p>
            <a:pPr lvl="2">
              <a:buFont typeface="Courier New" charset="0"/>
              <a:buChar char="o"/>
            </a:pPr>
            <a:r>
              <a:rPr lang="en-US" dirty="0" smtClean="0"/>
              <a:t>Si </a:t>
            </a:r>
            <a:r>
              <a:rPr lang="en-US" dirty="0"/>
              <a:t>le </a:t>
            </a:r>
            <a:r>
              <a:rPr lang="en-US" dirty="0" err="1"/>
              <a:t>nombre</a:t>
            </a:r>
            <a:r>
              <a:rPr lang="en-US" dirty="0"/>
              <a:t> maximal de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pouvant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</a:t>
            </a:r>
            <a:r>
              <a:rPr lang="en-US" dirty="0" err="1"/>
              <a:t>portées</a:t>
            </a:r>
            <a:r>
              <a:rPr lang="en-US" dirty="0"/>
              <a:t> par la </a:t>
            </a:r>
            <a:r>
              <a:rPr lang="en-US" dirty="0" err="1"/>
              <a:t>propriéte</a:t>
            </a:r>
            <a:r>
              <a:rPr lang="en-US" dirty="0"/>
              <a:t>́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supérieur</a:t>
            </a:r>
            <a:r>
              <a:rPr lang="en-US" dirty="0"/>
              <a:t> à 1, </a:t>
            </a:r>
            <a:r>
              <a:rPr lang="en-US" dirty="0" err="1"/>
              <a:t>l’attribut</a:t>
            </a:r>
            <a:r>
              <a:rPr lang="en-US" dirty="0"/>
              <a:t> Java </a:t>
            </a:r>
            <a:r>
              <a:rPr lang="en-US" dirty="0" err="1"/>
              <a:t>est</a:t>
            </a:r>
            <a:r>
              <a:rPr lang="en-US" dirty="0"/>
              <a:t> un tableau. </a:t>
            </a:r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09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Opérations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/>
              <a:t>À </a:t>
            </a:r>
            <a:r>
              <a:rPr lang="en-US" dirty="0" err="1"/>
              <a:t>toute</a:t>
            </a:r>
            <a:r>
              <a:rPr lang="en-US" dirty="0"/>
              <a:t> </a:t>
            </a:r>
            <a:r>
              <a:rPr lang="en-US" dirty="0" err="1"/>
              <a:t>opération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err="1"/>
              <a:t>doit</a:t>
            </a:r>
            <a:r>
              <a:rPr lang="en-US" dirty="0"/>
              <a:t> </a:t>
            </a:r>
            <a:r>
              <a:rPr lang="en-US" dirty="0" err="1"/>
              <a:t>correspondre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opération</a:t>
            </a:r>
            <a:r>
              <a:rPr lang="en-US" dirty="0"/>
              <a:t> </a:t>
            </a:r>
            <a:r>
              <a:rPr lang="en-US" dirty="0" err="1"/>
              <a:t>appartenant</a:t>
            </a:r>
            <a:r>
              <a:rPr lang="en-US" dirty="0"/>
              <a:t> à la </a:t>
            </a:r>
            <a:r>
              <a:rPr lang="en-US" dirty="0" err="1"/>
              <a:t>classe</a:t>
            </a:r>
            <a:r>
              <a:rPr lang="en-US" dirty="0"/>
              <a:t> Java </a:t>
            </a:r>
            <a:r>
              <a:rPr lang="en-US" dirty="0" err="1"/>
              <a:t>correspondant</a:t>
            </a:r>
            <a:r>
              <a:rPr lang="en-US" dirty="0"/>
              <a:t> à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smtClean="0"/>
              <a:t>UML</a:t>
            </a:r>
          </a:p>
          <a:p>
            <a:r>
              <a:rPr lang="en-US" dirty="0" smtClean="0"/>
              <a:t>Les </a:t>
            </a:r>
            <a:r>
              <a:rPr lang="en-US" dirty="0" err="1"/>
              <a:t>noms</a:t>
            </a:r>
            <a:r>
              <a:rPr lang="en-US" dirty="0"/>
              <a:t> des </a:t>
            </a:r>
            <a:r>
              <a:rPr lang="en-US" dirty="0" err="1"/>
              <a:t>opérations</a:t>
            </a:r>
            <a:r>
              <a:rPr lang="en-US" dirty="0"/>
              <a:t>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les </a:t>
            </a:r>
            <a:r>
              <a:rPr lang="en-US" dirty="0" err="1"/>
              <a:t>mê</a:t>
            </a:r>
            <a:r>
              <a:rPr lang="en-US" dirty="0" err="1" smtClean="0"/>
              <a:t>mes</a:t>
            </a:r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46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Paramètres d’Opérations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 smtClean="0"/>
              <a:t>UML </a:t>
            </a:r>
            <a:r>
              <a:rPr lang="en-US" dirty="0" err="1"/>
              <a:t>supporte</a:t>
            </a:r>
            <a:r>
              <a:rPr lang="en-US" dirty="0"/>
              <a:t> </a:t>
            </a:r>
            <a:r>
              <a:rPr lang="en-US" dirty="0" err="1"/>
              <a:t>quatre</a:t>
            </a:r>
            <a:r>
              <a:rPr lang="en-US" dirty="0"/>
              <a:t> types de </a:t>
            </a:r>
            <a:r>
              <a:rPr lang="en-US" dirty="0" err="1"/>
              <a:t>paramètres</a:t>
            </a:r>
            <a:r>
              <a:rPr lang="en-US" dirty="0"/>
              <a:t> (in, out, in-out, return)</a:t>
            </a:r>
          </a:p>
          <a:p>
            <a:pPr marL="384048" lvl="2" indent="0">
              <a:buNone/>
            </a:pPr>
            <a:r>
              <a:rPr lang="en-US" sz="2400" dirty="0"/>
              <a:t>Java en </a:t>
            </a:r>
            <a:r>
              <a:rPr lang="en-US" sz="2400" dirty="0" err="1"/>
              <a:t>supporte</a:t>
            </a:r>
            <a:r>
              <a:rPr lang="en-US" sz="2400" dirty="0"/>
              <a:t> </a:t>
            </a:r>
            <a:r>
              <a:rPr lang="en-US" sz="2400" dirty="0" err="1"/>
              <a:t>uniquement</a:t>
            </a:r>
            <a:r>
              <a:rPr lang="en-US" sz="2400" dirty="0"/>
              <a:t> </a:t>
            </a:r>
            <a:r>
              <a:rPr lang="en-US" sz="2400" dirty="0" err="1"/>
              <a:t>deux</a:t>
            </a:r>
            <a:r>
              <a:rPr lang="en-US" sz="2400" dirty="0"/>
              <a:t> (in, return) </a:t>
            </a:r>
            <a:endParaRPr lang="en-US" sz="2400" dirty="0" smtClean="0"/>
          </a:p>
          <a:p>
            <a:pPr marL="384048" lvl="2" indent="0">
              <a:buNone/>
            </a:pPr>
            <a:endParaRPr lang="en-US" sz="1000" dirty="0"/>
          </a:p>
          <a:p>
            <a:r>
              <a:rPr lang="en-US" dirty="0"/>
              <a:t>Si </a:t>
            </a:r>
            <a:r>
              <a:rPr lang="en-US" dirty="0" err="1"/>
              <a:t>l’opération</a:t>
            </a:r>
            <a:r>
              <a:rPr lang="en-US" dirty="0"/>
              <a:t> </a:t>
            </a:r>
            <a:r>
              <a:rPr lang="en-US" dirty="0" err="1"/>
              <a:t>contient</a:t>
            </a:r>
            <a:r>
              <a:rPr lang="en-US" dirty="0"/>
              <a:t> des </a:t>
            </a:r>
            <a:r>
              <a:rPr lang="en-US" dirty="0" err="1"/>
              <a:t>paramètres</a:t>
            </a:r>
            <a:r>
              <a:rPr lang="en-US" dirty="0"/>
              <a:t> out, in-out </a:t>
            </a:r>
            <a:endParaRPr lang="en-US" dirty="0" smtClean="0"/>
          </a:p>
          <a:p>
            <a:pPr marL="384048" lvl="2" indent="0">
              <a:buNone/>
            </a:pPr>
            <a:r>
              <a:rPr lang="en-US" sz="2400" dirty="0" smtClean="0">
                <a:sym typeface="Wingdings"/>
              </a:rPr>
              <a:t></a:t>
            </a:r>
            <a:r>
              <a:rPr lang="en-US" sz="2400" dirty="0">
                <a:sym typeface="Wingdings"/>
              </a:rPr>
              <a:t>P</a:t>
            </a:r>
            <a:r>
              <a:rPr lang="en-US" sz="2400" dirty="0" smtClean="0"/>
              <a:t>as </a:t>
            </a:r>
            <a:r>
              <a:rPr lang="en-US" sz="2400" dirty="0"/>
              <a:t>de </a:t>
            </a:r>
            <a:r>
              <a:rPr lang="en-US" sz="2400" dirty="0" err="1"/>
              <a:t>génération</a:t>
            </a:r>
            <a:r>
              <a:rPr lang="en-US" sz="2400" dirty="0"/>
              <a:t> </a:t>
            </a:r>
            <a:r>
              <a:rPr lang="en-US" sz="2400" dirty="0" smtClean="0"/>
              <a:t>de code Java possible</a:t>
            </a:r>
          </a:p>
          <a:p>
            <a:pPr marL="384048" lvl="2" indent="0">
              <a:buNone/>
            </a:pPr>
            <a:endParaRPr lang="en-US" sz="1000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966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Paramètres d’Opérations UML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sz="2600" dirty="0"/>
              <a:t>A </a:t>
            </a:r>
            <a:r>
              <a:rPr lang="en-US" sz="2600" dirty="0" err="1"/>
              <a:t>chaque</a:t>
            </a:r>
            <a:r>
              <a:rPr lang="en-US" sz="2600" dirty="0"/>
              <a:t> </a:t>
            </a:r>
            <a:r>
              <a:rPr lang="en-US" sz="2600" dirty="0" err="1"/>
              <a:t>paramètre</a:t>
            </a:r>
            <a:r>
              <a:rPr lang="en-US" sz="2600" dirty="0"/>
              <a:t> in de </a:t>
            </a:r>
            <a:r>
              <a:rPr lang="en-US" sz="2600" dirty="0" err="1"/>
              <a:t>l’opération</a:t>
            </a:r>
            <a:r>
              <a:rPr lang="en-US" sz="2600" dirty="0"/>
              <a:t> UML, correspond un </a:t>
            </a:r>
            <a:r>
              <a:rPr lang="en-US" sz="2600" dirty="0" err="1"/>
              <a:t>paramètre</a:t>
            </a:r>
            <a:r>
              <a:rPr lang="en-US" sz="2600" dirty="0"/>
              <a:t> de la </a:t>
            </a:r>
            <a:r>
              <a:rPr lang="en-US" sz="2600" dirty="0" err="1"/>
              <a:t>méthode</a:t>
            </a:r>
            <a:r>
              <a:rPr lang="en-US" sz="2600" dirty="0"/>
              <a:t> Java 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dirty="0" smtClean="0"/>
              <a:t>Les </a:t>
            </a:r>
            <a:r>
              <a:rPr lang="en-US" dirty="0" err="1"/>
              <a:t>noms</a:t>
            </a:r>
            <a:r>
              <a:rPr lang="en-US" dirty="0"/>
              <a:t> des </a:t>
            </a:r>
            <a:r>
              <a:rPr lang="en-US" dirty="0" err="1"/>
              <a:t>paramètres</a:t>
            </a:r>
            <a:r>
              <a:rPr lang="en-US" dirty="0"/>
              <a:t>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être</a:t>
            </a:r>
            <a:r>
              <a:rPr lang="en-US" dirty="0"/>
              <a:t> les </a:t>
            </a:r>
            <a:r>
              <a:rPr lang="en-US" dirty="0" err="1"/>
              <a:t>mê</a:t>
            </a:r>
            <a:r>
              <a:rPr lang="en-US" dirty="0" err="1" smtClean="0"/>
              <a:t>mes</a:t>
            </a:r>
            <a:r>
              <a:rPr lang="en-US" dirty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</a:t>
            </a:r>
            <a:r>
              <a:rPr lang="en-US" dirty="0" err="1" smtClean="0"/>
              <a:t>l’opération</a:t>
            </a:r>
            <a:r>
              <a:rPr lang="en-US" dirty="0" smtClean="0"/>
              <a:t> UML et la </a:t>
            </a:r>
            <a:r>
              <a:rPr lang="en-US" dirty="0" err="1" smtClean="0"/>
              <a:t>méthode</a:t>
            </a:r>
            <a:r>
              <a:rPr lang="en-US" dirty="0" smtClean="0"/>
              <a:t> Java</a:t>
            </a:r>
          </a:p>
          <a:p>
            <a:endParaRPr lang="en-US" sz="1000" dirty="0"/>
          </a:p>
          <a:p>
            <a:r>
              <a:rPr lang="en-US" sz="2600" dirty="0" smtClean="0"/>
              <a:t>Les </a:t>
            </a:r>
            <a:r>
              <a:rPr lang="en-US" sz="2600" dirty="0"/>
              <a:t>types des </a:t>
            </a:r>
            <a:r>
              <a:rPr lang="en-US" sz="2600" dirty="0" err="1"/>
              <a:t>paramètres</a:t>
            </a:r>
            <a:r>
              <a:rPr lang="en-US" sz="2600" dirty="0"/>
              <a:t> </a:t>
            </a:r>
            <a:r>
              <a:rPr lang="en-US" sz="2600" dirty="0" err="1"/>
              <a:t>doivent</a:t>
            </a:r>
            <a:r>
              <a:rPr lang="en-US" sz="2600" dirty="0"/>
              <a:t> </a:t>
            </a:r>
            <a:r>
              <a:rPr lang="en-US" sz="2600" dirty="0" err="1"/>
              <a:t>être</a:t>
            </a:r>
            <a:r>
              <a:rPr lang="en-US" sz="2600" dirty="0"/>
              <a:t> </a:t>
            </a:r>
            <a:r>
              <a:rPr lang="en-US" sz="2600" dirty="0" err="1"/>
              <a:t>une</a:t>
            </a:r>
            <a:r>
              <a:rPr lang="en-US" sz="2600" dirty="0"/>
              <a:t> </a:t>
            </a:r>
            <a:r>
              <a:rPr lang="en-US" sz="2600" dirty="0" err="1"/>
              <a:t>correspondance</a:t>
            </a:r>
            <a:r>
              <a:rPr lang="en-US" sz="2600" dirty="0"/>
              <a:t> Java des types des </a:t>
            </a:r>
            <a:r>
              <a:rPr lang="en-US" sz="2600" dirty="0" err="1"/>
              <a:t>paramètres</a:t>
            </a:r>
            <a:r>
              <a:rPr lang="en-US" sz="2600" dirty="0"/>
              <a:t> UML </a:t>
            </a:r>
            <a:endParaRPr lang="en-US" sz="2600" dirty="0" smtClean="0"/>
          </a:p>
          <a:p>
            <a:endParaRPr lang="en-US" sz="1000" dirty="0"/>
          </a:p>
          <a:p>
            <a:r>
              <a:rPr lang="en-US" sz="2600" dirty="0" smtClean="0"/>
              <a:t>Si </a:t>
            </a:r>
            <a:r>
              <a:rPr lang="en-US" sz="2600" dirty="0" err="1"/>
              <a:t>l’opération</a:t>
            </a:r>
            <a:r>
              <a:rPr lang="en-US" sz="2600" dirty="0"/>
              <a:t> UML </a:t>
            </a:r>
            <a:r>
              <a:rPr lang="en-US" sz="2600" dirty="0" err="1"/>
              <a:t>contient</a:t>
            </a:r>
            <a:r>
              <a:rPr lang="en-US" sz="2600" dirty="0"/>
              <a:t> un </a:t>
            </a:r>
            <a:r>
              <a:rPr lang="en-US" sz="2600" dirty="0" err="1"/>
              <a:t>paramètre</a:t>
            </a:r>
            <a:r>
              <a:rPr lang="en-US" sz="2600" dirty="0"/>
              <a:t> return, </a:t>
            </a:r>
            <a:r>
              <a:rPr lang="en-US" sz="2600" dirty="0" smtClean="0"/>
              <a:t>la </a:t>
            </a:r>
            <a:r>
              <a:rPr lang="en-US" sz="2600" dirty="0" err="1"/>
              <a:t>méthode</a:t>
            </a:r>
            <a:r>
              <a:rPr lang="en-US" sz="2600" dirty="0"/>
              <a:t> </a:t>
            </a:r>
            <a:r>
              <a:rPr lang="en-US" sz="2600" dirty="0" smtClean="0"/>
              <a:t>Java </a:t>
            </a:r>
            <a:r>
              <a:rPr lang="en-US" sz="2600" dirty="0" err="1"/>
              <a:t>doit</a:t>
            </a:r>
            <a:r>
              <a:rPr lang="en-US" sz="2600" dirty="0"/>
              <a:t> </a:t>
            </a:r>
            <a:r>
              <a:rPr lang="en-US" sz="2600" dirty="0" err="1"/>
              <a:t>définir</a:t>
            </a:r>
            <a:r>
              <a:rPr lang="en-US" sz="2600" dirty="0"/>
              <a:t> un retour qui </a:t>
            </a:r>
            <a:r>
              <a:rPr lang="en-US" sz="2600" dirty="0" err="1"/>
              <a:t>lui</a:t>
            </a:r>
            <a:r>
              <a:rPr lang="en-US" sz="2600" dirty="0"/>
              <a:t> </a:t>
            </a:r>
            <a:r>
              <a:rPr lang="en-US" sz="2600" dirty="0" smtClean="0"/>
              <a:t>correspond</a:t>
            </a:r>
          </a:p>
          <a:p>
            <a:endParaRPr lang="en-US" sz="1000" dirty="0" smtClean="0"/>
          </a:p>
          <a:p>
            <a:pPr marL="201168" lvl="1" indent="0">
              <a:buNone/>
            </a:pPr>
            <a:r>
              <a:rPr lang="en-US" sz="2600" dirty="0" err="1" smtClean="0"/>
              <a:t>Sinon</a:t>
            </a:r>
            <a:r>
              <a:rPr lang="en-US" sz="2600" dirty="0" smtClean="0"/>
              <a:t>, la </a:t>
            </a:r>
            <a:r>
              <a:rPr lang="en-US" sz="2600" dirty="0" err="1" smtClean="0"/>
              <a:t>méthode</a:t>
            </a:r>
            <a:r>
              <a:rPr lang="en-US" sz="2600" dirty="0" smtClean="0"/>
              <a:t> Java </a:t>
            </a:r>
            <a:r>
              <a:rPr lang="en-US" sz="2600" dirty="0" err="1"/>
              <a:t>retourne</a:t>
            </a:r>
            <a:r>
              <a:rPr lang="en-US" sz="2600" dirty="0"/>
              <a:t> </a:t>
            </a:r>
            <a:r>
              <a:rPr lang="en-US" sz="2600" dirty="0" smtClean="0"/>
              <a:t>void</a:t>
            </a:r>
            <a:endParaRPr lang="en-US" sz="2600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425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 lvl="1"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012425" y="1332364"/>
            <a:ext cx="4237703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public class A { </a:t>
            </a:r>
            <a:endParaRPr lang="en-US" sz="2600" dirty="0" smtClean="0"/>
          </a:p>
          <a:p>
            <a:r>
              <a:rPr lang="en-US" sz="2600" dirty="0"/>
              <a:t>	</a:t>
            </a:r>
            <a:r>
              <a:rPr lang="en-US" sz="2600" dirty="0" smtClean="0"/>
              <a:t>public </a:t>
            </a:r>
            <a:r>
              <a:rPr lang="en-US" sz="2600" dirty="0"/>
              <a:t>String a1; </a:t>
            </a:r>
            <a:r>
              <a:rPr lang="en-US" sz="2600" dirty="0" smtClean="0"/>
              <a:t>	package </a:t>
            </a:r>
            <a:r>
              <a:rPr lang="en-US" sz="2600" dirty="0"/>
              <a:t>String a2; </a:t>
            </a:r>
            <a:r>
              <a:rPr lang="en-US" sz="2600" dirty="0" smtClean="0"/>
              <a:t>	protected </a:t>
            </a:r>
            <a:r>
              <a:rPr lang="en-US" sz="2600" dirty="0"/>
              <a:t>String a3; </a:t>
            </a:r>
            <a:endParaRPr lang="en-US" sz="2600" dirty="0" smtClean="0"/>
          </a:p>
          <a:p>
            <a:r>
              <a:rPr lang="en-US" sz="2600" dirty="0" smtClean="0"/>
              <a:t>	private </a:t>
            </a:r>
            <a:r>
              <a:rPr lang="en-US" sz="2600" dirty="0"/>
              <a:t>String a4; </a:t>
            </a:r>
            <a:endParaRPr lang="en-US" sz="2600" dirty="0" smtClean="0"/>
          </a:p>
          <a:p>
            <a:endParaRPr lang="en-US" sz="2600" dirty="0"/>
          </a:p>
          <a:p>
            <a:r>
              <a:rPr lang="en-US" sz="2600" dirty="0" smtClean="0"/>
              <a:t>	public </a:t>
            </a:r>
            <a:r>
              <a:rPr lang="en-US" sz="2600" dirty="0"/>
              <a:t>void op1() { </a:t>
            </a:r>
            <a:endParaRPr lang="en-US" sz="2600" dirty="0" smtClean="0"/>
          </a:p>
          <a:p>
            <a:r>
              <a:rPr lang="en-US" sz="2600" dirty="0" smtClean="0"/>
              <a:t>		...</a:t>
            </a:r>
          </a:p>
          <a:p>
            <a:r>
              <a:rPr lang="en-US" sz="2600" dirty="0" smtClean="0"/>
              <a:t>	} 	</a:t>
            </a:r>
          </a:p>
          <a:p>
            <a:r>
              <a:rPr lang="en-US" sz="2600" dirty="0" smtClean="0"/>
              <a:t>	public </a:t>
            </a:r>
            <a:r>
              <a:rPr lang="en-US" sz="2600" dirty="0"/>
              <a:t>void op2() </a:t>
            </a:r>
            <a:r>
              <a:rPr lang="en-US" sz="2600" dirty="0" smtClean="0"/>
              <a:t>{ </a:t>
            </a:r>
          </a:p>
          <a:p>
            <a:r>
              <a:rPr lang="en-US" sz="2600" dirty="0" smtClean="0"/>
              <a:t>		... </a:t>
            </a:r>
          </a:p>
          <a:p>
            <a:r>
              <a:rPr lang="en-US" sz="2600" dirty="0" smtClean="0"/>
              <a:t>	} </a:t>
            </a:r>
          </a:p>
          <a:p>
            <a:r>
              <a:rPr lang="en-US" sz="2600" dirty="0" smtClean="0"/>
              <a:t>}</a:t>
            </a:r>
            <a:endParaRPr lang="fr-FR" sz="2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183" y="1880009"/>
            <a:ext cx="1946787" cy="32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Relation d’Association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A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associée</a:t>
            </a:r>
            <a:r>
              <a:rPr lang="en-US" dirty="0"/>
              <a:t> à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smtClean="0"/>
              <a:t>B</a:t>
            </a:r>
          </a:p>
          <a:p>
            <a:pPr marL="365760" indent="-457200">
              <a:lnSpc>
                <a:spcPct val="120000"/>
              </a:lnSpc>
              <a:spcAft>
                <a:spcPts val="600"/>
              </a:spcAft>
              <a:buFont typeface="Courier New" charset="0"/>
              <a:buChar char="o"/>
            </a:pPr>
            <a:r>
              <a:rPr lang="en-US" dirty="0" smtClean="0"/>
              <a:t>Si </a:t>
            </a:r>
            <a:r>
              <a:rPr lang="en-US" dirty="0" err="1"/>
              <a:t>l’association</a:t>
            </a:r>
            <a:r>
              <a:rPr lang="en-US" dirty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navigable de A </a:t>
            </a:r>
            <a:r>
              <a:rPr lang="en-US" dirty="0" err="1" smtClean="0"/>
              <a:t>vers</a:t>
            </a:r>
            <a:r>
              <a:rPr lang="en-US" dirty="0" smtClean="0"/>
              <a:t> B</a:t>
            </a:r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err="1" smtClean="0"/>
              <a:t>doit</a:t>
            </a:r>
            <a:r>
              <a:rPr lang="en-US" sz="2400" dirty="0" smtClean="0"/>
              <a:t> </a:t>
            </a:r>
            <a:r>
              <a:rPr lang="en-US" sz="2400" dirty="0" err="1" smtClean="0"/>
              <a:t>contenir</a:t>
            </a:r>
            <a:r>
              <a:rPr lang="en-US" sz="2400" dirty="0" smtClean="0"/>
              <a:t> un </a:t>
            </a:r>
            <a:r>
              <a:rPr lang="en-US" sz="2400" dirty="0" err="1" smtClean="0"/>
              <a:t>attribut</a:t>
            </a:r>
            <a:r>
              <a:rPr lang="en-US" sz="2400" dirty="0" smtClean="0"/>
              <a:t> de type la </a:t>
            </a:r>
            <a:r>
              <a:rPr lang="en-US" sz="2400" dirty="0" err="1" smtClean="0"/>
              <a:t>classe</a:t>
            </a:r>
            <a:r>
              <a:rPr lang="en-US" sz="2400" dirty="0" smtClean="0"/>
              <a:t> B</a:t>
            </a:r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 smtClean="0"/>
              <a:t>Le nom de </a:t>
            </a:r>
            <a:r>
              <a:rPr lang="en-US" sz="2400" dirty="0" err="1" smtClean="0"/>
              <a:t>l’attribut</a:t>
            </a:r>
            <a:r>
              <a:rPr lang="en-US" sz="2400" dirty="0" smtClean="0"/>
              <a:t> </a:t>
            </a:r>
            <a:r>
              <a:rPr lang="en-US" sz="2400" dirty="0" err="1" smtClean="0"/>
              <a:t>est</a:t>
            </a:r>
            <a:r>
              <a:rPr lang="en-US" sz="2400" dirty="0" smtClean="0"/>
              <a:t> le nom du r</a:t>
            </a:r>
            <a:r>
              <a:rPr lang="fr-FR" sz="2400" dirty="0" err="1" smtClean="0"/>
              <a:t>ôle</a:t>
            </a:r>
            <a:r>
              <a:rPr lang="fr-FR" sz="2400" dirty="0" smtClean="0"/>
              <a:t> de la classe B</a:t>
            </a:r>
            <a:endParaRPr lang="en-US" sz="2400" dirty="0" smtClean="0"/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/>
              <a:t>Si le </a:t>
            </a:r>
            <a:r>
              <a:rPr lang="en-US" sz="2400" dirty="0" err="1"/>
              <a:t>nombre</a:t>
            </a:r>
            <a:r>
              <a:rPr lang="en-US" sz="2400" dirty="0"/>
              <a:t> maximal </a:t>
            </a:r>
            <a:r>
              <a:rPr lang="en-US" sz="2400" dirty="0" err="1"/>
              <a:t>d’objets</a:t>
            </a:r>
            <a:r>
              <a:rPr lang="en-US" sz="2400" dirty="0"/>
              <a:t> </a:t>
            </a:r>
            <a:r>
              <a:rPr lang="en-US" sz="2400" dirty="0" err="1"/>
              <a:t>pouvant</a:t>
            </a:r>
            <a:r>
              <a:rPr lang="en-US" sz="2400" dirty="0"/>
              <a:t> </a:t>
            </a:r>
            <a:r>
              <a:rPr lang="en-US" sz="2400" dirty="0" err="1"/>
              <a:t>être</a:t>
            </a:r>
            <a:r>
              <a:rPr lang="en-US" sz="2400" dirty="0"/>
              <a:t> </a:t>
            </a:r>
            <a:r>
              <a:rPr lang="en-US" sz="2400" dirty="0" err="1"/>
              <a:t>reliés</a:t>
            </a:r>
            <a:r>
              <a:rPr lang="en-US" sz="2400" dirty="0"/>
              <a:t> </a:t>
            </a:r>
            <a:r>
              <a:rPr lang="en-US" sz="2400" dirty="0" err="1"/>
              <a:t>est</a:t>
            </a:r>
            <a:r>
              <a:rPr lang="en-US" sz="2400" dirty="0"/>
              <a:t> </a:t>
            </a:r>
            <a:r>
              <a:rPr lang="en-US" sz="2400" dirty="0" err="1"/>
              <a:t>supérieur</a:t>
            </a:r>
            <a:r>
              <a:rPr lang="en-US" sz="2400" dirty="0"/>
              <a:t> à </a:t>
            </a:r>
            <a:r>
              <a:rPr lang="en-US" sz="2400" dirty="0" smtClean="0"/>
              <a:t>1, </a:t>
            </a:r>
            <a:r>
              <a:rPr lang="en-US" sz="2400" dirty="0" err="1" smtClean="0"/>
              <a:t>l’attribut</a:t>
            </a:r>
            <a:r>
              <a:rPr lang="en-US" sz="2400" dirty="0" smtClean="0"/>
              <a:t> </a:t>
            </a:r>
            <a:r>
              <a:rPr lang="en-US" sz="2400" dirty="0"/>
              <a:t>Java </a:t>
            </a:r>
            <a:r>
              <a:rPr lang="en-US" sz="2400" dirty="0" err="1"/>
              <a:t>est</a:t>
            </a:r>
            <a:r>
              <a:rPr lang="en-US" sz="2400" dirty="0"/>
              <a:t> un tableau</a:t>
            </a:r>
          </a:p>
          <a:p>
            <a:pPr marL="658368" lvl="3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637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Relation d’Association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A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associée</a:t>
            </a:r>
            <a:r>
              <a:rPr lang="en-US" dirty="0"/>
              <a:t> à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smtClean="0"/>
              <a:t>B</a:t>
            </a:r>
          </a:p>
          <a:p>
            <a:pPr marL="365760" indent="-457200">
              <a:lnSpc>
                <a:spcPct val="120000"/>
              </a:lnSpc>
              <a:spcAft>
                <a:spcPts val="600"/>
              </a:spcAft>
              <a:buFont typeface="Courier New" charset="0"/>
              <a:buChar char="o"/>
            </a:pPr>
            <a:r>
              <a:rPr lang="en-US" dirty="0" smtClean="0"/>
              <a:t>Si </a:t>
            </a:r>
            <a:r>
              <a:rPr lang="en-US" dirty="0" err="1"/>
              <a:t>l’association</a:t>
            </a:r>
            <a:r>
              <a:rPr lang="en-US" dirty="0"/>
              <a:t> </a:t>
            </a:r>
            <a:r>
              <a:rPr lang="en-US" dirty="0" err="1" smtClean="0"/>
              <a:t>n’est</a:t>
            </a:r>
            <a:r>
              <a:rPr lang="en-US" dirty="0" smtClean="0"/>
              <a:t> pas navigable</a:t>
            </a:r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err="1" smtClean="0"/>
              <a:t>doit</a:t>
            </a:r>
            <a:r>
              <a:rPr lang="en-US" sz="2400" dirty="0" smtClean="0"/>
              <a:t> </a:t>
            </a:r>
            <a:r>
              <a:rPr lang="en-US" sz="2400" dirty="0" err="1" smtClean="0"/>
              <a:t>contenir</a:t>
            </a:r>
            <a:r>
              <a:rPr lang="en-US" sz="2400" dirty="0" smtClean="0"/>
              <a:t> un </a:t>
            </a:r>
            <a:r>
              <a:rPr lang="en-US" sz="2400" dirty="0" err="1" smtClean="0"/>
              <a:t>attribut</a:t>
            </a:r>
            <a:r>
              <a:rPr lang="en-US" sz="2400" dirty="0" smtClean="0"/>
              <a:t> de type la </a:t>
            </a:r>
            <a:r>
              <a:rPr lang="en-US" sz="2400" dirty="0" err="1" smtClean="0"/>
              <a:t>classe</a:t>
            </a:r>
            <a:r>
              <a:rPr lang="en-US" sz="2400" dirty="0" smtClean="0"/>
              <a:t> B</a:t>
            </a:r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 smtClean="0"/>
              <a:t>B </a:t>
            </a:r>
            <a:r>
              <a:rPr lang="en-US" sz="2400" dirty="0" err="1"/>
              <a:t>doit</a:t>
            </a:r>
            <a:r>
              <a:rPr lang="en-US" sz="2400" dirty="0"/>
              <a:t> </a:t>
            </a:r>
            <a:r>
              <a:rPr lang="en-US" sz="2400" dirty="0" err="1"/>
              <a:t>contenir</a:t>
            </a:r>
            <a:r>
              <a:rPr lang="en-US" sz="2400" dirty="0"/>
              <a:t> un </a:t>
            </a:r>
            <a:r>
              <a:rPr lang="en-US" sz="2400" dirty="0" err="1"/>
              <a:t>attribut</a:t>
            </a:r>
            <a:r>
              <a:rPr lang="en-US" sz="2400" dirty="0"/>
              <a:t> de type la </a:t>
            </a:r>
            <a:r>
              <a:rPr lang="en-US" sz="2400" dirty="0" err="1"/>
              <a:t>classe</a:t>
            </a:r>
            <a:r>
              <a:rPr lang="en-US" sz="2400" dirty="0"/>
              <a:t> A</a:t>
            </a:r>
            <a:endParaRPr lang="en-US" sz="2400" dirty="0" smtClean="0"/>
          </a:p>
          <a:p>
            <a:pPr marL="818388" lvl="3" indent="-342900">
              <a:lnSpc>
                <a:spcPct val="12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2400" dirty="0" smtClean="0"/>
              <a:t>Si </a:t>
            </a:r>
            <a:r>
              <a:rPr lang="en-US" sz="2400" dirty="0"/>
              <a:t>le </a:t>
            </a:r>
            <a:r>
              <a:rPr lang="en-US" sz="2400" dirty="0" err="1"/>
              <a:t>nombre</a:t>
            </a:r>
            <a:r>
              <a:rPr lang="en-US" sz="2400" dirty="0"/>
              <a:t> maximal </a:t>
            </a:r>
            <a:r>
              <a:rPr lang="en-US" sz="2400" dirty="0" err="1"/>
              <a:t>d’objets</a:t>
            </a:r>
            <a:r>
              <a:rPr lang="en-US" sz="2400" dirty="0"/>
              <a:t> </a:t>
            </a:r>
            <a:r>
              <a:rPr lang="en-US" sz="2400" dirty="0" err="1"/>
              <a:t>pouvant</a:t>
            </a:r>
            <a:r>
              <a:rPr lang="en-US" sz="2400" dirty="0"/>
              <a:t> </a:t>
            </a:r>
            <a:r>
              <a:rPr lang="en-US" sz="2400" dirty="0" err="1"/>
              <a:t>être</a:t>
            </a:r>
            <a:r>
              <a:rPr lang="en-US" sz="2400" dirty="0"/>
              <a:t> </a:t>
            </a:r>
            <a:r>
              <a:rPr lang="en-US" sz="2400" dirty="0" err="1"/>
              <a:t>reliés</a:t>
            </a:r>
            <a:r>
              <a:rPr lang="en-US" sz="2400" dirty="0"/>
              <a:t> </a:t>
            </a:r>
            <a:r>
              <a:rPr lang="en-US" sz="2400" dirty="0" err="1"/>
              <a:t>est</a:t>
            </a:r>
            <a:r>
              <a:rPr lang="en-US" sz="2400" dirty="0"/>
              <a:t> </a:t>
            </a:r>
            <a:r>
              <a:rPr lang="en-US" sz="2400" dirty="0" err="1"/>
              <a:t>supérieur</a:t>
            </a:r>
            <a:r>
              <a:rPr lang="en-US" sz="2400" dirty="0"/>
              <a:t> à </a:t>
            </a:r>
            <a:r>
              <a:rPr lang="en-US" sz="2400" dirty="0" smtClean="0"/>
              <a:t>1, </a:t>
            </a:r>
            <a:r>
              <a:rPr lang="en-US" sz="2400" dirty="0" err="1" smtClean="0"/>
              <a:t>l’attribut</a:t>
            </a:r>
            <a:r>
              <a:rPr lang="en-US" sz="2400" dirty="0" smtClean="0"/>
              <a:t> </a:t>
            </a:r>
            <a:r>
              <a:rPr lang="en-US" sz="2400" dirty="0"/>
              <a:t>Java </a:t>
            </a:r>
            <a:r>
              <a:rPr lang="en-US" sz="2400" dirty="0" err="1"/>
              <a:t>est</a:t>
            </a:r>
            <a:r>
              <a:rPr lang="en-US" sz="2400" dirty="0"/>
              <a:t> un tableau</a:t>
            </a:r>
          </a:p>
          <a:p>
            <a:pPr marL="658368" lvl="3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955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Relation d’Association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49" y="1607574"/>
            <a:ext cx="5131160" cy="929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892" y="2932235"/>
            <a:ext cx="3585701" cy="2841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125" y="2990413"/>
            <a:ext cx="3545757" cy="28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9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Relation d’Association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892" y="2932235"/>
            <a:ext cx="3585701" cy="28414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890" y="1571760"/>
            <a:ext cx="4635397" cy="12831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928" y="2738995"/>
            <a:ext cx="5144590" cy="322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8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Relation d’Association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47" y="1553087"/>
            <a:ext cx="4838291" cy="17692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335" y="3269172"/>
            <a:ext cx="4805497" cy="23838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793" y="3138713"/>
            <a:ext cx="3125155" cy="24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5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Relation </a:t>
            </a:r>
            <a:r>
              <a:rPr lang="fr-FR" sz="4700" dirty="0" smtClean="0"/>
              <a:t>d’Agrégation et de Composition</a:t>
            </a:r>
            <a:endParaRPr lang="fr-FR" sz="4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1268360" y="1489587"/>
            <a:ext cx="988731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Les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agrégations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s'implémentent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comme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les </a:t>
            </a:r>
            <a:r>
              <a:rPr lang="en-US" sz="2800" dirty="0" smtClean="0">
                <a:latin typeface="Comic Sans MS" charset="0"/>
                <a:ea typeface="Comic Sans MS" charset="0"/>
                <a:cs typeface="Comic Sans MS" charset="0"/>
              </a:rPr>
              <a:t>associations</a:t>
            </a:r>
          </a:p>
          <a:p>
            <a:endParaRPr lang="en-US" sz="2800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Une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composition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peut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s'implémenter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comme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une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association </a:t>
            </a:r>
            <a:r>
              <a:rPr lang="en-US" sz="2800" dirty="0" err="1">
                <a:latin typeface="Comic Sans MS" charset="0"/>
                <a:ea typeface="Comic Sans MS" charset="0"/>
                <a:cs typeface="Comic Sans MS" charset="0"/>
              </a:rPr>
              <a:t>unidirectionnelle</a:t>
            </a:r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fr-FR" sz="2800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54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Héritage entre Classes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UML </a:t>
            </a:r>
            <a:r>
              <a:rPr lang="en-US" dirty="0" smtClean="0"/>
              <a:t>A </a:t>
            </a:r>
            <a:r>
              <a:rPr lang="en-US" dirty="0" err="1" smtClean="0"/>
              <a:t>hérite</a:t>
            </a:r>
            <a:r>
              <a:rPr lang="en-US" dirty="0" smtClean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autre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smtClean="0"/>
              <a:t>UML B</a:t>
            </a:r>
          </a:p>
          <a:p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 </a:t>
            </a:r>
            <a:r>
              <a:rPr lang="en-US" sz="2400" dirty="0" err="1" smtClean="0"/>
              <a:t>il</a:t>
            </a:r>
            <a:r>
              <a:rPr lang="en-US" sz="2400" dirty="0" smtClean="0"/>
              <a:t> y a </a:t>
            </a:r>
            <a:r>
              <a:rPr lang="en-US" sz="2400" dirty="0" err="1" smtClean="0"/>
              <a:t>une</a:t>
            </a:r>
            <a:r>
              <a:rPr lang="en-US" sz="2400" dirty="0" smtClean="0"/>
              <a:t> </a:t>
            </a:r>
            <a:r>
              <a:rPr lang="en-US" sz="2400" dirty="0"/>
              <a:t>relation </a:t>
            </a:r>
            <a:r>
              <a:rPr lang="en-US" sz="2400" dirty="0" err="1"/>
              <a:t>d’héritage</a:t>
            </a:r>
            <a:r>
              <a:rPr lang="en-US" sz="2400" dirty="0"/>
              <a:t> (extends en Java) entre les classes Java </a:t>
            </a:r>
            <a:r>
              <a:rPr lang="en-US" sz="2400" dirty="0" smtClean="0"/>
              <a:t>A et B </a:t>
            </a:r>
            <a:r>
              <a:rPr lang="en-US" sz="2400" dirty="0" err="1" smtClean="0"/>
              <a:t>correspondantes</a:t>
            </a:r>
            <a:endParaRPr lang="en-US" sz="2400" dirty="0"/>
          </a:p>
          <a:p>
            <a:endParaRPr lang="en-US" dirty="0"/>
          </a:p>
          <a:p>
            <a:pPr marL="91440" lvl="1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endParaRPr lang="en-US" sz="2800" dirty="0" smtClean="0"/>
          </a:p>
          <a:p>
            <a:pPr marL="91440" lvl="1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endParaRPr lang="en-US" sz="2800" dirty="0"/>
          </a:p>
          <a:p>
            <a:pPr marL="91440" lvl="1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endParaRPr lang="en-US" sz="2800" dirty="0" smtClean="0"/>
          </a:p>
          <a:p>
            <a:pPr marL="91440" lvl="1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sz="2800" dirty="0" smtClean="0"/>
              <a:t>Si </a:t>
            </a:r>
            <a:r>
              <a:rPr lang="en-US" sz="2800" dirty="0" err="1"/>
              <a:t>une</a:t>
            </a:r>
            <a:r>
              <a:rPr lang="en-US" sz="2800" dirty="0"/>
              <a:t> </a:t>
            </a:r>
            <a:r>
              <a:rPr lang="en-US" sz="2800" dirty="0" err="1"/>
              <a:t>classe</a:t>
            </a:r>
            <a:r>
              <a:rPr lang="en-US" sz="2800" dirty="0"/>
              <a:t> UML </a:t>
            </a:r>
            <a:r>
              <a:rPr lang="en-US" sz="2800" dirty="0" err="1"/>
              <a:t>hérite</a:t>
            </a:r>
            <a:r>
              <a:rPr lang="en-US" sz="2800" dirty="0"/>
              <a:t> de </a:t>
            </a:r>
            <a:r>
              <a:rPr lang="en-US" sz="2800" dirty="0" err="1"/>
              <a:t>plusieurs</a:t>
            </a:r>
            <a:r>
              <a:rPr lang="en-US" sz="2800" dirty="0"/>
              <a:t> </a:t>
            </a:r>
            <a:r>
              <a:rPr lang="en-US" sz="2800" dirty="0" err="1"/>
              <a:t>autres</a:t>
            </a:r>
            <a:r>
              <a:rPr lang="en-US" sz="2800" dirty="0"/>
              <a:t> classes </a:t>
            </a:r>
            <a:r>
              <a:rPr lang="en-US" sz="2800" dirty="0" smtClean="0"/>
              <a:t>UML </a:t>
            </a:r>
          </a:p>
          <a:p>
            <a:pPr marL="274320" lvl="2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sz="2400" dirty="0" smtClean="0">
                <a:sym typeface="Wingdings"/>
              </a:rPr>
              <a:t></a:t>
            </a:r>
            <a:r>
              <a:rPr lang="en-US" sz="2400" dirty="0"/>
              <a:t>impossible de </a:t>
            </a:r>
            <a:r>
              <a:rPr lang="en-US" sz="2400" dirty="0" err="1"/>
              <a:t>générer</a:t>
            </a:r>
            <a:r>
              <a:rPr lang="en-US" sz="2400" dirty="0"/>
              <a:t> du code Java</a:t>
            </a:r>
          </a:p>
          <a:p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2651464"/>
            <a:ext cx="1555340" cy="22699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234" y="3045131"/>
            <a:ext cx="3896195" cy="148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9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Héritage entre Interfaces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smtClean="0"/>
              <a:t>interface UML IC </a:t>
            </a:r>
            <a:r>
              <a:rPr lang="en-US" dirty="0" err="1" smtClean="0"/>
              <a:t>hérite</a:t>
            </a:r>
            <a:r>
              <a:rPr lang="en-US" dirty="0" smtClean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autre</a:t>
            </a:r>
            <a:r>
              <a:rPr lang="en-US" dirty="0"/>
              <a:t> </a:t>
            </a:r>
            <a:r>
              <a:rPr lang="en-US" dirty="0" smtClean="0"/>
              <a:t>interface UML </a:t>
            </a:r>
            <a:r>
              <a:rPr lang="en-US" dirty="0" smtClean="0"/>
              <a:t>IA</a:t>
            </a:r>
            <a:endParaRPr lang="en-US" dirty="0" smtClean="0"/>
          </a:p>
          <a:p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 </a:t>
            </a:r>
            <a:r>
              <a:rPr lang="en-US" sz="2400" dirty="0" err="1" smtClean="0"/>
              <a:t>il</a:t>
            </a:r>
            <a:r>
              <a:rPr lang="en-US" sz="2400" dirty="0" smtClean="0"/>
              <a:t> y a </a:t>
            </a:r>
            <a:r>
              <a:rPr lang="en-US" sz="2400" dirty="0" err="1" smtClean="0"/>
              <a:t>une</a:t>
            </a:r>
            <a:r>
              <a:rPr lang="en-US" sz="2400" dirty="0" smtClean="0"/>
              <a:t> </a:t>
            </a:r>
            <a:r>
              <a:rPr lang="en-US" sz="2400" dirty="0"/>
              <a:t>relation </a:t>
            </a:r>
            <a:r>
              <a:rPr lang="en-US" sz="2400" dirty="0" err="1"/>
              <a:t>d’héritage</a:t>
            </a:r>
            <a:r>
              <a:rPr lang="en-US" sz="2400" dirty="0"/>
              <a:t> (extends en Java) entre les </a:t>
            </a:r>
            <a:r>
              <a:rPr lang="en-US" sz="2400" dirty="0" smtClean="0"/>
              <a:t>interfaces Java IA et IB </a:t>
            </a:r>
            <a:r>
              <a:rPr lang="en-US" sz="2400" dirty="0" err="1" smtClean="0"/>
              <a:t>correspondantes</a:t>
            </a:r>
            <a:endParaRPr lang="en-US" sz="2400" dirty="0"/>
          </a:p>
          <a:p>
            <a:endParaRPr lang="en-US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60700"/>
            <a:ext cx="1892300" cy="256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818" y="3229901"/>
            <a:ext cx="3530600" cy="2514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1859" y="3229901"/>
            <a:ext cx="3985828" cy="12241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3" y="4636333"/>
            <a:ext cx="4427238" cy="153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4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Implémentation d’Interfaces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Si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smtClean="0"/>
              <a:t>UML A </a:t>
            </a:r>
            <a:r>
              <a:rPr lang="en-US" dirty="0" err="1"/>
              <a:t>réalise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interfaces </a:t>
            </a:r>
            <a:r>
              <a:rPr lang="en-US" dirty="0" smtClean="0"/>
              <a:t>UML </a:t>
            </a:r>
          </a:p>
          <a:p>
            <a:pPr marL="384048" lvl="2" indent="0">
              <a:lnSpc>
                <a:spcPct val="120000"/>
              </a:lnSpc>
              <a:buNone/>
            </a:pPr>
            <a:r>
              <a:rPr lang="en-US" sz="2400" dirty="0" smtClean="0">
                <a:sym typeface="Wingdings"/>
              </a:rPr>
              <a:t> La </a:t>
            </a:r>
            <a:r>
              <a:rPr lang="en-US" sz="2400" dirty="0" err="1" smtClean="0">
                <a:sym typeface="Wingdings"/>
              </a:rPr>
              <a:t>classe</a:t>
            </a:r>
            <a:r>
              <a:rPr lang="en-US" sz="2400" dirty="0" smtClean="0">
                <a:sym typeface="Wingdings"/>
              </a:rPr>
              <a:t> Java A </a:t>
            </a:r>
            <a:r>
              <a:rPr lang="en-US" sz="2400" dirty="0" err="1" smtClean="0">
                <a:sym typeface="Wingdings"/>
              </a:rPr>
              <a:t>implemente</a:t>
            </a:r>
            <a:r>
              <a:rPr lang="en-US" sz="2400" dirty="0" smtClean="0">
                <a:sym typeface="Wingdings"/>
              </a:rPr>
              <a:t> les interfaces Java </a:t>
            </a:r>
            <a:r>
              <a:rPr lang="en-US" sz="2400" dirty="0" err="1" smtClean="0">
                <a:sym typeface="Wingdings"/>
              </a:rPr>
              <a:t>correspondantes</a:t>
            </a:r>
            <a:endParaRPr lang="en-US" sz="2400" dirty="0"/>
          </a:p>
          <a:p>
            <a:pPr marL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 smtClean="0"/>
          </a:p>
          <a:p>
            <a:pPr marL="201168" lvl="1" indent="0">
              <a:lnSpc>
                <a:spcPct val="120000"/>
              </a:lnSpc>
              <a:spcAft>
                <a:spcPts val="60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23597"/>
            <a:ext cx="3479800" cy="2413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352" y="3854329"/>
            <a:ext cx="4363392" cy="129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6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Import de Packages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Si un package </a:t>
            </a:r>
            <a:r>
              <a:rPr lang="en-US" dirty="0" smtClean="0"/>
              <a:t>UML P1 </a:t>
            </a:r>
            <a:r>
              <a:rPr lang="en-US" dirty="0" err="1"/>
              <a:t>importe</a:t>
            </a:r>
            <a:r>
              <a:rPr lang="en-US" dirty="0"/>
              <a:t> un </a:t>
            </a:r>
            <a:r>
              <a:rPr lang="en-US" dirty="0" err="1"/>
              <a:t>autre</a:t>
            </a:r>
            <a:r>
              <a:rPr lang="en-US" dirty="0"/>
              <a:t> package </a:t>
            </a:r>
            <a:r>
              <a:rPr lang="en-US" dirty="0" smtClean="0"/>
              <a:t>UML P2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ym typeface="Wingdings"/>
              </a:rPr>
              <a:t></a:t>
            </a:r>
            <a:r>
              <a:rPr lang="en-US" dirty="0" err="1" smtClean="0"/>
              <a:t>Toutes</a:t>
            </a:r>
            <a:r>
              <a:rPr lang="en-US" dirty="0" smtClean="0"/>
              <a:t> </a:t>
            </a:r>
            <a:r>
              <a:rPr lang="en-US" dirty="0"/>
              <a:t>les classes Java </a:t>
            </a:r>
            <a:r>
              <a:rPr lang="en-US" dirty="0" err="1" smtClean="0"/>
              <a:t>correspondant</a:t>
            </a:r>
            <a:r>
              <a:rPr lang="en-US" dirty="0" smtClean="0"/>
              <a:t> </a:t>
            </a:r>
            <a:r>
              <a:rPr lang="en-US" dirty="0"/>
              <a:t>aux classes UML </a:t>
            </a:r>
            <a:r>
              <a:rPr lang="en-US" dirty="0" smtClean="0"/>
              <a:t>du package </a:t>
            </a:r>
            <a:r>
              <a:rPr lang="en-US" dirty="0"/>
              <a:t>P1 </a:t>
            </a:r>
            <a:r>
              <a:rPr lang="en-US" dirty="0" err="1" smtClean="0"/>
              <a:t>doivent</a:t>
            </a:r>
            <a:r>
              <a:rPr lang="en-US" dirty="0" smtClean="0"/>
              <a:t> </a:t>
            </a:r>
            <a:r>
              <a:rPr lang="en-US" dirty="0" err="1"/>
              <a:t>déclarer</a:t>
            </a:r>
            <a:r>
              <a:rPr lang="en-US" dirty="0"/>
              <a:t> un import Java </a:t>
            </a:r>
            <a:r>
              <a:rPr lang="en-US" dirty="0" err="1"/>
              <a:t>vers</a:t>
            </a:r>
            <a:r>
              <a:rPr lang="en-US" dirty="0"/>
              <a:t> </a:t>
            </a:r>
            <a:r>
              <a:rPr lang="en-US" dirty="0" err="1"/>
              <a:t>toutes</a:t>
            </a:r>
            <a:r>
              <a:rPr lang="en-US" dirty="0"/>
              <a:t> les classes Java </a:t>
            </a:r>
            <a:r>
              <a:rPr lang="en-US" dirty="0" err="1"/>
              <a:t>correspondant</a:t>
            </a:r>
            <a:r>
              <a:rPr lang="en-US" dirty="0"/>
              <a:t> aux classes </a:t>
            </a:r>
            <a:r>
              <a:rPr lang="en-US" dirty="0" smtClean="0"/>
              <a:t>UML du package </a:t>
            </a:r>
            <a:r>
              <a:rPr lang="en-US" dirty="0"/>
              <a:t>UML </a:t>
            </a:r>
            <a:r>
              <a:rPr lang="en-US" dirty="0" smtClean="0"/>
              <a:t>P2 </a:t>
            </a: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79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Notes de Code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Si </a:t>
            </a:r>
            <a:r>
              <a:rPr lang="en-US" dirty="0" smtClean="0"/>
              <a:t>les </a:t>
            </a:r>
            <a:r>
              <a:rPr lang="en-US" dirty="0" err="1" smtClean="0"/>
              <a:t>opérations</a:t>
            </a:r>
            <a:r>
              <a:rPr lang="en-US" dirty="0" smtClean="0"/>
              <a:t> UML </a:t>
            </a:r>
            <a:r>
              <a:rPr lang="en-US" dirty="0" err="1" smtClean="0"/>
              <a:t>contiennent</a:t>
            </a:r>
            <a:r>
              <a:rPr lang="en-US" dirty="0" smtClean="0"/>
              <a:t> des </a:t>
            </a:r>
            <a:r>
              <a:rPr lang="en-US" dirty="0"/>
              <a:t>notes de code Java </a:t>
            </a:r>
            <a:r>
              <a:rPr lang="en-US" dirty="0" smtClean="0">
                <a:sym typeface="Wingdings"/>
              </a:rPr>
              <a:t> Ce code Java 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/>
              <a:t>recopie</a:t>
            </a:r>
            <a:r>
              <a:rPr lang="en-US" dirty="0"/>
              <a:t>́ </a:t>
            </a:r>
            <a:r>
              <a:rPr lang="en-US" dirty="0" err="1"/>
              <a:t>dans</a:t>
            </a:r>
            <a:r>
              <a:rPr lang="en-US" dirty="0"/>
              <a:t> les </a:t>
            </a:r>
            <a:r>
              <a:rPr lang="en-US" dirty="0" err="1" smtClean="0"/>
              <a:t>méthodes</a:t>
            </a:r>
            <a:r>
              <a:rPr lang="en-US" dirty="0" smtClean="0"/>
              <a:t> Java </a:t>
            </a:r>
            <a:r>
              <a:rPr lang="en-US" dirty="0" err="1" smtClean="0"/>
              <a:t>correspondantes</a:t>
            </a:r>
            <a:r>
              <a:rPr lang="en-US" dirty="0" smtClean="0"/>
              <a:t> </a:t>
            </a: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637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408920" cy="3566160"/>
          </a:xfrm>
        </p:spPr>
        <p:txBody>
          <a:bodyPr>
            <a:normAutofit/>
          </a:bodyPr>
          <a:lstStyle/>
          <a:p>
            <a:pPr algn="ctr"/>
            <a:r>
              <a:rPr lang="en-US" sz="7200" dirty="0" err="1"/>
              <a:t>Limites</a:t>
            </a:r>
            <a:r>
              <a:rPr lang="en-US" sz="7200" dirty="0"/>
              <a:t> de la </a:t>
            </a:r>
            <a:r>
              <a:rPr lang="en-US" sz="7200" dirty="0" err="1"/>
              <a:t>Génération</a:t>
            </a:r>
            <a:r>
              <a:rPr lang="en-US" sz="7200" dirty="0"/>
              <a:t> de Code</a:t>
            </a:r>
            <a:endParaRPr lang="fr-FR" sz="7200" b="1" dirty="0"/>
          </a:p>
        </p:txBody>
      </p:sp>
    </p:spTree>
    <p:extLst>
      <p:ext uri="{BB962C8B-B14F-4D97-AF65-F5344CB8AC3E}">
        <p14:creationId xmlns:p14="http://schemas.microsoft.com/office/powerpoint/2010/main" val="4151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Limites</a:t>
            </a:r>
            <a:r>
              <a:rPr lang="en-US" dirty="0"/>
              <a:t> de la </a:t>
            </a:r>
            <a:r>
              <a:rPr lang="en-US" dirty="0" err="1"/>
              <a:t>Génération</a:t>
            </a:r>
            <a:r>
              <a:rPr lang="en-US" dirty="0"/>
              <a:t> de Code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728" y="1332364"/>
            <a:ext cx="10058400" cy="4836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 smtClean="0"/>
              <a:t>La </a:t>
            </a:r>
            <a:r>
              <a:rPr lang="en-US" dirty="0" err="1" smtClean="0"/>
              <a:t>génération</a:t>
            </a:r>
            <a:r>
              <a:rPr lang="en-US" dirty="0" smtClean="0"/>
              <a:t> </a:t>
            </a:r>
            <a:r>
              <a:rPr lang="en-US" dirty="0" err="1" smtClean="0"/>
              <a:t>n’est</a:t>
            </a:r>
            <a:r>
              <a:rPr lang="en-US" dirty="0" smtClean="0"/>
              <a:t> pas </a:t>
            </a:r>
            <a:r>
              <a:rPr lang="en-US" dirty="0" err="1" smtClean="0"/>
              <a:t>toujours</a:t>
            </a:r>
            <a:r>
              <a:rPr lang="en-US" dirty="0" smtClean="0"/>
              <a:t> possible</a:t>
            </a:r>
          </a:p>
          <a:p>
            <a:pPr>
              <a:lnSpc>
                <a:spcPct val="120000"/>
              </a:lnSpc>
            </a:pPr>
            <a:r>
              <a:rPr lang="en-US" u="sng" dirty="0" err="1" smtClean="0"/>
              <a:t>Exemple</a:t>
            </a:r>
            <a:r>
              <a:rPr lang="en-US" u="sng" dirty="0" smtClean="0"/>
              <a:t> : </a:t>
            </a:r>
            <a:r>
              <a:rPr lang="en-US" dirty="0" err="1" smtClean="0"/>
              <a:t>Héritage</a:t>
            </a:r>
            <a:r>
              <a:rPr lang="en-US" dirty="0" smtClean="0"/>
              <a:t> multiple</a:t>
            </a:r>
          </a:p>
          <a:p>
            <a:pPr>
              <a:lnSpc>
                <a:spcPct val="120000"/>
              </a:lnSpc>
            </a:pPr>
            <a:endParaRPr lang="en-US" sz="1000" dirty="0"/>
          </a:p>
          <a:p>
            <a:pPr>
              <a:lnSpc>
                <a:spcPct val="120000"/>
              </a:lnSpc>
            </a:pPr>
            <a:r>
              <a:rPr lang="en-US" dirty="0" smtClean="0"/>
              <a:t>Les </a:t>
            </a:r>
            <a:r>
              <a:rPr lang="en-US" dirty="0" err="1" smtClean="0"/>
              <a:t>règles</a:t>
            </a:r>
            <a:r>
              <a:rPr lang="en-US" dirty="0" smtClean="0"/>
              <a:t> </a:t>
            </a:r>
            <a:r>
              <a:rPr lang="en-US" dirty="0" err="1" smtClean="0"/>
              <a:t>n’intègrent</a:t>
            </a:r>
            <a:r>
              <a:rPr lang="en-US" dirty="0" smtClean="0"/>
              <a:t> pas </a:t>
            </a:r>
            <a:r>
              <a:rPr lang="en-US" dirty="0" err="1" smtClean="0"/>
              <a:t>l’utilisation</a:t>
            </a:r>
            <a:r>
              <a:rPr lang="en-US" dirty="0" smtClean="0"/>
              <a:t> de </a:t>
            </a:r>
            <a:r>
              <a:rPr lang="en-US" dirty="0" err="1" smtClean="0"/>
              <a:t>l’API</a:t>
            </a:r>
            <a:r>
              <a:rPr lang="en-US" dirty="0" smtClean="0"/>
              <a:t> Java (</a:t>
            </a:r>
            <a:r>
              <a:rPr lang="en-US" dirty="0" err="1" smtClean="0"/>
              <a:t>Remplacer</a:t>
            </a:r>
            <a:r>
              <a:rPr lang="en-US" dirty="0" smtClean="0"/>
              <a:t> un tableau par un </a:t>
            </a:r>
            <a:r>
              <a:rPr lang="en-US" dirty="0" err="1" smtClean="0"/>
              <a:t>arrayList</a:t>
            </a:r>
            <a:r>
              <a:rPr lang="en-US" dirty="0" smtClean="0"/>
              <a:t>)</a:t>
            </a:r>
          </a:p>
          <a:p>
            <a:pPr>
              <a:lnSpc>
                <a:spcPct val="120000"/>
              </a:lnSpc>
            </a:pPr>
            <a:endParaRPr lang="en-US" sz="1000" dirty="0"/>
          </a:p>
          <a:p>
            <a:pPr>
              <a:lnSpc>
                <a:spcPct val="120000"/>
              </a:lnSpc>
            </a:pPr>
            <a:r>
              <a:rPr lang="en-US" dirty="0" smtClean="0"/>
              <a:t>Le code </a:t>
            </a:r>
            <a:r>
              <a:rPr lang="en-US" dirty="0" err="1" smtClean="0"/>
              <a:t>obtenu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un </a:t>
            </a:r>
            <a:r>
              <a:rPr lang="en-US" dirty="0" err="1" smtClean="0"/>
              <a:t>squelette</a:t>
            </a:r>
            <a:r>
              <a:rPr lang="en-US" dirty="0" smtClean="0"/>
              <a:t> </a:t>
            </a:r>
          </a:p>
          <a:p>
            <a:pPr marL="384048" lvl="2" indent="0">
              <a:lnSpc>
                <a:spcPct val="120000"/>
              </a:lnSpc>
              <a:buNone/>
            </a:pPr>
            <a:r>
              <a:rPr lang="en-US" sz="2800" dirty="0" err="1" smtClean="0"/>
              <a:t>Pourquoi</a:t>
            </a:r>
            <a:r>
              <a:rPr lang="en-US" sz="2800" dirty="0" smtClean="0"/>
              <a:t>?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3119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408920" cy="3566160"/>
          </a:xfrm>
        </p:spPr>
        <p:txBody>
          <a:bodyPr>
            <a:normAutofit/>
          </a:bodyPr>
          <a:lstStyle/>
          <a:p>
            <a:pPr algn="ctr"/>
            <a:r>
              <a:rPr lang="fr-FR" sz="7200" dirty="0" smtClean="0"/>
              <a:t>Références</a:t>
            </a:r>
            <a:endParaRPr lang="fr-FR" sz="7200" b="1" dirty="0"/>
          </a:p>
        </p:txBody>
      </p:sp>
    </p:spTree>
    <p:extLst>
      <p:ext uri="{BB962C8B-B14F-4D97-AF65-F5344CB8AC3E}">
        <p14:creationId xmlns:p14="http://schemas.microsoft.com/office/powerpoint/2010/main" val="62195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  <a:endParaRPr lang="fr-FR" altLang="en-US" dirty="0"/>
          </a:p>
        </p:txBody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2234" y="1358518"/>
            <a:ext cx="10058400" cy="4836474"/>
          </a:xfrm>
        </p:spPr>
        <p:txBody>
          <a:bodyPr>
            <a:normAutofit/>
          </a:bodyPr>
          <a:lstStyle/>
          <a:p>
            <a:pPr marL="384048" lvl="2" indent="0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lang="en-US" sz="2800" b="1" dirty="0" err="1"/>
              <a:t>Modélisation</a:t>
            </a:r>
            <a:r>
              <a:rPr lang="en-US" sz="2800" b="1" dirty="0"/>
              <a:t> objet avec </a:t>
            </a:r>
            <a:r>
              <a:rPr lang="en-US" sz="2800" b="1" dirty="0" smtClean="0"/>
              <a:t>UML</a:t>
            </a:r>
            <a:r>
              <a:rPr lang="en-US" sz="2800" dirty="0" smtClean="0"/>
              <a:t>, Pierre-Alain Muller</a:t>
            </a:r>
          </a:p>
          <a:p>
            <a:pPr marL="384048" lvl="2" indent="0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None/>
            </a:pPr>
            <a:r>
              <a:rPr lang="en-US" altLang="en-US" sz="2800" b="1" dirty="0" smtClean="0"/>
              <a:t>UML 2 </a:t>
            </a:r>
            <a:r>
              <a:rPr lang="en-US" altLang="en-US" sz="2800" b="1" dirty="0"/>
              <a:t>pour les </a:t>
            </a:r>
            <a:r>
              <a:rPr lang="en-US" altLang="en-US" sz="2800" b="1" dirty="0" err="1" smtClean="0"/>
              <a:t>développeurs</a:t>
            </a:r>
            <a:r>
              <a:rPr lang="en-US" altLang="en-US" sz="2800" b="1" dirty="0" smtClean="0"/>
              <a:t> : </a:t>
            </a:r>
            <a:r>
              <a:rPr lang="en-US" altLang="en-US" sz="2800" b="1" dirty="0" err="1" smtClean="0"/>
              <a:t>Cours</a:t>
            </a:r>
            <a:r>
              <a:rPr lang="en-US" altLang="en-US" sz="2800" b="1" dirty="0" smtClean="0"/>
              <a:t> </a:t>
            </a:r>
            <a:r>
              <a:rPr lang="en-US" altLang="en-US" sz="2800" b="1" dirty="0"/>
              <a:t>avec </a:t>
            </a:r>
            <a:r>
              <a:rPr lang="en-US" altLang="en-US" sz="2800" b="1" dirty="0" err="1"/>
              <a:t>exercices</a:t>
            </a:r>
            <a:r>
              <a:rPr lang="en-US" altLang="en-US" sz="2800" b="1" dirty="0"/>
              <a:t> </a:t>
            </a:r>
            <a:r>
              <a:rPr lang="en-US" altLang="en-US" sz="2800" b="1" dirty="0" err="1" smtClean="0"/>
              <a:t>corrigés</a:t>
            </a:r>
            <a:r>
              <a:rPr lang="en-US" altLang="en-US" sz="2800" dirty="0" smtClean="0"/>
              <a:t>, Xavier </a:t>
            </a:r>
            <a:r>
              <a:rPr lang="en-US" altLang="en-US" sz="2800" dirty="0"/>
              <a:t>Blanc, Isabelle </a:t>
            </a:r>
            <a:r>
              <a:rPr lang="en-US" altLang="en-US" sz="2800" dirty="0" err="1" smtClean="0"/>
              <a:t>Mounier</a:t>
            </a:r>
            <a:endParaRPr lang="fr-FR" altLang="en-US" sz="2800" dirty="0" smtClean="0"/>
          </a:p>
          <a:p>
            <a:pPr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</a:pP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79558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_UO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_UO" id="{379DDD4E-6E87-A74D-ABB8-7535CE5BED71}" vid="{1F2A8C3C-5176-FF4C-8069-1FEA92C403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AS_UO</Template>
  <TotalTime>13663</TotalTime>
  <Words>2449</Words>
  <Application>Microsoft Macintosh PowerPoint</Application>
  <PresentationFormat>Widescreen</PresentationFormat>
  <Paragraphs>286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Comic Sans MS</vt:lpstr>
      <vt:lpstr>Courier New</vt:lpstr>
      <vt:lpstr>Wingdings</vt:lpstr>
      <vt:lpstr>AS_UO</vt:lpstr>
      <vt:lpstr>   INF4030 Conception Orientée Objet (COO)      Traduction d’un Diagramme de Classe en Java</vt:lpstr>
      <vt:lpstr>PowerPoint Presentation</vt:lpstr>
      <vt:lpstr>Génération de Code UMLJava</vt:lpstr>
      <vt:lpstr>Traduction d’un Diagramme  de Classe en Java</vt:lpstr>
      <vt:lpstr>UML # Java</vt:lpstr>
      <vt:lpstr>UML # Java</vt:lpstr>
      <vt:lpstr>Règles de Correspondance  UML Java</vt:lpstr>
      <vt:lpstr>Classe UML</vt:lpstr>
      <vt:lpstr>Classe UML</vt:lpstr>
      <vt:lpstr>Interface UML</vt:lpstr>
      <vt:lpstr>Propriétés UML</vt:lpstr>
      <vt:lpstr>Propriétés UML</vt:lpstr>
      <vt:lpstr>Opérations UML</vt:lpstr>
      <vt:lpstr>Paramètres d’Opérations UML</vt:lpstr>
      <vt:lpstr>Paramètres d’Opérations UML</vt:lpstr>
      <vt:lpstr>Exemple</vt:lpstr>
      <vt:lpstr>Relation d’Association</vt:lpstr>
      <vt:lpstr>Relation d’Association</vt:lpstr>
      <vt:lpstr>Relation d’Association</vt:lpstr>
      <vt:lpstr>Relation d’Association</vt:lpstr>
      <vt:lpstr>Relation d’Association</vt:lpstr>
      <vt:lpstr>Relation d’Agrégation et de Composition</vt:lpstr>
      <vt:lpstr>Héritage entre Classes</vt:lpstr>
      <vt:lpstr>Héritage entre Interfaces</vt:lpstr>
      <vt:lpstr>Implémentation d’Interfaces</vt:lpstr>
      <vt:lpstr>Import de Packages</vt:lpstr>
      <vt:lpstr>Notes de Code</vt:lpstr>
      <vt:lpstr>Limites de la Génération de Code</vt:lpstr>
      <vt:lpstr>Limites de la Génération de Code</vt:lpstr>
      <vt:lpstr>Références</vt:lpstr>
      <vt:lpstr>Références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INF4030 Conception Orientée Objet (COO)      Généralités</dc:title>
  <dc:creator>Microsoft Office User</dc:creator>
  <cp:lastModifiedBy>Microsoft Office User</cp:lastModifiedBy>
  <cp:revision>447</cp:revision>
  <cp:lastPrinted>2019-07-11T15:27:45Z</cp:lastPrinted>
  <dcterms:created xsi:type="dcterms:W3CDTF">2018-03-19T12:23:42Z</dcterms:created>
  <dcterms:modified xsi:type="dcterms:W3CDTF">2019-07-11T15:27:48Z</dcterms:modified>
</cp:coreProperties>
</file>